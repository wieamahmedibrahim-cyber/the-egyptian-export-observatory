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Exports $B</c:v>
                </c:pt>
              </c:strCache>
            </c:strRef>
          </c:tx>
          <c:spPr>
            <a:solidFill>
              <a:srgbClr val="12507B">
                <a:alpha val="100000"/>
              </a:srgbClr>
            </a:solidFill>
            <a:effectLst/>
          </c:spPr>
          <c:invertIfNegative val="0"/>
          <c:dLbls>
            <c:numFmt formatCode="#,##0" sourceLinked="0"/>
            <c:txPr>
              <a:bodyPr/>
              <a:lstStyle/>
              <a:p>
                <a:pPr>
                  <a:defRPr b="1" i="0" strike="noStrike" sz="1000" u="none">
                    <a:solidFill>
                      <a:srgbClr val="0A2540"/>
                    </a:solidFill>
                    <a:latin typeface="Arial"/>
                  </a:defRPr>
                </a:pPr>
              </a:p>
            </c:txPr>
            <c:showLegendKey val="0"/>
            <c:showVal val="1"/>
            <c:showCatName val="0"/>
            <c:showSerName val="0"/>
            <c:showPercent val="0"/>
            <c:showBubbleSize val="0"/>
            <c:showLeaderLines val="0"/>
          </c:dLbls>
          <c:cat>
            <c:multiLvlStrRef>
              <c:f>Sheet1!$A$2:$A$5</c:f>
              <c:multiLvlStrCache>
                <c:ptCount val="4"/>
                <c:lvl>
                  <c:pt idx="0">
                    <c:v>Vietnam</c:v>
                  </c:pt>
                  <c:pt idx="1">
                    <c:v>Turkey</c:v>
                  </c:pt>
                  <c:pt idx="2">
                    <c:v>Morocco</c:v>
                  </c:pt>
                  <c:pt idx="3">
                    <c:v>Egypt</c:v>
                  </c:pt>
                </c:lvl>
              </c:multiLvlStrCache>
            </c:multiLvlStrRef>
          </c:cat>
          <c:val>
            <c:numRef>
              <c:f>Sheet1!$B$2:$B$5</c:f>
              <c:numCache>
                <c:formatCode>General</c:formatCode>
                <c:ptCount val="4"/>
                <c:pt idx="0">
                  <c:v>538.62</c:v>
                </c:pt>
                <c:pt idx="1">
                  <c:v>266.21</c:v>
                </c:pt>
                <c:pt idx="2">
                  <c:v>49.36</c:v>
                </c:pt>
                <c:pt idx="3">
                  <c:v>43</c:v>
                </c:pt>
              </c:numCache>
            </c:numRef>
          </c:val>
        </c:ser>
        <c:dLbls>
          <c:numFmt formatCode="#,##0" sourceLinked="0"/>
          <c:txPr>
            <a:bodyPr/>
            <a:lstStyle/>
            <a:p>
              <a:pPr>
                <a:defRPr b="1" i="0" strike="noStrike" sz="1000" u="none">
                  <a:solidFill>
                    <a:srgbClr val="0A25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1" i="0" u="none" strike="noStrike">
                <a:solidFill>
                  <a:srgbClr val="1C2530"/>
                </a:solidFill>
                <a:latin typeface="Arial"/>
              </a:defRPr>
            </a:pPr>
            <a:endParaRPr lang="en-US"/>
          </a:p>
        </c:txPr>
        <c:crossAx val="2094734552"/>
        <c:crosses val="autoZero"/>
        <c:auto val="1"/>
        <c:lblAlgn val="ctr"/>
        <c:noMultiLvlLbl val="1"/>
      </c:catAx>
      <c:valAx>
        <c:axId val="2094734552"/>
        <c:scaling>
          <c:orientation val="minMax"/>
          <c:max val="6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This is the hook — set the paradox in the room before any technical detail. All figures here are the dashboard's 2024 values (year slicer set to 2024).
Open: 'Honored panel — Egypt's 2024 trade story fits in four numbers. Total exports: thirty-two point five six billion dollars. Total imports: sixty-six point four one billion. The trade deficit: thirty-three point eight five billion. And Vision 2030 achievement stands at sixty-six percent.' Pause after the deficit. Let it land.
Then the pivot: 'The question isn't WHAT these numbers are — it's WHY. Imports are running at roughly double exports. How does a country close that gap? That is what this project answers.'
Why we chose it: trade is the clearest mirror of an economy's productive structure, and it is where Egypt's binding macro constraint lives — the chronic dollar shortage. Trade data is official, abundant, internationally comparable — ideal for an evidence-based diagnosis rather than opinion.
The core structural problem (from our P2 analysis): over 15 years imports compounded at 10.8% a year while exports grew at only 5.3%. Imports grew nearly twice as fast, every year. That is not a crisis-driven gap — it's structural. The reason is COMPOSITION: we import inelastic essentials (refined fuel, wheat, machinery) and export volatile, largely raw commodities whose prices we don't control. Egypt is a price-taker at the bottom of the value chain.
Land the thesis they'll hear all deck: 'Egypt's problem is not the quantity of its trade — it's the value it captures from it.' Tell them the next 5 slides walk from raw data to national strategy: how we built the engine, then what it revealed, then what Egypt should do.
If a judge notes the figures differ from published CAPMAS headlines: 'These are the values computed by our model over our transaction dataset; the structural conclusions — imports ~2× exports, the pricing and value-chain gaps — hold regardless of the absolute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minutes. This slide proves rigor — judges reward a clean, defensible pipeline.
Framing line: 'A dashboard is only as trustworthy as the data beneath it. So before any visual, every source passed through a disciplined ETL process in Power Query — Extract, Transform, Load.'
EXTRACT: we consolidated fifteen years, 2010 to 2024, from five authoritative sources — CAPMAS for official Egyptian statistics, UN Comtrade for bilateral and product flows, the World Bank and WTO for benchmarking, and ITC TradeMap for competitor pricing — into one structured workbook.
TRANSFORM is where integrity is won. Walk the four steps as deliberate engineering choices, not chores:
1. Missing values — we audited every column and decided, per field, whether to impute or flag, so no KPI silently miscounts.
2. Trim and Clean — trade text arrives with stray spaces and hidden characters; 'Egypt ' with a trailing space will not join to 'Egypt'. Trim/Clean guarantees our relationships and slicers match exactly.
3. Removed duplicates — duplicate transaction or partner rows would double-count billions in trade value; we de-duplicated on keys.
4. Standardised types and keys — consistent date and decimal types, and unified casing like 'Export'/'Import', so every relationship resolves cleanly.
LOAD: shaped tables went straight into the Power BI data model — not the query grid — typed and keyed, ready for the schema on the next slide.
Close: 'This is the unglamorous 80% of analytics. It's also why every number you'll see today holds up under scrutiny.' Transition: 'With clean tables in hand, we engineered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minutes. This is where you demonstrate real data-analytics engineering.
Framing: 'A trustworthy pipeline needs the right architecture. We built a STAR schema — the industry standard for analytical models.'
Explain the choice, not just the name: 'A star schema places one central fact table — our trade transactions — at the centre, with descriptive dimension tables radiating out. We chose it over a normalised snowflake deliberately: the star gives faster queries and, just as important, relationships simple enough to defend live in a room like this.'
Walk the diagram: FACT_TRADE_FLOW at the centre holds every export and import record, 2010–2024. Around it sit six core dimensions — DATE (the who-when), PRODUCT (what, with HS codes and complexity), COUNTRY (where, with regions and agreements), TRADE_TYPE (export vs import, customs regime), CHANNEL (ports, transport, Incoterms), and VISION2030_KPI (targets and baselines).
Inventory: in total, seven fact tables and seven dimension tables, plus five support tables. Beyond the core, specialised facts extend the model — EXPORT/IMPORT_UNIT_PRICE and PRICE_GAP_SUMMARY power the pricing analysis; PEER_BENCHMARK drives the country comparison; BILATERAL_FLOWS feeds the map.
How they connect — say this clearly, judges probe it: 'Relationships are one-to-many and single-direction — each dimension filters the fact, never the reverse, which avoids ambiguity. DIM_DATE is formally marked as the Date Table so time-intelligence works. And the analytical facts join through shared keys — PRODUCT, COUNTRY, KPI — so when I click one product or one year, the filter flows coherently across every visual in the report.'
Close: 'This model is the skeleton. The DAX measures are the muscle — that's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This slide is your technical credibility peak — show you can express economics IN code.
Framing: 'The schema is the skeleton; DAX is the muscle. Over forty measures power this report. I'll show two — one structural, one advanced — because between them they show the full range.'
MEASURE 1 — Non-Oil Export Share %. 'This answers the single most important Vision 2030 question: is Egypt weaning its exports off oil? The logic: CALCULATE sums trade value, but filtered twice — direction is Export AND the product is non-petroleum — then DIVIDE by total exports. DIVIDE, not a slash, because it handles divide-by-zero safely. The result is the diversification KPI the entire strategy hinges on — the target is 75%.'
MEASURE 2 — Geographic HHI. 'This is where we moved from reporting to economics. The Herfindahl-Hirschman Index is the recognised academic measure of concentration — the sum of squared market shares, zero meaning perfectly diversified, one meaning everything in a single market. There's no button for it in Power BI, so we built it in DAX: SUMMARIZE groups exports by partner country, the first SUMX computes the total, and the second SUMX squares each partner's share and sums them. We implemented a peer-reviewed economic index directly in the semantic layer.'
Why these two: 'One proves I understand what matters to Egypt's strategy; the other proves I can implement advanced analytics, not just drag fields onto a canvas.'
If asked about others: mention YoY growth using DATEADD time-intelligence, CAGR using POWER, and the Export-Gap-to-2030 scenario measure. Keep it brief — offer to open Power BI live if they want to see them evaluate.
Transition: 'These measures feed eight interactive pages. Let me show you what they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 the heart of the presentation. This is where economic insight shines. Consider offering to switch to the live dashboard here if the room allows.
Framing: 'We built eight interactive pages, but they tell ONE story — how Egypt loses value at every stage. Let me give you the four insights that matter most.'
Start with the chart — the emotional anchor: 'This is the wake-up call. In 2000, Vietnam was POORER than Egypt. Today Vietnam exports about five hundred and thirty-nine billion dollars; Egypt, forty-three. Roughly twelve times more. Same starting line — different choices.' Let the bar chart do the work; point at Egypt's short bar.
Then the causal chain, right side top to bottom:
P4 — the value-chain trap: 'Energy is 69% of our exports and the top five products are 88.8% of the basket — highly concentrated (HHI 0.22). Our complexity-versus-value scatter showed one giant bubble — raw energy — top-left: huge revenue, lowest sophistication. We're trapped selling raw.'
P5 — the price squeeze, your peak: 'We sell the SAME goods cheaper than competitors. Egypt exports citrus at $333 a ton; Spain sells identical citrus at $426; Germany buys it for $576 — someone else captures the margin. Across products, the annual under-pricing loss is about three and a half billion dollars (the case study alone is $3.2B) — lost with no new production, purely on price. And we OVERPAY 9.6% on imports. Four products show circular trade — exported raw, re-imported processed.'  [If you display the '$38.9B' card, describe it as the 15-year cumulative loss, and quote the ~$3.5B as the ANNUAL figure.]
P6 — the peer gap: 'We rank last of four on nearly every structural metric — EXPY of 10,800, manufacturing just 32.5% of exports.'
P3 — the geographic gap: '80 partners, but MENA and the EU take 54.5% of exports; we're barely present in Asia — where most global growth now happens.'
Land the synthesis: 'Four gaps, one root cause — Egypt captures too little value from its trade. Which sets up the obvious question: what do we DO about it?' Transition to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 Q&amp;A. End on agency and action — this is what they'll remember when scoring.
Framing: 'A diagnosis without a prescription is just criticism. Every action here answers a specific finding — and nothing goes beyond what our data shows.'
Walk the six, always naming the source page so the tie to evidence is explicit:
1. Fix export pricing — the fastest win. Certification, branding, cold-chain, contracted (not spot) selling. Recovers much of the $3.5B we lose annually to under-pricing — no new production required. Source: P5.
2. Climb the value chain — process raw commodities at home. Gas to petrochemicals, cotton to garments. Captures the margin currently earned abroad. Source: P4.
3. Close circular trade — locally produce the goods we export raw and re-import processed. Cuts the import bill and narrows the deficit directly. Source: P5.
4. Target Asia and Africa — a dedicated export strategy for the high-growth markets we're absent from, using AfCFTA. Source: P3.
5. Adopt the peer playbook — a national branding programme and FDI-led export zones, exactly the reforms that let Turkey, Morocco and Vietnam break out. Source: P6.
6. Accelerate the lagging Vision 2030 KPIs — focus industrial and investment policy on garments, ICT, pharma, food and manufacturing FDI. Source: P7.
Close strong: 'These six aren't a wish list — they share one objective: raise the value Egypt captures from its trade. The data shows the problem is structural, but it also shows it's solvable, because economies that started where we started have already solved it. The path to Vision 2030 is not only visible — it's within reach.' Then: 'Thank you — I'd welcome your questions.'
Q&amp;A readiness: every figure in this deck matches the live dashboard exactly, so you can open Power BI and reproduce any number on demand. If pressed on absolute scale versus published CAPMAS headlines, say the model computes these values over its transaction dataset and the structural findings hold regardless of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then open Q&amp;A. This is the note to end on — leave the panel holding the upside, not the problem.
Framing: 'I've shown you the gaps — now let me show you what closing them is WORTH. And the elegant part: the same three levers that fix the problem also quantify the prize. Our what-if analysis modelled 21 scenarios across them.'
Walk the three tiers (left):
1. Fixing export pricing — the fastest lever — adds between $4.2B and $19.6B a year, at a 525% return, in two to five years. That alone delivers about 40% of the $104B export target.
2. Climbing the value chain — processing at home — adds $12.5B to $95B. It needs more investment and time (five to eight years) but builds roughly 60% of our manufacturing goal.
3. Substituting key imports adds $1.8B to $4.5B and narrows the trade-balance gap by about 15%.
Then land the headline (right, the big number): 'Taken together — all 21 scenarios — Egypt could add between eighteen and a half, and one hundred and nineteen billion dollars a year in export revenue. At a 366% return on $27.8B invested. That is enough to meet, and in the optimistic case exceed, the Vision 2030 export target IN FULL — with no new oil, no new land, no new mines. Purely by capturing the value we already leave on the table.'
Beyond revenue — say this to show you think like a policymaker, not just an analyst: 'And the benefits aren't only financial: our scenarios imply over three hundred thousand jobs in new processing and export industries; a stronger flow of export dollars that eases Egypt's chronic foreign-currency constraint; and a structurally narrower deficit — a more resilient economy.'
Close the whole presentation: 'We began with a paradox — records rising while the deficit widens. We end with a resolution: the problem is structural, but it is solvable, it is costed, and the payoff exceeds our national target. The path to Vision 2030 isn't just visible — it pays for itself. Thank you. I'd welcome your questions.'
Source note: all figures are from the platform's What-If Scenario analysis (summary table: A/B/C scenario gains, ROI 366%, total +$18.5B–$119.1B).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9784080" y="-1463040"/>
            <a:ext cx="4206240" cy="4206240"/>
          </a:xfrm>
          <a:prstGeom prst="ellipse">
            <a:avLst/>
          </a:prstGeom>
          <a:solidFill>
            <a:srgbClr val="12507B">
              <a:alpha val="60000"/>
            </a:srgbClr>
          </a:solidFill>
          <a:ln/>
        </p:spPr>
      </p:sp>
      <p:sp>
        <p:nvSpPr>
          <p:cNvPr id="3" name="Shape 1"/>
          <p:cNvSpPr/>
          <p:nvPr/>
        </p:nvSpPr>
        <p:spPr>
          <a:xfrm>
            <a:off x="10881360" y="4023360"/>
            <a:ext cx="3108960" cy="3108960"/>
          </a:xfrm>
          <a:prstGeom prst="ellipse">
            <a:avLst/>
          </a:prstGeom>
          <a:solidFill>
            <a:srgbClr val="12507B">
              <a:alpha val="45000"/>
            </a:srgbClr>
          </a:solidFill>
          <a:ln/>
        </p:spPr>
      </p:sp>
      <p:sp>
        <p:nvSpPr>
          <p:cNvPr id="4" name="Text 2"/>
          <p:cNvSpPr/>
          <p:nvPr/>
        </p:nvSpPr>
        <p:spPr>
          <a:xfrm>
            <a:off x="640080" y="502920"/>
            <a:ext cx="8229600" cy="320040"/>
          </a:xfrm>
          <a:prstGeom prst="rect">
            <a:avLst/>
          </a:prstGeom>
          <a:noFill/>
          <a:ln/>
        </p:spPr>
        <p:txBody>
          <a:bodyPr wrap="square" lIns="0" tIns="0" rIns="0" bIns="0" rtlCol="0" anchor="ctr"/>
          <a:lstStyle/>
          <a:p>
            <a:pPr indent="0" marL="0">
              <a:buNone/>
            </a:pPr>
            <a:r>
              <a:rPr lang="en-US" sz="1300" b="1" spc="400" kern="0" dirty="0">
                <a:solidFill>
                  <a:srgbClr val="E9CD82"/>
                </a:solidFill>
                <a:latin typeface="Calibri" pitchFamily="34" charset="0"/>
                <a:ea typeface="Calibri" pitchFamily="34" charset="-122"/>
                <a:cs typeface="Calibri" pitchFamily="34" charset="-120"/>
              </a:rPr>
              <a:t>EGYPT TRADE INTELLIGENCE</a:t>
            </a:r>
            <a:endParaRPr lang="en-US" sz="1300" dirty="0"/>
          </a:p>
        </p:txBody>
      </p:sp>
      <p:sp>
        <p:nvSpPr>
          <p:cNvPr id="5" name="Text 3"/>
          <p:cNvSpPr/>
          <p:nvPr/>
        </p:nvSpPr>
        <p:spPr>
          <a:xfrm>
            <a:off x="640080" y="914400"/>
            <a:ext cx="8686800" cy="1463040"/>
          </a:xfrm>
          <a:prstGeom prst="rect">
            <a:avLst/>
          </a:prstGeom>
          <a:noFill/>
          <a:ln/>
        </p:spPr>
        <p:txBody>
          <a:bodyPr wrap="square" lIns="0" tIns="0" rIns="0" bIns="0" rtlCol="0" anchor="ctr"/>
          <a:lstStyle/>
          <a:p>
            <a:pPr indent="0" marL="0">
              <a:lnSpc>
                <a:spcPts val="4600"/>
              </a:lnSpc>
              <a:buNone/>
            </a:pPr>
            <a:r>
              <a:rPr lang="en-US" sz="4600" b="1" dirty="0">
                <a:solidFill>
                  <a:srgbClr val="FFFFFF"/>
                </a:solidFill>
                <a:latin typeface="Cambria" pitchFamily="34" charset="0"/>
                <a:ea typeface="Cambria" pitchFamily="34" charset="-122"/>
                <a:cs typeface="Cambria" pitchFamily="34" charset="-120"/>
              </a:rPr>
              <a:t>Records Rising, Deficit Widening</a:t>
            </a:r>
            <a:endParaRPr lang="en-US" sz="4600" dirty="0"/>
          </a:p>
        </p:txBody>
      </p:sp>
      <p:sp>
        <p:nvSpPr>
          <p:cNvPr id="6" name="Text 4"/>
          <p:cNvSpPr/>
          <p:nvPr/>
        </p:nvSpPr>
        <p:spPr>
          <a:xfrm>
            <a:off x="640080" y="2331720"/>
            <a:ext cx="8046720" cy="6400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Diagnosing the structural gap in Egypt's external trade — and mapping the path to Vision 2030.</a:t>
            </a:r>
            <a:endParaRPr lang="en-US" sz="1600" dirty="0"/>
          </a:p>
        </p:txBody>
      </p:sp>
      <p:sp>
        <p:nvSpPr>
          <p:cNvPr id="7" name="Shape 5"/>
          <p:cNvSpPr/>
          <p:nvPr/>
        </p:nvSpPr>
        <p:spPr>
          <a:xfrm>
            <a:off x="640080" y="3246120"/>
            <a:ext cx="2615184" cy="1234440"/>
          </a:xfrm>
          <a:prstGeom prst="roundRect">
            <a:avLst>
              <a:gd name="adj" fmla="val 5926"/>
            </a:avLst>
          </a:prstGeom>
          <a:solidFill>
            <a:srgbClr val="12507B"/>
          </a:solidFill>
          <a:ln/>
          <a:effectLst>
            <a:outerShdw sx="100000" sy="100000" kx="0" ky="0" algn="bl" rotWithShape="0" blurRad="88900" dist="38100" dir="5400000">
              <a:srgbClr val="000000">
                <a:alpha val="16000"/>
              </a:srgbClr>
            </a:outerShdw>
          </a:effectLst>
        </p:spPr>
      </p:sp>
      <p:sp>
        <p:nvSpPr>
          <p:cNvPr id="8" name="Text 6"/>
          <p:cNvSpPr/>
          <p:nvPr/>
        </p:nvSpPr>
        <p:spPr>
          <a:xfrm>
            <a:off x="640080" y="3364992"/>
            <a:ext cx="2615184" cy="640080"/>
          </a:xfrm>
          <a:prstGeom prst="rect">
            <a:avLst/>
          </a:prstGeom>
          <a:noFill/>
          <a:ln/>
        </p:spPr>
        <p:txBody>
          <a:bodyPr wrap="square" lIns="0" tIns="0" rIns="0" bIns="0" rtlCol="0" anchor="ctr"/>
          <a:lstStyle/>
          <a:p>
            <a:pPr algn="ctr" indent="0" marL="0">
              <a:buNone/>
            </a:pPr>
            <a:r>
              <a:rPr lang="en-US" sz="3300" b="1" dirty="0">
                <a:solidFill>
                  <a:srgbClr val="E9CD82"/>
                </a:solidFill>
                <a:latin typeface="Cambria" pitchFamily="34" charset="0"/>
                <a:ea typeface="Cambria" pitchFamily="34" charset="-122"/>
                <a:cs typeface="Cambria" pitchFamily="34" charset="-120"/>
              </a:rPr>
              <a:t>$32.56B</a:t>
            </a:r>
            <a:endParaRPr lang="en-US" sz="3300" dirty="0"/>
          </a:p>
        </p:txBody>
      </p:sp>
      <p:sp>
        <p:nvSpPr>
          <p:cNvPr id="9" name="Text 7"/>
          <p:cNvSpPr/>
          <p:nvPr/>
        </p:nvSpPr>
        <p:spPr>
          <a:xfrm>
            <a:off x="749808" y="3986784"/>
            <a:ext cx="2395728" cy="41148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Total Exports 2024</a:t>
            </a:r>
            <a:endParaRPr lang="en-US" sz="1050" dirty="0"/>
          </a:p>
        </p:txBody>
      </p:sp>
      <p:sp>
        <p:nvSpPr>
          <p:cNvPr id="10" name="Shape 8"/>
          <p:cNvSpPr/>
          <p:nvPr/>
        </p:nvSpPr>
        <p:spPr>
          <a:xfrm>
            <a:off x="3474720" y="3246120"/>
            <a:ext cx="2615184" cy="1234440"/>
          </a:xfrm>
          <a:prstGeom prst="roundRect">
            <a:avLst>
              <a:gd name="adj" fmla="val 5926"/>
            </a:avLst>
          </a:prstGeom>
          <a:solidFill>
            <a:srgbClr val="12507B"/>
          </a:solidFill>
          <a:ln/>
          <a:effectLst>
            <a:outerShdw sx="100000" sy="100000" kx="0" ky="0" algn="bl" rotWithShape="0" blurRad="88900" dist="38100" dir="5400000">
              <a:srgbClr val="000000">
                <a:alpha val="16000"/>
              </a:srgbClr>
            </a:outerShdw>
          </a:effectLst>
        </p:spPr>
      </p:sp>
      <p:sp>
        <p:nvSpPr>
          <p:cNvPr id="11" name="Text 9"/>
          <p:cNvSpPr/>
          <p:nvPr/>
        </p:nvSpPr>
        <p:spPr>
          <a:xfrm>
            <a:off x="3474720" y="3364992"/>
            <a:ext cx="2615184" cy="640080"/>
          </a:xfrm>
          <a:prstGeom prst="rect">
            <a:avLst/>
          </a:prstGeom>
          <a:noFill/>
          <a:ln/>
        </p:spPr>
        <p:txBody>
          <a:bodyPr wrap="square" lIns="0" tIns="0" rIns="0" bIns="0" rtlCol="0" anchor="ctr"/>
          <a:lstStyle/>
          <a:p>
            <a:pPr algn="ctr" indent="0" marL="0">
              <a:buNone/>
            </a:pPr>
            <a:r>
              <a:rPr lang="en-US" sz="3300" b="1" dirty="0">
                <a:solidFill>
                  <a:srgbClr val="E9CD82"/>
                </a:solidFill>
                <a:latin typeface="Cambria" pitchFamily="34" charset="0"/>
                <a:ea typeface="Cambria" pitchFamily="34" charset="-122"/>
                <a:cs typeface="Cambria" pitchFamily="34" charset="-120"/>
              </a:rPr>
              <a:t>$66.41B</a:t>
            </a:r>
            <a:endParaRPr lang="en-US" sz="3300" dirty="0"/>
          </a:p>
        </p:txBody>
      </p:sp>
      <p:sp>
        <p:nvSpPr>
          <p:cNvPr id="12" name="Text 10"/>
          <p:cNvSpPr/>
          <p:nvPr/>
        </p:nvSpPr>
        <p:spPr>
          <a:xfrm>
            <a:off x="3584448" y="3986784"/>
            <a:ext cx="2395728" cy="41148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Total Imports 2024</a:t>
            </a:r>
            <a:endParaRPr lang="en-US" sz="1050" dirty="0"/>
          </a:p>
        </p:txBody>
      </p:sp>
      <p:sp>
        <p:nvSpPr>
          <p:cNvPr id="13" name="Shape 11"/>
          <p:cNvSpPr/>
          <p:nvPr/>
        </p:nvSpPr>
        <p:spPr>
          <a:xfrm>
            <a:off x="6309360" y="3246120"/>
            <a:ext cx="2615184" cy="1234440"/>
          </a:xfrm>
          <a:prstGeom prst="roundRect">
            <a:avLst>
              <a:gd name="adj" fmla="val 5926"/>
            </a:avLst>
          </a:prstGeom>
          <a:solidFill>
            <a:srgbClr val="12507B"/>
          </a:solidFill>
          <a:ln/>
          <a:effectLst>
            <a:outerShdw sx="100000" sy="100000" kx="0" ky="0" algn="bl" rotWithShape="0" blurRad="88900" dist="38100" dir="5400000">
              <a:srgbClr val="000000">
                <a:alpha val="16000"/>
              </a:srgbClr>
            </a:outerShdw>
          </a:effectLst>
        </p:spPr>
      </p:sp>
      <p:sp>
        <p:nvSpPr>
          <p:cNvPr id="14" name="Text 12"/>
          <p:cNvSpPr/>
          <p:nvPr/>
        </p:nvSpPr>
        <p:spPr>
          <a:xfrm>
            <a:off x="6309360" y="3364992"/>
            <a:ext cx="2615184" cy="640080"/>
          </a:xfrm>
          <a:prstGeom prst="rect">
            <a:avLst/>
          </a:prstGeom>
          <a:noFill/>
          <a:ln/>
        </p:spPr>
        <p:txBody>
          <a:bodyPr wrap="square" lIns="0" tIns="0" rIns="0" bIns="0" rtlCol="0" anchor="ctr"/>
          <a:lstStyle/>
          <a:p>
            <a:pPr algn="ctr" indent="0" marL="0">
              <a:buNone/>
            </a:pPr>
            <a:r>
              <a:rPr lang="en-US" sz="3300" b="1" dirty="0">
                <a:solidFill>
                  <a:srgbClr val="E9CD82"/>
                </a:solidFill>
                <a:latin typeface="Cambria" pitchFamily="34" charset="0"/>
                <a:ea typeface="Cambria" pitchFamily="34" charset="-122"/>
                <a:cs typeface="Cambria" pitchFamily="34" charset="-120"/>
              </a:rPr>
              <a:t>–$33.85B</a:t>
            </a:r>
            <a:endParaRPr lang="en-US" sz="3300" dirty="0"/>
          </a:p>
        </p:txBody>
      </p:sp>
      <p:sp>
        <p:nvSpPr>
          <p:cNvPr id="15" name="Text 13"/>
          <p:cNvSpPr/>
          <p:nvPr/>
        </p:nvSpPr>
        <p:spPr>
          <a:xfrm>
            <a:off x="6419088" y="3986784"/>
            <a:ext cx="2395728" cy="41148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Trade Deficit 2024</a:t>
            </a:r>
            <a:endParaRPr lang="en-US" sz="1050" dirty="0"/>
          </a:p>
        </p:txBody>
      </p:sp>
      <p:sp>
        <p:nvSpPr>
          <p:cNvPr id="16" name="Shape 14"/>
          <p:cNvSpPr/>
          <p:nvPr/>
        </p:nvSpPr>
        <p:spPr>
          <a:xfrm>
            <a:off x="9144000" y="3246120"/>
            <a:ext cx="2615184" cy="1234440"/>
          </a:xfrm>
          <a:prstGeom prst="roundRect">
            <a:avLst>
              <a:gd name="adj" fmla="val 5926"/>
            </a:avLst>
          </a:prstGeom>
          <a:solidFill>
            <a:srgbClr val="12507B"/>
          </a:solidFill>
          <a:ln/>
          <a:effectLst>
            <a:outerShdw sx="100000" sy="100000" kx="0" ky="0" algn="bl" rotWithShape="0" blurRad="88900" dist="38100" dir="5400000">
              <a:srgbClr val="000000">
                <a:alpha val="16000"/>
              </a:srgbClr>
            </a:outerShdw>
          </a:effectLst>
        </p:spPr>
      </p:sp>
      <p:sp>
        <p:nvSpPr>
          <p:cNvPr id="17" name="Text 15"/>
          <p:cNvSpPr/>
          <p:nvPr/>
        </p:nvSpPr>
        <p:spPr>
          <a:xfrm>
            <a:off x="9144000" y="3364992"/>
            <a:ext cx="2615184" cy="640080"/>
          </a:xfrm>
          <a:prstGeom prst="rect">
            <a:avLst/>
          </a:prstGeom>
          <a:noFill/>
          <a:ln/>
        </p:spPr>
        <p:txBody>
          <a:bodyPr wrap="square" lIns="0" tIns="0" rIns="0" bIns="0" rtlCol="0" anchor="ctr"/>
          <a:lstStyle/>
          <a:p>
            <a:pPr algn="ctr" indent="0" marL="0">
              <a:buNone/>
            </a:pPr>
            <a:r>
              <a:rPr lang="en-US" sz="3300" b="1" dirty="0">
                <a:solidFill>
                  <a:srgbClr val="E9CD82"/>
                </a:solidFill>
                <a:latin typeface="Cambria" pitchFamily="34" charset="0"/>
                <a:ea typeface="Cambria" pitchFamily="34" charset="-122"/>
                <a:cs typeface="Cambria" pitchFamily="34" charset="-120"/>
              </a:rPr>
              <a:t>66.0%</a:t>
            </a:r>
            <a:endParaRPr lang="en-US" sz="3300" dirty="0"/>
          </a:p>
        </p:txBody>
      </p:sp>
      <p:sp>
        <p:nvSpPr>
          <p:cNvPr id="18" name="Text 16"/>
          <p:cNvSpPr/>
          <p:nvPr/>
        </p:nvSpPr>
        <p:spPr>
          <a:xfrm>
            <a:off x="9253728" y="3986784"/>
            <a:ext cx="2395728" cy="41148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Vision 2030 Achievement</a:t>
            </a:r>
            <a:endParaRPr lang="en-US" sz="1050" dirty="0"/>
          </a:p>
        </p:txBody>
      </p:sp>
      <p:sp>
        <p:nvSpPr>
          <p:cNvPr id="19" name="Text 17"/>
          <p:cNvSpPr/>
          <p:nvPr/>
        </p:nvSpPr>
        <p:spPr>
          <a:xfrm>
            <a:off x="640080" y="4709160"/>
            <a:ext cx="10881360" cy="731520"/>
          </a:xfrm>
          <a:prstGeom prst="rect">
            <a:avLst/>
          </a:prstGeom>
          <a:noFill/>
          <a:ln/>
        </p:spPr>
        <p:txBody>
          <a:bodyPr wrap="square" lIns="0" tIns="0" rIns="0" bIns="0" rtlCol="0" anchor="ctr"/>
          <a:lstStyle/>
          <a:p>
            <a:pPr algn="l" indent="0" marL="0">
              <a:lnSpc>
                <a:spcPts val="1900"/>
              </a:lnSpc>
              <a:buNone/>
            </a:pPr>
            <a:r>
              <a:rPr lang="en-US" sz="1350" b="1" dirty="0">
                <a:solidFill>
                  <a:srgbClr val="E9CD82"/>
                </a:solidFill>
                <a:latin typeface="Calibri" pitchFamily="34" charset="0"/>
                <a:ea typeface="Calibri" pitchFamily="34" charset="-122"/>
                <a:cs typeface="Calibri" pitchFamily="34" charset="-120"/>
              </a:rPr>
              <a:t>Why this project:  </a:t>
            </a:r>
            <a:pPr algn="l" indent="0" marL="0">
              <a:lnSpc>
                <a:spcPts val="1900"/>
              </a:lnSpc>
              <a:buNone/>
            </a:pPr>
            <a:r>
              <a:rPr lang="en-US" sz="1350" dirty="0">
                <a:solidFill>
                  <a:srgbClr val="CADCFC"/>
                </a:solidFill>
                <a:latin typeface="Calibri" pitchFamily="34" charset="0"/>
                <a:ea typeface="Calibri" pitchFamily="34" charset="-122"/>
                <a:cs typeface="Calibri" pitchFamily="34" charset="-120"/>
              </a:rPr>
              <a:t>Trade is the clearest mirror of an economy's structure — and the site of Egypt's most persistent constraint: a foreign-currency shortage driven by imports that have outgrown exports for 15 straight years.</a:t>
            </a:r>
            <a:endParaRPr lang="en-US" sz="1350" dirty="0"/>
          </a:p>
        </p:txBody>
      </p:sp>
      <p:sp>
        <p:nvSpPr>
          <p:cNvPr id="20" name="Text 18"/>
          <p:cNvSpPr/>
          <p:nvPr/>
        </p:nvSpPr>
        <p:spPr>
          <a:xfrm>
            <a:off x="640080" y="5440680"/>
            <a:ext cx="10881360" cy="914400"/>
          </a:xfrm>
          <a:prstGeom prst="rect">
            <a:avLst/>
          </a:prstGeom>
          <a:noFill/>
          <a:ln/>
        </p:spPr>
        <p:txBody>
          <a:bodyPr wrap="square" lIns="0" tIns="0" rIns="0" bIns="0" rtlCol="0" anchor="ctr"/>
          <a:lstStyle/>
          <a:p>
            <a:pPr algn="l" indent="0" marL="0">
              <a:lnSpc>
                <a:spcPts val="1900"/>
              </a:lnSpc>
              <a:buNone/>
            </a:pPr>
            <a:r>
              <a:rPr lang="en-US" sz="1350" b="1" dirty="0">
                <a:solidFill>
                  <a:srgbClr val="E9CD82"/>
                </a:solidFill>
                <a:latin typeface="Calibri" pitchFamily="34" charset="0"/>
                <a:ea typeface="Calibri" pitchFamily="34" charset="-122"/>
                <a:cs typeface="Calibri" pitchFamily="34" charset="-120"/>
              </a:rPr>
              <a:t>The core problem:  </a:t>
            </a:r>
            <a:pPr algn="l" indent="0" marL="0">
              <a:lnSpc>
                <a:spcPts val="1900"/>
              </a:lnSpc>
              <a:buNone/>
            </a:pPr>
            <a:r>
              <a:rPr lang="en-US" sz="1350" dirty="0">
                <a:solidFill>
                  <a:srgbClr val="CADCFC"/>
                </a:solidFill>
                <a:latin typeface="Calibri" pitchFamily="34" charset="0"/>
                <a:ea typeface="Calibri" pitchFamily="34" charset="-122"/>
                <a:cs typeface="Calibri" pitchFamily="34" charset="-120"/>
              </a:rPr>
              <a:t>Imports (10.8% CAGR) grew at roughly twice the pace of exports (5.3% CAGR) — Egypt sells raw, under-priced commodities and buys processed, essential goods. Imports run ~2× exports. This is a deficit of </a:t>
            </a:r>
            <a:pPr algn="l" indent="0" marL="0">
              <a:lnSpc>
                <a:spcPts val="1900"/>
              </a:lnSpc>
              <a:buNone/>
            </a:pPr>
            <a:r>
              <a:rPr lang="en-US" sz="1350" b="1" i="1" dirty="0">
                <a:solidFill>
                  <a:srgbClr val="FFFFFF"/>
                </a:solidFill>
                <a:latin typeface="Calibri" pitchFamily="34" charset="0"/>
                <a:ea typeface="Calibri" pitchFamily="34" charset="-122"/>
                <a:cs typeface="Calibri" pitchFamily="34" charset="-120"/>
              </a:rPr>
              <a:t>value capture</a:t>
            </a:r>
            <a:pPr algn="l" indent="0" marL="0">
              <a:lnSpc>
                <a:spcPts val="1900"/>
              </a:lnSpc>
              <a:buNone/>
            </a:pPr>
            <a:r>
              <a:rPr lang="en-US" sz="1350" dirty="0">
                <a:solidFill>
                  <a:srgbClr val="CADCFC"/>
                </a:solidFill>
                <a:latin typeface="Calibri" pitchFamily="34" charset="0"/>
                <a:ea typeface="Calibri" pitchFamily="34" charset="-122"/>
                <a:cs typeface="Calibri" pitchFamily="34" charset="-120"/>
              </a:rPr>
              <a:t>, not activity.</a:t>
            </a:r>
            <a:endParaRPr lang="en-US" sz="1350" dirty="0"/>
          </a:p>
        </p:txBody>
      </p:sp>
      <p:sp>
        <p:nvSpPr>
          <p:cNvPr id="21" name="Text 19"/>
          <p:cNvSpPr/>
          <p:nvPr/>
        </p:nvSpPr>
        <p:spPr>
          <a:xfrm>
            <a:off x="640080" y="6419088"/>
            <a:ext cx="10972800" cy="274320"/>
          </a:xfrm>
          <a:prstGeom prst="rect">
            <a:avLst/>
          </a:prstGeom>
          <a:noFill/>
          <a:ln/>
        </p:spPr>
        <p:txBody>
          <a:bodyPr wrap="square" lIns="0" tIns="0" rIns="0" bIns="0" rtlCol="0" anchor="ctr"/>
          <a:lstStyle/>
          <a:p>
            <a:pPr indent="0" marL="0">
              <a:buNone/>
            </a:pPr>
            <a:r>
              <a:rPr lang="en-US" sz="950" dirty="0">
                <a:solidFill>
                  <a:srgbClr val="7FA0BC"/>
                </a:solidFill>
                <a:latin typeface="Calibri" pitchFamily="34" charset="0"/>
                <a:ea typeface="Calibri" pitchFamily="34" charset="-122"/>
                <a:cs typeface="Calibri" pitchFamily="34" charset="-120"/>
              </a:rPr>
              <a:t>DEPI Graduation Project  ·  Data Analysis Track  ·  Sources: CAPMAS 2024 · UN Comtrade · World Bank · WTO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4" name="Text 1"/>
          <p:cNvSpPr/>
          <p:nvPr/>
        </p:nvSpPr>
        <p:spPr>
          <a:xfrm>
            <a:off x="1325880" y="457200"/>
            <a:ext cx="9144000" cy="274320"/>
          </a:xfrm>
          <a:prstGeom prst="rect">
            <a:avLst/>
          </a:prstGeom>
          <a:noFill/>
          <a:ln/>
        </p:spPr>
        <p:txBody>
          <a:bodyPr wrap="square" lIns="0" tIns="0" rIns="0" bIns="0" rtlCol="0" anchor="ctr"/>
          <a:lstStyle/>
          <a:p>
            <a:pPr algn="l" indent="0" marL="0">
              <a:buNone/>
            </a:pPr>
            <a:r>
              <a:rPr lang="en-US" sz="1200" b="1" spc="300" kern="0" dirty="0">
                <a:solidFill>
                  <a:srgbClr val="C8A04A"/>
                </a:solidFill>
                <a:latin typeface="Calibri" pitchFamily="34" charset="0"/>
                <a:ea typeface="Calibri" pitchFamily="34" charset="-122"/>
                <a:cs typeface="Calibri" pitchFamily="34" charset="-120"/>
              </a:rPr>
              <a:t>STEP 01  ·  DATA PREPARATION</a:t>
            </a:r>
            <a:endParaRPr lang="en-US" sz="1200" dirty="0"/>
          </a:p>
        </p:txBody>
      </p:sp>
      <p:sp>
        <p:nvSpPr>
          <p:cNvPr id="5" name="Text 2"/>
          <p:cNvSpPr/>
          <p:nvPr/>
        </p:nvSpPr>
        <p:spPr>
          <a:xfrm>
            <a:off x="1325880" y="713232"/>
            <a:ext cx="10241280" cy="640080"/>
          </a:xfrm>
          <a:prstGeom prst="rect">
            <a:avLst/>
          </a:prstGeom>
          <a:noFill/>
          <a:ln/>
        </p:spPr>
        <p:txBody>
          <a:bodyPr wrap="square" lIns="0" tIns="0" rIns="0" bIns="0" rtlCol="0" anchor="ctr"/>
          <a:lstStyle/>
          <a:p>
            <a:pPr algn="l" indent="0" marL="0">
              <a:buNone/>
            </a:pPr>
            <a:r>
              <a:rPr lang="en-US" sz="3000" b="1" dirty="0">
                <a:solidFill>
                  <a:srgbClr val="0A2540"/>
                </a:solidFill>
                <a:latin typeface="Cambria" pitchFamily="34" charset="0"/>
                <a:ea typeface="Cambria" pitchFamily="34" charset="-122"/>
                <a:cs typeface="Cambria" pitchFamily="34" charset="-120"/>
              </a:rPr>
              <a:t>From Raw Sources to a Trusted Foundation</a:t>
            </a:r>
            <a:endParaRPr lang="en-US" sz="3000" dirty="0"/>
          </a:p>
        </p:txBody>
      </p:sp>
      <p:sp>
        <p:nvSpPr>
          <p:cNvPr id="6" name="Text 3"/>
          <p:cNvSpPr/>
          <p:nvPr/>
        </p:nvSpPr>
        <p:spPr>
          <a:xfrm>
            <a:off x="548640" y="1481328"/>
            <a:ext cx="11064240" cy="502920"/>
          </a:xfrm>
          <a:prstGeom prst="rect">
            <a:avLst/>
          </a:prstGeom>
          <a:noFill/>
          <a:ln/>
        </p:spPr>
        <p:txBody>
          <a:bodyPr wrap="square" lIns="0" tIns="0" rIns="0" bIns="0" rtlCol="0" anchor="ctr"/>
          <a:lstStyle/>
          <a:p>
            <a:pPr indent="0" marL="0">
              <a:buNone/>
            </a:pPr>
            <a:r>
              <a:rPr lang="en-US" sz="1350" dirty="0">
                <a:solidFill>
                  <a:srgbClr val="5C6875"/>
                </a:solidFill>
                <a:latin typeface="Calibri" pitchFamily="34" charset="0"/>
                <a:ea typeface="Calibri" pitchFamily="34" charset="-122"/>
                <a:cs typeface="Calibri" pitchFamily="34" charset="-120"/>
              </a:rPr>
              <a:t>Every insight rests on clean data. Before modelling, all sources passed through a disciplined ETL pipeline in Power Query — Extract, Transform, Load — to guarantee integrity.</a:t>
            </a:r>
            <a:endParaRPr lang="en-US" sz="1350" dirty="0"/>
          </a:p>
        </p:txBody>
      </p:sp>
      <p:sp>
        <p:nvSpPr>
          <p:cNvPr id="7" name="Shape 4"/>
          <p:cNvSpPr/>
          <p:nvPr/>
        </p:nvSpPr>
        <p:spPr>
          <a:xfrm>
            <a:off x="548640" y="2148840"/>
            <a:ext cx="3630168" cy="1572768"/>
          </a:xfrm>
          <a:prstGeom prst="roundRect">
            <a:avLst>
              <a:gd name="adj" fmla="val 4070"/>
            </a:avLst>
          </a:prstGeom>
          <a:solidFill>
            <a:srgbClr val="F4F7FA"/>
          </a:solidFill>
          <a:ln/>
          <a:effectLst>
            <a:outerShdw sx="100000" sy="100000" kx="0" ky="0" algn="bl" rotWithShape="0" blurRad="88900" dist="38100" dir="5400000">
              <a:srgbClr val="000000">
                <a:alpha val="16000"/>
              </a:srgbClr>
            </a:outerShdw>
          </a:effectLst>
        </p:spPr>
      </p:sp>
      <p:sp>
        <p:nvSpPr>
          <p:cNvPr id="8" name="Shape 5"/>
          <p:cNvSpPr/>
          <p:nvPr/>
        </p:nvSpPr>
        <p:spPr>
          <a:xfrm>
            <a:off x="749808" y="233172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9" name="Image 1" descr="preencoded.png">    </p:cNvPr>
          <p:cNvPicPr>
            <a:picLocks noChangeAspect="1"/>
          </p:cNvPicPr>
          <p:nvPr/>
        </p:nvPicPr>
        <p:blipFill>
          <a:blip r:embed="rId2"/>
          <a:stretch>
            <a:fillRect/>
          </a:stretch>
        </p:blipFill>
        <p:spPr>
          <a:xfrm>
            <a:off x="859536" y="2441448"/>
            <a:ext cx="237744" cy="237744"/>
          </a:xfrm>
          <a:prstGeom prst="rect">
            <a:avLst/>
          </a:prstGeom>
        </p:spPr>
      </p:pic>
      <p:sp>
        <p:nvSpPr>
          <p:cNvPr id="10" name="Text 6"/>
          <p:cNvSpPr/>
          <p:nvPr/>
        </p:nvSpPr>
        <p:spPr>
          <a:xfrm>
            <a:off x="1325880" y="2377440"/>
            <a:ext cx="2715768" cy="365760"/>
          </a:xfrm>
          <a:prstGeom prst="rect">
            <a:avLst/>
          </a:prstGeom>
          <a:noFill/>
          <a:ln/>
        </p:spPr>
        <p:txBody>
          <a:bodyPr wrap="square" lIns="0" tIns="0" rIns="0" bIns="0" rtlCol="0" anchor="ctr"/>
          <a:lstStyle/>
          <a:p>
            <a:pPr indent="0" marL="0">
              <a:buNone/>
            </a:pPr>
            <a:r>
              <a:rPr lang="en-US" sz="1500" b="1" dirty="0">
                <a:solidFill>
                  <a:srgbClr val="12507B"/>
                </a:solidFill>
                <a:latin typeface="Cambria" pitchFamily="34" charset="0"/>
                <a:ea typeface="Cambria" pitchFamily="34" charset="-122"/>
                <a:cs typeface="Cambria" pitchFamily="34" charset="-120"/>
              </a:rPr>
              <a:t>EXTRACT</a:t>
            </a:r>
            <a:endParaRPr lang="en-US" sz="1500" dirty="0"/>
          </a:p>
        </p:txBody>
      </p:sp>
      <p:sp>
        <p:nvSpPr>
          <p:cNvPr id="11" name="Text 7"/>
          <p:cNvSpPr/>
          <p:nvPr/>
        </p:nvSpPr>
        <p:spPr>
          <a:xfrm>
            <a:off x="768096" y="2852928"/>
            <a:ext cx="3191256" cy="777240"/>
          </a:xfrm>
          <a:prstGeom prst="rect">
            <a:avLst/>
          </a:prstGeom>
          <a:noFill/>
          <a:ln/>
        </p:spPr>
        <p:txBody>
          <a:bodyPr wrap="square" lIns="0" tIns="0" rIns="0" bIns="0" rtlCol="0" anchor="ctr"/>
          <a:lstStyle/>
          <a:p>
            <a:pPr indent="0" marL="0">
              <a:lnSpc>
                <a:spcPts val="1400"/>
              </a:lnSpc>
              <a:buNone/>
            </a:pPr>
            <a:r>
              <a:rPr lang="en-US" sz="1080" dirty="0">
                <a:solidFill>
                  <a:srgbClr val="1C2530"/>
                </a:solidFill>
                <a:latin typeface="Calibri" pitchFamily="34" charset="0"/>
                <a:ea typeface="Calibri" pitchFamily="34" charset="-122"/>
                <a:cs typeface="Calibri" pitchFamily="34" charset="-120"/>
              </a:rPr>
              <a:t>Consolidated 15 years (2010–2024) from CAPMAS, UN Comtrade, World Bank, WTO and ITC TradeMap into a single workbook of fact and dimension sheets.</a:t>
            </a:r>
            <a:endParaRPr lang="en-US" sz="1080" dirty="0"/>
          </a:p>
        </p:txBody>
      </p:sp>
      <p:sp>
        <p:nvSpPr>
          <p:cNvPr id="12" name="Shape 8"/>
          <p:cNvSpPr/>
          <p:nvPr/>
        </p:nvSpPr>
        <p:spPr>
          <a:xfrm>
            <a:off x="4361688" y="2148840"/>
            <a:ext cx="3630168" cy="1572768"/>
          </a:xfrm>
          <a:prstGeom prst="roundRect">
            <a:avLst>
              <a:gd name="adj" fmla="val 4070"/>
            </a:avLst>
          </a:prstGeom>
          <a:solidFill>
            <a:srgbClr val="F4F7FA"/>
          </a:solidFill>
          <a:ln/>
          <a:effectLst>
            <a:outerShdw sx="100000" sy="100000" kx="0" ky="0" algn="bl" rotWithShape="0" blurRad="88900" dist="38100" dir="5400000">
              <a:srgbClr val="000000">
                <a:alpha val="16000"/>
              </a:srgbClr>
            </a:outerShdw>
          </a:effectLst>
        </p:spPr>
      </p:sp>
      <p:sp>
        <p:nvSpPr>
          <p:cNvPr id="13" name="Shape 9"/>
          <p:cNvSpPr/>
          <p:nvPr/>
        </p:nvSpPr>
        <p:spPr>
          <a:xfrm>
            <a:off x="4562856" y="233172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4" name="Image 2" descr="preencoded.png">    </p:cNvPr>
          <p:cNvPicPr>
            <a:picLocks noChangeAspect="1"/>
          </p:cNvPicPr>
          <p:nvPr/>
        </p:nvPicPr>
        <p:blipFill>
          <a:blip r:embed="rId3"/>
          <a:stretch>
            <a:fillRect/>
          </a:stretch>
        </p:blipFill>
        <p:spPr>
          <a:xfrm>
            <a:off x="4672584" y="2441448"/>
            <a:ext cx="237744" cy="237744"/>
          </a:xfrm>
          <a:prstGeom prst="rect">
            <a:avLst/>
          </a:prstGeom>
        </p:spPr>
      </p:pic>
      <p:sp>
        <p:nvSpPr>
          <p:cNvPr id="15" name="Text 10"/>
          <p:cNvSpPr/>
          <p:nvPr/>
        </p:nvSpPr>
        <p:spPr>
          <a:xfrm>
            <a:off x="5138928" y="2377440"/>
            <a:ext cx="2715768" cy="365760"/>
          </a:xfrm>
          <a:prstGeom prst="rect">
            <a:avLst/>
          </a:prstGeom>
          <a:noFill/>
          <a:ln/>
        </p:spPr>
        <p:txBody>
          <a:bodyPr wrap="square" lIns="0" tIns="0" rIns="0" bIns="0" rtlCol="0" anchor="ctr"/>
          <a:lstStyle/>
          <a:p>
            <a:pPr indent="0" marL="0">
              <a:buNone/>
            </a:pPr>
            <a:r>
              <a:rPr lang="en-US" sz="1500" b="1" dirty="0">
                <a:solidFill>
                  <a:srgbClr val="12507B"/>
                </a:solidFill>
                <a:latin typeface="Cambria" pitchFamily="34" charset="0"/>
                <a:ea typeface="Cambria" pitchFamily="34" charset="-122"/>
                <a:cs typeface="Cambria" pitchFamily="34" charset="-120"/>
              </a:rPr>
              <a:t>TRANSFORM</a:t>
            </a:r>
            <a:endParaRPr lang="en-US" sz="1500" dirty="0"/>
          </a:p>
        </p:txBody>
      </p:sp>
      <p:sp>
        <p:nvSpPr>
          <p:cNvPr id="16" name="Text 11"/>
          <p:cNvSpPr/>
          <p:nvPr/>
        </p:nvSpPr>
        <p:spPr>
          <a:xfrm>
            <a:off x="4581144" y="2852928"/>
            <a:ext cx="3191256" cy="777240"/>
          </a:xfrm>
          <a:prstGeom prst="rect">
            <a:avLst/>
          </a:prstGeom>
          <a:noFill/>
          <a:ln/>
        </p:spPr>
        <p:txBody>
          <a:bodyPr wrap="square" lIns="0" tIns="0" rIns="0" bIns="0" rtlCol="0" anchor="ctr"/>
          <a:lstStyle/>
          <a:p>
            <a:pPr indent="0" marL="0">
              <a:lnSpc>
                <a:spcPts val="1400"/>
              </a:lnSpc>
              <a:buNone/>
            </a:pPr>
            <a:r>
              <a:rPr lang="en-US" sz="1080" dirty="0">
                <a:solidFill>
                  <a:srgbClr val="1C2530"/>
                </a:solidFill>
                <a:latin typeface="Calibri" pitchFamily="34" charset="0"/>
                <a:ea typeface="Calibri" pitchFamily="34" charset="-122"/>
                <a:cs typeface="Calibri" pitchFamily="34" charset="-120"/>
              </a:rPr>
              <a:t>Standardised, cleaned and validated every table — the integrity layer that makes the model trustworthy (detailed below).</a:t>
            </a:r>
            <a:endParaRPr lang="en-US" sz="1080" dirty="0"/>
          </a:p>
        </p:txBody>
      </p:sp>
      <p:sp>
        <p:nvSpPr>
          <p:cNvPr id="17" name="Shape 12"/>
          <p:cNvSpPr/>
          <p:nvPr/>
        </p:nvSpPr>
        <p:spPr>
          <a:xfrm>
            <a:off x="8174736" y="2148840"/>
            <a:ext cx="3630168" cy="1572768"/>
          </a:xfrm>
          <a:prstGeom prst="roundRect">
            <a:avLst>
              <a:gd name="adj" fmla="val 4070"/>
            </a:avLst>
          </a:prstGeom>
          <a:solidFill>
            <a:srgbClr val="F4F7FA"/>
          </a:solidFill>
          <a:ln/>
          <a:effectLst>
            <a:outerShdw sx="100000" sy="100000" kx="0" ky="0" algn="bl" rotWithShape="0" blurRad="88900" dist="38100" dir="5400000">
              <a:srgbClr val="000000">
                <a:alpha val="16000"/>
              </a:srgbClr>
            </a:outerShdw>
          </a:effectLst>
        </p:spPr>
      </p:sp>
      <p:sp>
        <p:nvSpPr>
          <p:cNvPr id="18" name="Shape 13"/>
          <p:cNvSpPr/>
          <p:nvPr/>
        </p:nvSpPr>
        <p:spPr>
          <a:xfrm>
            <a:off x="8375904" y="233172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9" name="Image 3" descr="preencoded.png">    </p:cNvPr>
          <p:cNvPicPr>
            <a:picLocks noChangeAspect="1"/>
          </p:cNvPicPr>
          <p:nvPr/>
        </p:nvPicPr>
        <p:blipFill>
          <a:blip r:embed="rId4"/>
          <a:stretch>
            <a:fillRect/>
          </a:stretch>
        </p:blipFill>
        <p:spPr>
          <a:xfrm>
            <a:off x="8485632" y="2441448"/>
            <a:ext cx="237744" cy="237744"/>
          </a:xfrm>
          <a:prstGeom prst="rect">
            <a:avLst/>
          </a:prstGeom>
        </p:spPr>
      </p:pic>
      <p:sp>
        <p:nvSpPr>
          <p:cNvPr id="20" name="Text 14"/>
          <p:cNvSpPr/>
          <p:nvPr/>
        </p:nvSpPr>
        <p:spPr>
          <a:xfrm>
            <a:off x="8951976" y="2377440"/>
            <a:ext cx="2715768" cy="365760"/>
          </a:xfrm>
          <a:prstGeom prst="rect">
            <a:avLst/>
          </a:prstGeom>
          <a:noFill/>
          <a:ln/>
        </p:spPr>
        <p:txBody>
          <a:bodyPr wrap="square" lIns="0" tIns="0" rIns="0" bIns="0" rtlCol="0" anchor="ctr"/>
          <a:lstStyle/>
          <a:p>
            <a:pPr indent="0" marL="0">
              <a:buNone/>
            </a:pPr>
            <a:r>
              <a:rPr lang="en-US" sz="1500" b="1" dirty="0">
                <a:solidFill>
                  <a:srgbClr val="12507B"/>
                </a:solidFill>
                <a:latin typeface="Cambria" pitchFamily="34" charset="0"/>
                <a:ea typeface="Cambria" pitchFamily="34" charset="-122"/>
                <a:cs typeface="Cambria" pitchFamily="34" charset="-120"/>
              </a:rPr>
              <a:t>LOAD</a:t>
            </a:r>
            <a:endParaRPr lang="en-US" sz="1500" dirty="0"/>
          </a:p>
        </p:txBody>
      </p:sp>
      <p:sp>
        <p:nvSpPr>
          <p:cNvPr id="21" name="Text 15"/>
          <p:cNvSpPr/>
          <p:nvPr/>
        </p:nvSpPr>
        <p:spPr>
          <a:xfrm>
            <a:off x="8394192" y="2852928"/>
            <a:ext cx="3191256" cy="777240"/>
          </a:xfrm>
          <a:prstGeom prst="rect">
            <a:avLst/>
          </a:prstGeom>
          <a:noFill/>
          <a:ln/>
        </p:spPr>
        <p:txBody>
          <a:bodyPr wrap="square" lIns="0" tIns="0" rIns="0" bIns="0" rtlCol="0" anchor="ctr"/>
          <a:lstStyle/>
          <a:p>
            <a:pPr indent="0" marL="0">
              <a:lnSpc>
                <a:spcPts val="1400"/>
              </a:lnSpc>
              <a:buNone/>
            </a:pPr>
            <a:r>
              <a:rPr lang="en-US" sz="1080" dirty="0">
                <a:solidFill>
                  <a:srgbClr val="1C2530"/>
                </a:solidFill>
                <a:latin typeface="Calibri" pitchFamily="34" charset="0"/>
                <a:ea typeface="Calibri" pitchFamily="34" charset="-122"/>
                <a:cs typeface="Calibri" pitchFamily="34" charset="-120"/>
              </a:rPr>
              <a:t>Loaded shaped tables directly into the Power BI data model (not the query grid), typed and keyed, ready for relationships and DAX.</a:t>
            </a:r>
            <a:endParaRPr lang="en-US" sz="1080" dirty="0"/>
          </a:p>
        </p:txBody>
      </p:sp>
      <p:sp>
        <p:nvSpPr>
          <p:cNvPr id="22" name="Text 16"/>
          <p:cNvSpPr/>
          <p:nvPr/>
        </p:nvSpPr>
        <p:spPr>
          <a:xfrm>
            <a:off x="548640" y="3931920"/>
            <a:ext cx="10972800" cy="365760"/>
          </a:xfrm>
          <a:prstGeom prst="rect">
            <a:avLst/>
          </a:prstGeom>
          <a:noFill/>
          <a:ln/>
        </p:spPr>
        <p:txBody>
          <a:bodyPr wrap="square" lIns="0" tIns="0" rIns="0" bIns="0" rtlCol="0" anchor="ctr"/>
          <a:lstStyle/>
          <a:p>
            <a:pPr indent="0" marL="0">
              <a:buNone/>
            </a:pPr>
            <a:r>
              <a:rPr lang="en-US" sz="1600" b="1" dirty="0">
                <a:solidFill>
                  <a:srgbClr val="0A2540"/>
                </a:solidFill>
                <a:latin typeface="Cambria" pitchFamily="34" charset="0"/>
                <a:ea typeface="Cambria" pitchFamily="34" charset="-122"/>
                <a:cs typeface="Cambria" pitchFamily="34" charset="-120"/>
              </a:rPr>
              <a:t>Key cleaning steps that ensured data integrity</a:t>
            </a:r>
            <a:endParaRPr lang="en-US" sz="1600" dirty="0"/>
          </a:p>
        </p:txBody>
      </p:sp>
      <p:sp>
        <p:nvSpPr>
          <p:cNvPr id="23" name="Shape 17"/>
          <p:cNvSpPr/>
          <p:nvPr/>
        </p:nvSpPr>
        <p:spPr>
          <a:xfrm>
            <a:off x="548640" y="4389120"/>
            <a:ext cx="5541264" cy="987552"/>
          </a:xfrm>
          <a:prstGeom prst="roundRect">
            <a:avLst>
              <a:gd name="adj" fmla="val 5556"/>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24" name="Shape 18"/>
          <p:cNvSpPr/>
          <p:nvPr/>
        </p:nvSpPr>
        <p:spPr>
          <a:xfrm>
            <a:off x="731520" y="4700016"/>
            <a:ext cx="365760" cy="365760"/>
          </a:xfrm>
          <a:prstGeom prst="ellipse">
            <a:avLst/>
          </a:prstGeom>
          <a:solidFill>
            <a:srgbClr val="0A2540"/>
          </a:solidFill>
          <a:ln/>
        </p:spPr>
      </p:sp>
      <p:sp>
        <p:nvSpPr>
          <p:cNvPr id="25" name="Text 19"/>
          <p:cNvSpPr/>
          <p:nvPr/>
        </p:nvSpPr>
        <p:spPr>
          <a:xfrm>
            <a:off x="731520" y="4700016"/>
            <a:ext cx="365760" cy="365760"/>
          </a:xfrm>
          <a:prstGeom prst="rect">
            <a:avLst/>
          </a:prstGeom>
          <a:noFill/>
          <a:ln/>
        </p:spPr>
        <p:txBody>
          <a:bodyPr wrap="square" lIns="0" tIns="0" rIns="0" bIns="0" rtlCol="0" anchor="ctr"/>
          <a:lstStyle/>
          <a:p>
            <a:pPr algn="ctr" indent="0" marL="0">
              <a:buNone/>
            </a:pPr>
            <a:r>
              <a:rPr lang="en-US" sz="1500" b="1" dirty="0">
                <a:solidFill>
                  <a:srgbClr val="E9CD82"/>
                </a:solidFill>
                <a:latin typeface="Cambria" pitchFamily="34" charset="0"/>
                <a:ea typeface="Cambria" pitchFamily="34" charset="-122"/>
                <a:cs typeface="Cambria" pitchFamily="34" charset="-120"/>
              </a:rPr>
              <a:t>1</a:t>
            </a:r>
            <a:endParaRPr lang="en-US" sz="1500" dirty="0"/>
          </a:p>
        </p:txBody>
      </p:sp>
      <p:sp>
        <p:nvSpPr>
          <p:cNvPr id="26" name="Text 20"/>
          <p:cNvSpPr/>
          <p:nvPr/>
        </p:nvSpPr>
        <p:spPr>
          <a:xfrm>
            <a:off x="1207008" y="4498848"/>
            <a:ext cx="4764024" cy="310896"/>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Handled missing values</a:t>
            </a:r>
            <a:endParaRPr lang="en-US" sz="1300" dirty="0"/>
          </a:p>
        </p:txBody>
      </p:sp>
      <p:sp>
        <p:nvSpPr>
          <p:cNvPr id="27" name="Text 21"/>
          <p:cNvSpPr/>
          <p:nvPr/>
        </p:nvSpPr>
        <p:spPr>
          <a:xfrm>
            <a:off x="1207008" y="4791456"/>
            <a:ext cx="4718304" cy="530352"/>
          </a:xfrm>
          <a:prstGeom prst="rect">
            <a:avLst/>
          </a:prstGeom>
          <a:noFill/>
          <a:ln/>
        </p:spPr>
        <p:txBody>
          <a:bodyPr wrap="square" lIns="0" tIns="0" rIns="0" bIns="0" rtlCol="0" anchor="ctr"/>
          <a:lstStyle/>
          <a:p>
            <a:pPr indent="0" marL="0">
              <a:lnSpc>
                <a:spcPts val="1300"/>
              </a:lnSpc>
              <a:buNone/>
            </a:pPr>
            <a:r>
              <a:rPr lang="en-US" sz="1030" dirty="0">
                <a:solidFill>
                  <a:srgbClr val="5C6875"/>
                </a:solidFill>
                <a:latin typeface="Calibri" pitchFamily="34" charset="0"/>
                <a:ea typeface="Calibri" pitchFamily="34" charset="-122"/>
                <a:cs typeface="Calibri" pitchFamily="34" charset="-120"/>
              </a:rPr>
              <a:t>Audited every column; imputed or flagged blanks in trade values and prices so no metric silently under- or over-counts.</a:t>
            </a:r>
            <a:endParaRPr lang="en-US" sz="1030" dirty="0"/>
          </a:p>
        </p:txBody>
      </p:sp>
      <p:sp>
        <p:nvSpPr>
          <p:cNvPr id="28" name="Shape 22"/>
          <p:cNvSpPr/>
          <p:nvPr/>
        </p:nvSpPr>
        <p:spPr>
          <a:xfrm>
            <a:off x="6272784" y="4389120"/>
            <a:ext cx="5541264" cy="987552"/>
          </a:xfrm>
          <a:prstGeom prst="roundRect">
            <a:avLst>
              <a:gd name="adj" fmla="val 5556"/>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29" name="Shape 23"/>
          <p:cNvSpPr/>
          <p:nvPr/>
        </p:nvSpPr>
        <p:spPr>
          <a:xfrm>
            <a:off x="6455664" y="4700016"/>
            <a:ext cx="365760" cy="365760"/>
          </a:xfrm>
          <a:prstGeom prst="ellipse">
            <a:avLst/>
          </a:prstGeom>
          <a:solidFill>
            <a:srgbClr val="0A2540"/>
          </a:solidFill>
          <a:ln/>
        </p:spPr>
      </p:sp>
      <p:sp>
        <p:nvSpPr>
          <p:cNvPr id="30" name="Text 24"/>
          <p:cNvSpPr/>
          <p:nvPr/>
        </p:nvSpPr>
        <p:spPr>
          <a:xfrm>
            <a:off x="6455664" y="4700016"/>
            <a:ext cx="365760" cy="365760"/>
          </a:xfrm>
          <a:prstGeom prst="rect">
            <a:avLst/>
          </a:prstGeom>
          <a:noFill/>
          <a:ln/>
        </p:spPr>
        <p:txBody>
          <a:bodyPr wrap="square" lIns="0" tIns="0" rIns="0" bIns="0" rtlCol="0" anchor="ctr"/>
          <a:lstStyle/>
          <a:p>
            <a:pPr algn="ctr" indent="0" marL="0">
              <a:buNone/>
            </a:pPr>
            <a:r>
              <a:rPr lang="en-US" sz="1500" b="1" dirty="0">
                <a:solidFill>
                  <a:srgbClr val="E9CD82"/>
                </a:solidFill>
                <a:latin typeface="Cambria" pitchFamily="34" charset="0"/>
                <a:ea typeface="Cambria" pitchFamily="34" charset="-122"/>
                <a:cs typeface="Cambria" pitchFamily="34" charset="-120"/>
              </a:rPr>
              <a:t>2</a:t>
            </a:r>
            <a:endParaRPr lang="en-US" sz="1500" dirty="0"/>
          </a:p>
        </p:txBody>
      </p:sp>
      <p:sp>
        <p:nvSpPr>
          <p:cNvPr id="31" name="Text 25"/>
          <p:cNvSpPr/>
          <p:nvPr/>
        </p:nvSpPr>
        <p:spPr>
          <a:xfrm>
            <a:off x="6931152" y="4498848"/>
            <a:ext cx="4764024" cy="310896"/>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Applied Trim &amp; Clean</a:t>
            </a:r>
            <a:endParaRPr lang="en-US" sz="1300" dirty="0"/>
          </a:p>
        </p:txBody>
      </p:sp>
      <p:sp>
        <p:nvSpPr>
          <p:cNvPr id="32" name="Text 26"/>
          <p:cNvSpPr/>
          <p:nvPr/>
        </p:nvSpPr>
        <p:spPr>
          <a:xfrm>
            <a:off x="6931152" y="4791456"/>
            <a:ext cx="4718304" cy="530352"/>
          </a:xfrm>
          <a:prstGeom prst="rect">
            <a:avLst/>
          </a:prstGeom>
          <a:noFill/>
          <a:ln/>
        </p:spPr>
        <p:txBody>
          <a:bodyPr wrap="square" lIns="0" tIns="0" rIns="0" bIns="0" rtlCol="0" anchor="ctr"/>
          <a:lstStyle/>
          <a:p>
            <a:pPr indent="0" marL="0">
              <a:lnSpc>
                <a:spcPts val="1300"/>
              </a:lnSpc>
              <a:buNone/>
            </a:pPr>
            <a:r>
              <a:rPr lang="en-US" sz="1030" dirty="0">
                <a:solidFill>
                  <a:srgbClr val="5C6875"/>
                </a:solidFill>
                <a:latin typeface="Calibri" pitchFamily="34" charset="0"/>
                <a:ea typeface="Calibri" pitchFamily="34" charset="-122"/>
                <a:cs typeface="Calibri" pitchFamily="34" charset="-120"/>
              </a:rPr>
              <a:t>Removed leading/trailing spaces and non-printing characters from country, product and sector text so joins and filters match exactly.</a:t>
            </a:r>
            <a:endParaRPr lang="en-US" sz="1030" dirty="0"/>
          </a:p>
        </p:txBody>
      </p:sp>
      <p:sp>
        <p:nvSpPr>
          <p:cNvPr id="33" name="Shape 27"/>
          <p:cNvSpPr/>
          <p:nvPr/>
        </p:nvSpPr>
        <p:spPr>
          <a:xfrm>
            <a:off x="548640" y="5541264"/>
            <a:ext cx="5541264" cy="987552"/>
          </a:xfrm>
          <a:prstGeom prst="roundRect">
            <a:avLst>
              <a:gd name="adj" fmla="val 5556"/>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34" name="Shape 28"/>
          <p:cNvSpPr/>
          <p:nvPr/>
        </p:nvSpPr>
        <p:spPr>
          <a:xfrm>
            <a:off x="731520" y="5852160"/>
            <a:ext cx="365760" cy="365760"/>
          </a:xfrm>
          <a:prstGeom prst="ellipse">
            <a:avLst/>
          </a:prstGeom>
          <a:solidFill>
            <a:srgbClr val="0A2540"/>
          </a:solidFill>
          <a:ln/>
        </p:spPr>
      </p:sp>
      <p:sp>
        <p:nvSpPr>
          <p:cNvPr id="35" name="Text 29"/>
          <p:cNvSpPr/>
          <p:nvPr/>
        </p:nvSpPr>
        <p:spPr>
          <a:xfrm>
            <a:off x="731520" y="5852160"/>
            <a:ext cx="365760" cy="365760"/>
          </a:xfrm>
          <a:prstGeom prst="rect">
            <a:avLst/>
          </a:prstGeom>
          <a:noFill/>
          <a:ln/>
        </p:spPr>
        <p:txBody>
          <a:bodyPr wrap="square" lIns="0" tIns="0" rIns="0" bIns="0" rtlCol="0" anchor="ctr"/>
          <a:lstStyle/>
          <a:p>
            <a:pPr algn="ctr" indent="0" marL="0">
              <a:buNone/>
            </a:pPr>
            <a:r>
              <a:rPr lang="en-US" sz="1500" b="1" dirty="0">
                <a:solidFill>
                  <a:srgbClr val="E9CD82"/>
                </a:solidFill>
                <a:latin typeface="Cambria" pitchFamily="34" charset="0"/>
                <a:ea typeface="Cambria" pitchFamily="34" charset="-122"/>
                <a:cs typeface="Cambria" pitchFamily="34" charset="-120"/>
              </a:rPr>
              <a:t>3</a:t>
            </a:r>
            <a:endParaRPr lang="en-US" sz="1500" dirty="0"/>
          </a:p>
        </p:txBody>
      </p:sp>
      <p:sp>
        <p:nvSpPr>
          <p:cNvPr id="36" name="Text 30"/>
          <p:cNvSpPr/>
          <p:nvPr/>
        </p:nvSpPr>
        <p:spPr>
          <a:xfrm>
            <a:off x="1207008" y="5650992"/>
            <a:ext cx="4764024" cy="310896"/>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Removed duplicates</a:t>
            </a:r>
            <a:endParaRPr lang="en-US" sz="1300" dirty="0"/>
          </a:p>
        </p:txBody>
      </p:sp>
      <p:sp>
        <p:nvSpPr>
          <p:cNvPr id="37" name="Text 31"/>
          <p:cNvSpPr/>
          <p:nvPr/>
        </p:nvSpPr>
        <p:spPr>
          <a:xfrm>
            <a:off x="1207008" y="5943600"/>
            <a:ext cx="4718304" cy="530352"/>
          </a:xfrm>
          <a:prstGeom prst="rect">
            <a:avLst/>
          </a:prstGeom>
          <a:noFill/>
          <a:ln/>
        </p:spPr>
        <p:txBody>
          <a:bodyPr wrap="square" lIns="0" tIns="0" rIns="0" bIns="0" rtlCol="0" anchor="ctr"/>
          <a:lstStyle/>
          <a:p>
            <a:pPr indent="0" marL="0">
              <a:lnSpc>
                <a:spcPts val="1300"/>
              </a:lnSpc>
              <a:buNone/>
            </a:pPr>
            <a:r>
              <a:rPr lang="en-US" sz="1030" dirty="0">
                <a:solidFill>
                  <a:srgbClr val="5C6875"/>
                </a:solidFill>
                <a:latin typeface="Calibri" pitchFamily="34" charset="0"/>
                <a:ea typeface="Calibri" pitchFamily="34" charset="-122"/>
                <a:cs typeface="Calibri" pitchFamily="34" charset="-120"/>
              </a:rPr>
              <a:t>De-duplicated transaction and partner records to prevent double-counting of export/import values.</a:t>
            </a:r>
            <a:endParaRPr lang="en-US" sz="1030" dirty="0"/>
          </a:p>
        </p:txBody>
      </p:sp>
      <p:sp>
        <p:nvSpPr>
          <p:cNvPr id="38" name="Shape 32"/>
          <p:cNvSpPr/>
          <p:nvPr/>
        </p:nvSpPr>
        <p:spPr>
          <a:xfrm>
            <a:off x="6272784" y="5541264"/>
            <a:ext cx="5541264" cy="987552"/>
          </a:xfrm>
          <a:prstGeom prst="roundRect">
            <a:avLst>
              <a:gd name="adj" fmla="val 5556"/>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39" name="Shape 33"/>
          <p:cNvSpPr/>
          <p:nvPr/>
        </p:nvSpPr>
        <p:spPr>
          <a:xfrm>
            <a:off x="6455664" y="5852160"/>
            <a:ext cx="365760" cy="365760"/>
          </a:xfrm>
          <a:prstGeom prst="ellipse">
            <a:avLst/>
          </a:prstGeom>
          <a:solidFill>
            <a:srgbClr val="0A2540"/>
          </a:solidFill>
          <a:ln/>
        </p:spPr>
      </p:sp>
      <p:sp>
        <p:nvSpPr>
          <p:cNvPr id="40" name="Text 34"/>
          <p:cNvSpPr/>
          <p:nvPr/>
        </p:nvSpPr>
        <p:spPr>
          <a:xfrm>
            <a:off x="6455664" y="5852160"/>
            <a:ext cx="365760" cy="365760"/>
          </a:xfrm>
          <a:prstGeom prst="rect">
            <a:avLst/>
          </a:prstGeom>
          <a:noFill/>
          <a:ln/>
        </p:spPr>
        <p:txBody>
          <a:bodyPr wrap="square" lIns="0" tIns="0" rIns="0" bIns="0" rtlCol="0" anchor="ctr"/>
          <a:lstStyle/>
          <a:p>
            <a:pPr algn="ctr" indent="0" marL="0">
              <a:buNone/>
            </a:pPr>
            <a:r>
              <a:rPr lang="en-US" sz="1500" b="1" dirty="0">
                <a:solidFill>
                  <a:srgbClr val="E9CD82"/>
                </a:solidFill>
                <a:latin typeface="Cambria" pitchFamily="34" charset="0"/>
                <a:ea typeface="Cambria" pitchFamily="34" charset="-122"/>
                <a:cs typeface="Cambria" pitchFamily="34" charset="-120"/>
              </a:rPr>
              <a:t>4</a:t>
            </a:r>
            <a:endParaRPr lang="en-US" sz="1500" dirty="0"/>
          </a:p>
        </p:txBody>
      </p:sp>
      <p:sp>
        <p:nvSpPr>
          <p:cNvPr id="41" name="Text 35"/>
          <p:cNvSpPr/>
          <p:nvPr/>
        </p:nvSpPr>
        <p:spPr>
          <a:xfrm>
            <a:off x="6931152" y="5650992"/>
            <a:ext cx="4764024" cy="310896"/>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Standardised types &amp; keys</a:t>
            </a:r>
            <a:endParaRPr lang="en-US" sz="1300" dirty="0"/>
          </a:p>
        </p:txBody>
      </p:sp>
      <p:sp>
        <p:nvSpPr>
          <p:cNvPr id="42" name="Text 36"/>
          <p:cNvSpPr/>
          <p:nvPr/>
        </p:nvSpPr>
        <p:spPr>
          <a:xfrm>
            <a:off x="6931152" y="5943600"/>
            <a:ext cx="4718304" cy="530352"/>
          </a:xfrm>
          <a:prstGeom prst="rect">
            <a:avLst/>
          </a:prstGeom>
          <a:noFill/>
          <a:ln/>
        </p:spPr>
        <p:txBody>
          <a:bodyPr wrap="square" lIns="0" tIns="0" rIns="0" bIns="0" rtlCol="0" anchor="ctr"/>
          <a:lstStyle/>
          <a:p>
            <a:pPr indent="0" marL="0">
              <a:lnSpc>
                <a:spcPts val="1300"/>
              </a:lnSpc>
              <a:buNone/>
            </a:pPr>
            <a:r>
              <a:rPr lang="en-US" sz="1030" dirty="0">
                <a:solidFill>
                  <a:srgbClr val="5C6875"/>
                </a:solidFill>
                <a:latin typeface="Calibri" pitchFamily="34" charset="0"/>
                <a:ea typeface="Calibri" pitchFamily="34" charset="-122"/>
                <a:cs typeface="Calibri" pitchFamily="34" charset="-120"/>
              </a:rPr>
              <a:t>Enforced consistent data types (dates, decimals) and unified naming/casing (e.g. "Export"/"Import") so relationships resolve cleanly.</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4" name="Text 1"/>
          <p:cNvSpPr/>
          <p:nvPr/>
        </p:nvSpPr>
        <p:spPr>
          <a:xfrm>
            <a:off x="1325880" y="457200"/>
            <a:ext cx="9144000" cy="274320"/>
          </a:xfrm>
          <a:prstGeom prst="rect">
            <a:avLst/>
          </a:prstGeom>
          <a:noFill/>
          <a:ln/>
        </p:spPr>
        <p:txBody>
          <a:bodyPr wrap="square" lIns="0" tIns="0" rIns="0" bIns="0" rtlCol="0" anchor="ctr"/>
          <a:lstStyle/>
          <a:p>
            <a:pPr algn="l" indent="0" marL="0">
              <a:buNone/>
            </a:pPr>
            <a:r>
              <a:rPr lang="en-US" sz="1200" b="1" spc="300" kern="0" dirty="0">
                <a:solidFill>
                  <a:srgbClr val="C8A04A"/>
                </a:solidFill>
                <a:latin typeface="Calibri" pitchFamily="34" charset="0"/>
                <a:ea typeface="Calibri" pitchFamily="34" charset="-122"/>
                <a:cs typeface="Calibri" pitchFamily="34" charset="-120"/>
              </a:rPr>
              <a:t>STEP 02  ·  DATA MODELLING</a:t>
            </a:r>
            <a:endParaRPr lang="en-US" sz="1200" dirty="0"/>
          </a:p>
        </p:txBody>
      </p:sp>
      <p:sp>
        <p:nvSpPr>
          <p:cNvPr id="5" name="Text 2"/>
          <p:cNvSpPr/>
          <p:nvPr/>
        </p:nvSpPr>
        <p:spPr>
          <a:xfrm>
            <a:off x="1325880" y="713232"/>
            <a:ext cx="10241280" cy="640080"/>
          </a:xfrm>
          <a:prstGeom prst="rect">
            <a:avLst/>
          </a:prstGeom>
          <a:noFill/>
          <a:ln/>
        </p:spPr>
        <p:txBody>
          <a:bodyPr wrap="square" lIns="0" tIns="0" rIns="0" bIns="0" rtlCol="0" anchor="ctr"/>
          <a:lstStyle/>
          <a:p>
            <a:pPr algn="l" indent="0" marL="0">
              <a:buNone/>
            </a:pPr>
            <a:r>
              <a:rPr lang="en-US" sz="3000" b="1" dirty="0">
                <a:solidFill>
                  <a:srgbClr val="0A2540"/>
                </a:solidFill>
                <a:latin typeface="Cambria" pitchFamily="34" charset="0"/>
                <a:ea typeface="Cambria" pitchFamily="34" charset="-122"/>
                <a:cs typeface="Cambria" pitchFamily="34" charset="-120"/>
              </a:rPr>
              <a:t>A Star Schema Built for Analysis</a:t>
            </a:r>
            <a:endParaRPr lang="en-US" sz="3000" dirty="0"/>
          </a:p>
        </p:txBody>
      </p:sp>
      <p:sp>
        <p:nvSpPr>
          <p:cNvPr id="6" name="Text 3"/>
          <p:cNvSpPr/>
          <p:nvPr/>
        </p:nvSpPr>
        <p:spPr>
          <a:xfrm>
            <a:off x="548640" y="1481328"/>
            <a:ext cx="11064240" cy="502920"/>
          </a:xfrm>
          <a:prstGeom prst="rect">
            <a:avLst/>
          </a:prstGeom>
          <a:noFill/>
          <a:ln/>
        </p:spPr>
        <p:txBody>
          <a:bodyPr wrap="square" lIns="0" tIns="0" rIns="0" bIns="0" rtlCol="0" anchor="ctr"/>
          <a:lstStyle/>
          <a:p>
            <a:pPr indent="0" marL="0">
              <a:buNone/>
            </a:pPr>
            <a:r>
              <a:rPr lang="en-US" sz="1350" dirty="0">
                <a:solidFill>
                  <a:srgbClr val="5C6875"/>
                </a:solidFill>
                <a:latin typeface="Calibri" pitchFamily="34" charset="0"/>
                <a:ea typeface="Calibri" pitchFamily="34" charset="-122"/>
                <a:cs typeface="Calibri" pitchFamily="34" charset="-120"/>
              </a:rPr>
              <a:t>We chose a </a:t>
            </a:r>
            <a:pPr indent="0" marL="0">
              <a:buNone/>
            </a:pPr>
            <a:r>
              <a:rPr lang="en-US" sz="1350" b="1" dirty="0">
                <a:solidFill>
                  <a:srgbClr val="12507B"/>
                </a:solidFill>
                <a:latin typeface="Calibri" pitchFamily="34" charset="0"/>
                <a:ea typeface="Calibri" pitchFamily="34" charset="-122"/>
                <a:cs typeface="Calibri" pitchFamily="34" charset="-120"/>
              </a:rPr>
              <a:t>Star schema</a:t>
            </a:r>
            <a:pPr indent="0" marL="0">
              <a:buNone/>
            </a:pPr>
            <a:r>
              <a:rPr lang="en-US" sz="1350" dirty="0">
                <a:solidFill>
                  <a:srgbClr val="5C6875"/>
                </a:solidFill>
                <a:latin typeface="Calibri" pitchFamily="34" charset="0"/>
                <a:ea typeface="Calibri" pitchFamily="34" charset="-122"/>
                <a:cs typeface="Calibri" pitchFamily="34" charset="-120"/>
              </a:rPr>
              <a:t> over a normalised (snowflake) design — a central transaction fact surrounded by descriptive dimensions. It maximises query speed and keeps relationships transparent enough to interrogate live.</a:t>
            </a:r>
            <a:endParaRPr lang="en-US" sz="1350" dirty="0"/>
          </a:p>
        </p:txBody>
      </p:sp>
      <p:sp>
        <p:nvSpPr>
          <p:cNvPr id="7" name="Shape 4"/>
          <p:cNvSpPr/>
          <p:nvPr/>
        </p:nvSpPr>
        <p:spPr>
          <a:xfrm flipH="1" flipV="1">
            <a:off x="731520" y="2926080"/>
            <a:ext cx="2331720" cy="1234440"/>
          </a:xfrm>
          <a:prstGeom prst="line">
            <a:avLst/>
          </a:prstGeom>
          <a:noFill/>
          <a:ln w="19050">
            <a:solidFill>
              <a:srgbClr val="C8A04A"/>
            </a:solidFill>
            <a:prstDash val="solid"/>
          </a:ln>
        </p:spPr>
      </p:sp>
      <p:sp>
        <p:nvSpPr>
          <p:cNvPr id="8" name="Shape 5"/>
          <p:cNvSpPr/>
          <p:nvPr/>
        </p:nvSpPr>
        <p:spPr>
          <a:xfrm flipV="1">
            <a:off x="3063240" y="2560320"/>
            <a:ext cx="0" cy="1600200"/>
          </a:xfrm>
          <a:prstGeom prst="line">
            <a:avLst/>
          </a:prstGeom>
          <a:noFill/>
          <a:ln w="19050">
            <a:solidFill>
              <a:srgbClr val="C8A04A"/>
            </a:solidFill>
            <a:prstDash val="solid"/>
          </a:ln>
        </p:spPr>
      </p:sp>
      <p:sp>
        <p:nvSpPr>
          <p:cNvPr id="9" name="Shape 6"/>
          <p:cNvSpPr/>
          <p:nvPr/>
        </p:nvSpPr>
        <p:spPr>
          <a:xfrm flipV="1">
            <a:off x="3063240" y="2926080"/>
            <a:ext cx="2331720" cy="1234440"/>
          </a:xfrm>
          <a:prstGeom prst="line">
            <a:avLst/>
          </a:prstGeom>
          <a:noFill/>
          <a:ln w="19050">
            <a:solidFill>
              <a:srgbClr val="C8A04A"/>
            </a:solidFill>
            <a:prstDash val="solid"/>
          </a:ln>
        </p:spPr>
      </p:sp>
      <p:sp>
        <p:nvSpPr>
          <p:cNvPr id="10" name="Shape 7"/>
          <p:cNvSpPr/>
          <p:nvPr/>
        </p:nvSpPr>
        <p:spPr>
          <a:xfrm>
            <a:off x="3063240" y="4160520"/>
            <a:ext cx="2331720" cy="960120"/>
          </a:xfrm>
          <a:prstGeom prst="line">
            <a:avLst/>
          </a:prstGeom>
          <a:noFill/>
          <a:ln w="19050">
            <a:solidFill>
              <a:srgbClr val="C8A04A"/>
            </a:solidFill>
            <a:prstDash val="solid"/>
          </a:ln>
        </p:spPr>
      </p:sp>
      <p:sp>
        <p:nvSpPr>
          <p:cNvPr id="11" name="Shape 8"/>
          <p:cNvSpPr/>
          <p:nvPr/>
        </p:nvSpPr>
        <p:spPr>
          <a:xfrm>
            <a:off x="3063240" y="4160520"/>
            <a:ext cx="0" cy="1371600"/>
          </a:xfrm>
          <a:prstGeom prst="line">
            <a:avLst/>
          </a:prstGeom>
          <a:noFill/>
          <a:ln w="19050">
            <a:solidFill>
              <a:srgbClr val="C8A04A"/>
            </a:solidFill>
            <a:prstDash val="solid"/>
          </a:ln>
        </p:spPr>
      </p:sp>
      <p:sp>
        <p:nvSpPr>
          <p:cNvPr id="12" name="Shape 9"/>
          <p:cNvSpPr/>
          <p:nvPr/>
        </p:nvSpPr>
        <p:spPr>
          <a:xfrm flipH="1">
            <a:off x="731520" y="4160520"/>
            <a:ext cx="2331720" cy="960120"/>
          </a:xfrm>
          <a:prstGeom prst="line">
            <a:avLst/>
          </a:prstGeom>
          <a:noFill/>
          <a:ln w="19050">
            <a:solidFill>
              <a:srgbClr val="C8A04A"/>
            </a:solidFill>
            <a:prstDash val="solid"/>
          </a:ln>
        </p:spPr>
      </p:sp>
      <p:sp>
        <p:nvSpPr>
          <p:cNvPr id="13" name="Shape 10"/>
          <p:cNvSpPr/>
          <p:nvPr/>
        </p:nvSpPr>
        <p:spPr>
          <a:xfrm>
            <a:off x="-251460" y="262432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14" name="Text 11"/>
          <p:cNvSpPr/>
          <p:nvPr/>
        </p:nvSpPr>
        <p:spPr>
          <a:xfrm>
            <a:off x="-251460" y="262432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DIM_DATE</a:t>
            </a:r>
            <a:endParaRPr lang="en-US" sz="950" dirty="0"/>
          </a:p>
        </p:txBody>
      </p:sp>
      <p:sp>
        <p:nvSpPr>
          <p:cNvPr id="15" name="Shape 12"/>
          <p:cNvSpPr/>
          <p:nvPr/>
        </p:nvSpPr>
        <p:spPr>
          <a:xfrm>
            <a:off x="2080260" y="225856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16" name="Text 13"/>
          <p:cNvSpPr/>
          <p:nvPr/>
        </p:nvSpPr>
        <p:spPr>
          <a:xfrm>
            <a:off x="2080260" y="225856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DIM_PRODUCT</a:t>
            </a:r>
            <a:endParaRPr lang="en-US" sz="950" dirty="0"/>
          </a:p>
        </p:txBody>
      </p:sp>
      <p:sp>
        <p:nvSpPr>
          <p:cNvPr id="17" name="Shape 14"/>
          <p:cNvSpPr/>
          <p:nvPr/>
        </p:nvSpPr>
        <p:spPr>
          <a:xfrm>
            <a:off x="4411980" y="262432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18" name="Text 15"/>
          <p:cNvSpPr/>
          <p:nvPr/>
        </p:nvSpPr>
        <p:spPr>
          <a:xfrm>
            <a:off x="4411980" y="262432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DIM_COUNTRY</a:t>
            </a:r>
            <a:endParaRPr lang="en-US" sz="950" dirty="0"/>
          </a:p>
        </p:txBody>
      </p:sp>
      <p:sp>
        <p:nvSpPr>
          <p:cNvPr id="19" name="Shape 16"/>
          <p:cNvSpPr/>
          <p:nvPr/>
        </p:nvSpPr>
        <p:spPr>
          <a:xfrm>
            <a:off x="4411980" y="481888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20" name="Text 17"/>
          <p:cNvSpPr/>
          <p:nvPr/>
        </p:nvSpPr>
        <p:spPr>
          <a:xfrm>
            <a:off x="4411980" y="481888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DIM_TRADE_TYPE</a:t>
            </a:r>
            <a:endParaRPr lang="en-US" sz="950" dirty="0"/>
          </a:p>
        </p:txBody>
      </p:sp>
      <p:sp>
        <p:nvSpPr>
          <p:cNvPr id="21" name="Shape 18"/>
          <p:cNvSpPr/>
          <p:nvPr/>
        </p:nvSpPr>
        <p:spPr>
          <a:xfrm>
            <a:off x="2080260" y="523036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22" name="Text 19"/>
          <p:cNvSpPr/>
          <p:nvPr/>
        </p:nvSpPr>
        <p:spPr>
          <a:xfrm>
            <a:off x="2080260" y="523036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DIM_CHANNEL</a:t>
            </a:r>
            <a:endParaRPr lang="en-US" sz="950" dirty="0"/>
          </a:p>
        </p:txBody>
      </p:sp>
      <p:sp>
        <p:nvSpPr>
          <p:cNvPr id="23" name="Shape 20"/>
          <p:cNvSpPr/>
          <p:nvPr/>
        </p:nvSpPr>
        <p:spPr>
          <a:xfrm>
            <a:off x="-251460" y="4818888"/>
            <a:ext cx="1965960" cy="603504"/>
          </a:xfrm>
          <a:prstGeom prst="roundRect">
            <a:avLst>
              <a:gd name="adj" fmla="val 7576"/>
            </a:avLst>
          </a:prstGeom>
          <a:solidFill>
            <a:srgbClr val="12507B"/>
          </a:solidFill>
          <a:ln/>
          <a:effectLst>
            <a:outerShdw sx="100000" sy="100000" kx="0" ky="0" algn="bl" rotWithShape="0" blurRad="88900" dist="38100" dir="5400000">
              <a:srgbClr val="000000">
                <a:alpha val="16000"/>
              </a:srgbClr>
            </a:outerShdw>
          </a:effectLst>
        </p:spPr>
      </p:sp>
      <p:sp>
        <p:nvSpPr>
          <p:cNvPr id="24" name="Text 21"/>
          <p:cNvSpPr/>
          <p:nvPr/>
        </p:nvSpPr>
        <p:spPr>
          <a:xfrm>
            <a:off x="-251460" y="4818888"/>
            <a:ext cx="1965960"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DIM_VISION2030_KPI</a:t>
            </a:r>
            <a:endParaRPr lang="en-US" sz="950" dirty="0"/>
          </a:p>
        </p:txBody>
      </p:sp>
      <p:sp>
        <p:nvSpPr>
          <p:cNvPr id="25" name="Shape 22"/>
          <p:cNvSpPr/>
          <p:nvPr/>
        </p:nvSpPr>
        <p:spPr>
          <a:xfrm>
            <a:off x="1920240" y="3703320"/>
            <a:ext cx="2286000" cy="914400"/>
          </a:xfrm>
          <a:prstGeom prst="roundRect">
            <a:avLst>
              <a:gd name="adj" fmla="val 6000"/>
            </a:avLst>
          </a:prstGeom>
          <a:solidFill>
            <a:srgbClr val="C8A04A"/>
          </a:solidFill>
          <a:ln/>
          <a:effectLst>
            <a:outerShdw sx="100000" sy="100000" kx="0" ky="0" algn="bl" rotWithShape="0" blurRad="88900" dist="38100" dir="5400000">
              <a:srgbClr val="000000">
                <a:alpha val="16000"/>
              </a:srgbClr>
            </a:outerShdw>
          </a:effectLst>
        </p:spPr>
      </p:sp>
      <p:sp>
        <p:nvSpPr>
          <p:cNvPr id="26" name="Text 23"/>
          <p:cNvSpPr/>
          <p:nvPr/>
        </p:nvSpPr>
        <p:spPr>
          <a:xfrm>
            <a:off x="1920240" y="3703320"/>
            <a:ext cx="2286000" cy="914400"/>
          </a:xfrm>
          <a:prstGeom prst="rect">
            <a:avLst/>
          </a:prstGeom>
          <a:noFill/>
          <a:ln/>
        </p:spPr>
        <p:txBody>
          <a:bodyPr wrap="square" lIns="0" tIns="0" rIns="0" bIns="0" rtlCol="0" anchor="ctr"/>
          <a:lstStyle/>
          <a:p>
            <a:pPr algn="ctr" indent="0" marL="0">
              <a:lnSpc>
                <a:spcPts val="1300"/>
              </a:lnSpc>
              <a:buNone/>
            </a:pPr>
            <a:r>
              <a:rPr lang="en-US" sz="1150" b="1" dirty="0">
                <a:solidFill>
                  <a:srgbClr val="0A2540"/>
                </a:solidFill>
                <a:latin typeface="Cambria" pitchFamily="34" charset="0"/>
                <a:ea typeface="Cambria" pitchFamily="34" charset="-122"/>
                <a:cs typeface="Cambria" pitchFamily="34" charset="-120"/>
              </a:rPr>
              <a:t>FACT_TRADE_FLOW
</a:t>
            </a:r>
            <a:pPr algn="ctr" indent="0" marL="0">
              <a:lnSpc>
                <a:spcPts val="1300"/>
              </a:lnSpc>
              <a:buNone/>
            </a:pPr>
            <a:r>
              <a:rPr lang="en-US" sz="850" i="1" dirty="0">
                <a:solidFill>
                  <a:srgbClr val="0A2540"/>
                </a:solidFill>
                <a:latin typeface="Cambria" pitchFamily="34" charset="0"/>
                <a:ea typeface="Cambria" pitchFamily="34" charset="-122"/>
                <a:cs typeface="Cambria" pitchFamily="34" charset="-120"/>
              </a:rPr>
              <a:t>central transaction table</a:t>
            </a:r>
            <a:endParaRPr lang="en-US" sz="1150" dirty="0"/>
          </a:p>
        </p:txBody>
      </p:sp>
      <p:sp>
        <p:nvSpPr>
          <p:cNvPr id="27" name="Text 24"/>
          <p:cNvSpPr/>
          <p:nvPr/>
        </p:nvSpPr>
        <p:spPr>
          <a:xfrm>
            <a:off x="548640" y="5989320"/>
            <a:ext cx="5577840" cy="457200"/>
          </a:xfrm>
          <a:prstGeom prst="rect">
            <a:avLst/>
          </a:prstGeom>
          <a:noFill/>
          <a:ln/>
        </p:spPr>
        <p:txBody>
          <a:bodyPr wrap="square" lIns="0" tIns="0" rIns="0" bIns="0" rtlCol="0" anchor="ctr"/>
          <a:lstStyle/>
          <a:p>
            <a:pPr algn="ctr" indent="0" marL="0">
              <a:buNone/>
            </a:pPr>
            <a:r>
              <a:rPr lang="en-US" sz="950" i="1" dirty="0">
                <a:solidFill>
                  <a:srgbClr val="5C6875"/>
                </a:solidFill>
                <a:latin typeface="Calibri" pitchFamily="34" charset="0"/>
                <a:ea typeface="Calibri" pitchFamily="34" charset="-122"/>
                <a:cs typeface="Calibri" pitchFamily="34" charset="-120"/>
              </a:rPr>
              <a:t>Star schema  ·  1-to-many, single-direction filters  ·  DIM_DATE marked as the Date Table</a:t>
            </a:r>
            <a:endParaRPr lang="en-US" sz="950" dirty="0"/>
          </a:p>
        </p:txBody>
      </p:sp>
      <p:sp>
        <p:nvSpPr>
          <p:cNvPr id="28" name="Shape 25"/>
          <p:cNvSpPr/>
          <p:nvPr/>
        </p:nvSpPr>
        <p:spPr>
          <a:xfrm>
            <a:off x="6537960" y="2103120"/>
            <a:ext cx="5074920" cy="4343400"/>
          </a:xfrm>
          <a:prstGeom prst="roundRect">
            <a:avLst>
              <a:gd name="adj" fmla="val 1474"/>
            </a:avLst>
          </a:prstGeom>
          <a:solidFill>
            <a:srgbClr val="F4F7FA"/>
          </a:solidFill>
          <a:ln/>
          <a:effectLst>
            <a:outerShdw sx="100000" sy="100000" kx="0" ky="0" algn="bl" rotWithShape="0" blurRad="88900" dist="38100" dir="5400000">
              <a:srgbClr val="000000">
                <a:alpha val="16000"/>
              </a:srgbClr>
            </a:outerShdw>
          </a:effectLst>
        </p:spPr>
      </p:sp>
      <p:sp>
        <p:nvSpPr>
          <p:cNvPr id="29" name="Text 26"/>
          <p:cNvSpPr/>
          <p:nvPr/>
        </p:nvSpPr>
        <p:spPr>
          <a:xfrm>
            <a:off x="6812280" y="2286000"/>
            <a:ext cx="4572000" cy="320040"/>
          </a:xfrm>
          <a:prstGeom prst="rect">
            <a:avLst/>
          </a:prstGeom>
          <a:noFill/>
          <a:ln/>
        </p:spPr>
        <p:txBody>
          <a:bodyPr wrap="square" lIns="0" tIns="0" rIns="0" bIns="0" rtlCol="0" anchor="ctr"/>
          <a:lstStyle/>
          <a:p>
            <a:pPr indent="0" marL="0">
              <a:buNone/>
            </a:pPr>
            <a:r>
              <a:rPr lang="en-US" sz="1200" b="1" spc="200" kern="0" dirty="0">
                <a:solidFill>
                  <a:srgbClr val="C8A04A"/>
                </a:solidFill>
                <a:latin typeface="Calibri" pitchFamily="34" charset="0"/>
                <a:ea typeface="Calibri" pitchFamily="34" charset="-122"/>
                <a:cs typeface="Calibri" pitchFamily="34" charset="-120"/>
              </a:rPr>
              <a:t>MODEL INVENTORY</a:t>
            </a:r>
            <a:endParaRPr lang="en-US" sz="1200" dirty="0"/>
          </a:p>
        </p:txBody>
      </p:sp>
      <p:sp>
        <p:nvSpPr>
          <p:cNvPr id="30" name="Text 27"/>
          <p:cNvSpPr/>
          <p:nvPr/>
        </p:nvSpPr>
        <p:spPr>
          <a:xfrm>
            <a:off x="6812280" y="2606040"/>
            <a:ext cx="4572000" cy="292608"/>
          </a:xfrm>
          <a:prstGeom prst="rect">
            <a:avLst/>
          </a:prstGeom>
          <a:noFill/>
          <a:ln/>
        </p:spPr>
        <p:txBody>
          <a:bodyPr wrap="square" lIns="0" tIns="0" rIns="0" bIns="0" rtlCol="0" anchor="ctr"/>
          <a:lstStyle/>
          <a:p>
            <a:pPr indent="0" marL="0">
              <a:buNone/>
            </a:pPr>
            <a:r>
              <a:rPr lang="en-US" sz="1400" b="1" dirty="0">
                <a:solidFill>
                  <a:srgbClr val="0A2540"/>
                </a:solidFill>
                <a:latin typeface="Cambria" pitchFamily="34" charset="0"/>
                <a:ea typeface="Cambria" pitchFamily="34" charset="-122"/>
                <a:cs typeface="Cambria" pitchFamily="34" charset="-120"/>
              </a:rPr>
              <a:t>7  Fact tables</a:t>
            </a:r>
            <a:endParaRPr lang="en-US" sz="1400" dirty="0"/>
          </a:p>
        </p:txBody>
      </p:sp>
      <p:sp>
        <p:nvSpPr>
          <p:cNvPr id="31" name="Text 28"/>
          <p:cNvSpPr/>
          <p:nvPr/>
        </p:nvSpPr>
        <p:spPr>
          <a:xfrm>
            <a:off x="6830568" y="2926080"/>
            <a:ext cx="4617720" cy="777240"/>
          </a:xfrm>
          <a:prstGeom prst="rect">
            <a:avLst/>
          </a:prstGeom>
          <a:noFill/>
          <a:ln/>
        </p:spPr>
        <p:txBody>
          <a:bodyPr wrap="square" lIns="0" tIns="0" rIns="0" bIns="0" rtlCol="0" anchor="ctr"/>
          <a:lstStyle/>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TRADE_FLOW  ·  KPI_PROGRESS  ·  EXPORT_UNIT_PRICE</a:t>
            </a:r>
            <a:endParaRPr lang="en-US" sz="1000" dirty="0"/>
          </a:p>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IMPORT_UNIT_PRICE  ·  PRICE_GAP_SUMMARY</a:t>
            </a:r>
            <a:endParaRPr lang="en-US" sz="1000" dirty="0"/>
          </a:p>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PEER_BENCHMARK  ·  BILATERAL_FLOWS</a:t>
            </a:r>
            <a:endParaRPr lang="en-US" sz="1000" dirty="0"/>
          </a:p>
        </p:txBody>
      </p:sp>
      <p:sp>
        <p:nvSpPr>
          <p:cNvPr id="32" name="Text 29"/>
          <p:cNvSpPr/>
          <p:nvPr/>
        </p:nvSpPr>
        <p:spPr>
          <a:xfrm>
            <a:off x="6812280" y="3767328"/>
            <a:ext cx="4572000" cy="292608"/>
          </a:xfrm>
          <a:prstGeom prst="rect">
            <a:avLst/>
          </a:prstGeom>
          <a:noFill/>
          <a:ln/>
        </p:spPr>
        <p:txBody>
          <a:bodyPr wrap="square" lIns="0" tIns="0" rIns="0" bIns="0" rtlCol="0" anchor="ctr"/>
          <a:lstStyle/>
          <a:p>
            <a:pPr indent="0" marL="0">
              <a:buNone/>
            </a:pPr>
            <a:r>
              <a:rPr lang="en-US" sz="1400" b="1" dirty="0">
                <a:solidFill>
                  <a:srgbClr val="0A2540"/>
                </a:solidFill>
                <a:latin typeface="Cambria" pitchFamily="34" charset="0"/>
                <a:ea typeface="Cambria" pitchFamily="34" charset="-122"/>
                <a:cs typeface="Cambria" pitchFamily="34" charset="-120"/>
              </a:rPr>
              <a:t>7  Dimension tables</a:t>
            </a:r>
            <a:endParaRPr lang="en-US" sz="1400" dirty="0"/>
          </a:p>
        </p:txBody>
      </p:sp>
      <p:sp>
        <p:nvSpPr>
          <p:cNvPr id="33" name="Text 30"/>
          <p:cNvSpPr/>
          <p:nvPr/>
        </p:nvSpPr>
        <p:spPr>
          <a:xfrm>
            <a:off x="6830568" y="4087368"/>
            <a:ext cx="4617720" cy="548640"/>
          </a:xfrm>
          <a:prstGeom prst="rect">
            <a:avLst/>
          </a:prstGeom>
          <a:noFill/>
          <a:ln/>
        </p:spPr>
        <p:txBody>
          <a:bodyPr wrap="square" lIns="0" tIns="0" rIns="0" bIns="0" rtlCol="0" anchor="ctr"/>
          <a:lstStyle/>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DATE  ·  COUNTRY  ·  PRODUCT  ·  TRADE_TYPE</a:t>
            </a:r>
            <a:endParaRPr lang="en-US" sz="1000" dirty="0"/>
          </a:p>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CHANNEL  ·  VISION2030_KPI  ·  INDICATORS_META</a:t>
            </a:r>
            <a:endParaRPr lang="en-US" sz="1000" dirty="0"/>
          </a:p>
        </p:txBody>
      </p:sp>
      <p:sp>
        <p:nvSpPr>
          <p:cNvPr id="34" name="Text 31"/>
          <p:cNvSpPr/>
          <p:nvPr/>
        </p:nvSpPr>
        <p:spPr>
          <a:xfrm>
            <a:off x="6812280" y="4754880"/>
            <a:ext cx="4572000" cy="292608"/>
          </a:xfrm>
          <a:prstGeom prst="rect">
            <a:avLst/>
          </a:prstGeom>
          <a:noFill/>
          <a:ln/>
        </p:spPr>
        <p:txBody>
          <a:bodyPr wrap="square" lIns="0" tIns="0" rIns="0" bIns="0" rtlCol="0" anchor="ctr"/>
          <a:lstStyle/>
          <a:p>
            <a:pPr indent="0" marL="0">
              <a:buNone/>
            </a:pPr>
            <a:r>
              <a:rPr lang="en-US" sz="1400" b="1" dirty="0">
                <a:solidFill>
                  <a:srgbClr val="0A2540"/>
                </a:solidFill>
                <a:latin typeface="Cambria" pitchFamily="34" charset="0"/>
                <a:ea typeface="Cambria" pitchFamily="34" charset="-122"/>
                <a:cs typeface="Cambria" pitchFamily="34" charset="-120"/>
              </a:rPr>
              <a:t>Support tables</a:t>
            </a:r>
            <a:endParaRPr lang="en-US" sz="1400" dirty="0"/>
          </a:p>
        </p:txBody>
      </p:sp>
      <p:sp>
        <p:nvSpPr>
          <p:cNvPr id="35" name="Text 32"/>
          <p:cNvSpPr/>
          <p:nvPr/>
        </p:nvSpPr>
        <p:spPr>
          <a:xfrm>
            <a:off x="6830568" y="5056632"/>
            <a:ext cx="4617720" cy="548640"/>
          </a:xfrm>
          <a:prstGeom prst="rect">
            <a:avLst/>
          </a:prstGeom>
          <a:noFill/>
          <a:ln/>
        </p:spPr>
        <p:txBody>
          <a:bodyPr wrap="square" lIns="0" tIns="0" rIns="0" bIns="0" rtlCol="0" anchor="ctr"/>
          <a:lstStyle/>
          <a:p>
            <a:pPr indent="0" marL="0">
              <a:lnSpc>
                <a:spcPts val="1400"/>
              </a:lnSpc>
              <a:buNone/>
            </a:pPr>
            <a:r>
              <a:rPr lang="en-US" sz="1000" dirty="0">
                <a:solidFill>
                  <a:srgbClr val="1C2530"/>
                </a:solidFill>
                <a:latin typeface="Calibri" pitchFamily="34" charset="0"/>
                <a:ea typeface="Calibri" pitchFamily="34" charset="-122"/>
                <a:cs typeface="Calibri" pitchFamily="34" charset="-120"/>
              </a:rPr>
              <a:t>KPI_BENCHMARKS · JOURNEY_COMPARISON · WHATIF_SCENARIOS · REGIONAL_FLOWS · TRADE_ROUTES</a:t>
            </a:r>
            <a:endParaRPr lang="en-US" sz="1000" dirty="0"/>
          </a:p>
        </p:txBody>
      </p:sp>
      <p:sp>
        <p:nvSpPr>
          <p:cNvPr id="36" name="Shape 33"/>
          <p:cNvSpPr/>
          <p:nvPr/>
        </p:nvSpPr>
        <p:spPr>
          <a:xfrm>
            <a:off x="6812280" y="5669280"/>
            <a:ext cx="4526280" cy="0"/>
          </a:xfrm>
          <a:prstGeom prst="line">
            <a:avLst/>
          </a:prstGeom>
          <a:noFill/>
          <a:ln w="12700">
            <a:solidFill>
              <a:srgbClr val="D5DDE5"/>
            </a:solidFill>
            <a:prstDash val="solid"/>
          </a:ln>
        </p:spPr>
      </p:sp>
      <p:sp>
        <p:nvSpPr>
          <p:cNvPr id="37" name="Text 34"/>
          <p:cNvSpPr/>
          <p:nvPr/>
        </p:nvSpPr>
        <p:spPr>
          <a:xfrm>
            <a:off x="6812280" y="5779008"/>
            <a:ext cx="4572000" cy="640080"/>
          </a:xfrm>
          <a:prstGeom prst="rect">
            <a:avLst/>
          </a:prstGeom>
          <a:noFill/>
          <a:ln/>
        </p:spPr>
        <p:txBody>
          <a:bodyPr wrap="square" lIns="0" tIns="0" rIns="0" bIns="0" rtlCol="0" anchor="ctr"/>
          <a:lstStyle/>
          <a:p>
            <a:pPr indent="0" marL="0">
              <a:lnSpc>
                <a:spcPts val="1250"/>
              </a:lnSpc>
              <a:buNone/>
            </a:pPr>
            <a:r>
              <a:rPr lang="en-US" sz="980" b="1" dirty="0">
                <a:solidFill>
                  <a:srgbClr val="12507B"/>
                </a:solidFill>
                <a:latin typeface="Calibri" pitchFamily="34" charset="0"/>
                <a:ea typeface="Calibri" pitchFamily="34" charset="-122"/>
                <a:cs typeface="Calibri" pitchFamily="34" charset="-120"/>
              </a:rPr>
              <a:t>How it connects:  </a:t>
            </a:r>
            <a:pPr indent="0" marL="0">
              <a:lnSpc>
                <a:spcPts val="1250"/>
              </a:lnSpc>
              <a:buNone/>
            </a:pPr>
            <a:r>
              <a:rPr lang="en-US" sz="980" dirty="0">
                <a:solidFill>
                  <a:srgbClr val="5C6875"/>
                </a:solidFill>
                <a:latin typeface="Calibri" pitchFamily="34" charset="0"/>
                <a:ea typeface="Calibri" pitchFamily="34" charset="-122"/>
                <a:cs typeface="Calibri" pitchFamily="34" charset="-120"/>
              </a:rPr>
              <a:t>each dimension filters the central fact one-way; the analytical facts (prices, benchmarks) join through shared PRODUCT / COUNTRY / KPI keys — so one filter flows coherently across the whole model.</a:t>
            </a:r>
            <a:endParaRPr lang="en-US" sz="9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4" name="Text 1"/>
          <p:cNvSpPr/>
          <p:nvPr/>
        </p:nvSpPr>
        <p:spPr>
          <a:xfrm>
            <a:off x="1325880" y="457200"/>
            <a:ext cx="9144000" cy="274320"/>
          </a:xfrm>
          <a:prstGeom prst="rect">
            <a:avLst/>
          </a:prstGeom>
          <a:noFill/>
          <a:ln/>
        </p:spPr>
        <p:txBody>
          <a:bodyPr wrap="square" lIns="0" tIns="0" rIns="0" bIns="0" rtlCol="0" anchor="ctr"/>
          <a:lstStyle/>
          <a:p>
            <a:pPr algn="l" indent="0" marL="0">
              <a:buNone/>
            </a:pPr>
            <a:r>
              <a:rPr lang="en-US" sz="1200" b="1" spc="300" kern="0" dirty="0">
                <a:solidFill>
                  <a:srgbClr val="C8A04A"/>
                </a:solidFill>
                <a:latin typeface="Calibri" pitchFamily="34" charset="0"/>
                <a:ea typeface="Calibri" pitchFamily="34" charset="-122"/>
                <a:cs typeface="Calibri" pitchFamily="34" charset="-120"/>
              </a:rPr>
              <a:t>STEP 03  ·  THE ANALYTICAL ENGINE</a:t>
            </a:r>
            <a:endParaRPr lang="en-US" sz="1200" dirty="0"/>
          </a:p>
        </p:txBody>
      </p:sp>
      <p:sp>
        <p:nvSpPr>
          <p:cNvPr id="5" name="Text 2"/>
          <p:cNvSpPr/>
          <p:nvPr/>
        </p:nvSpPr>
        <p:spPr>
          <a:xfrm>
            <a:off x="1325880" y="713232"/>
            <a:ext cx="10241280" cy="640080"/>
          </a:xfrm>
          <a:prstGeom prst="rect">
            <a:avLst/>
          </a:prstGeom>
          <a:noFill/>
          <a:ln/>
        </p:spPr>
        <p:txBody>
          <a:bodyPr wrap="square" lIns="0" tIns="0" rIns="0" bIns="0" rtlCol="0" anchor="ctr"/>
          <a:lstStyle/>
          <a:p>
            <a:pPr algn="l" indent="0" marL="0">
              <a:buNone/>
            </a:pPr>
            <a:r>
              <a:rPr lang="en-US" sz="3000" b="1" dirty="0">
                <a:solidFill>
                  <a:srgbClr val="0A2540"/>
                </a:solidFill>
                <a:latin typeface="Cambria" pitchFamily="34" charset="0"/>
                <a:ea typeface="Cambria" pitchFamily="34" charset="-122"/>
                <a:cs typeface="Cambria" pitchFamily="34" charset="-120"/>
              </a:rPr>
              <a:t>DAX — Where the Model Answers Questions</a:t>
            </a:r>
            <a:endParaRPr lang="en-US" sz="3000" dirty="0"/>
          </a:p>
        </p:txBody>
      </p:sp>
      <p:sp>
        <p:nvSpPr>
          <p:cNvPr id="6" name="Text 3"/>
          <p:cNvSpPr/>
          <p:nvPr/>
        </p:nvSpPr>
        <p:spPr>
          <a:xfrm>
            <a:off x="548640" y="1481328"/>
            <a:ext cx="11064240" cy="457200"/>
          </a:xfrm>
          <a:prstGeom prst="rect">
            <a:avLst/>
          </a:prstGeom>
          <a:noFill/>
          <a:ln/>
        </p:spPr>
        <p:txBody>
          <a:bodyPr wrap="square" lIns="0" tIns="0" rIns="0" bIns="0" rtlCol="0" anchor="ctr"/>
          <a:lstStyle/>
          <a:p>
            <a:pPr indent="0" marL="0">
              <a:buNone/>
            </a:pPr>
            <a:r>
              <a:rPr lang="en-US" sz="1350" dirty="0">
                <a:solidFill>
                  <a:srgbClr val="5C6875"/>
                </a:solidFill>
                <a:latin typeface="Calibri" pitchFamily="34" charset="0"/>
                <a:ea typeface="Calibri" pitchFamily="34" charset="-122"/>
                <a:cs typeface="Calibri" pitchFamily="34" charset="-120"/>
              </a:rPr>
              <a:t>40+ DAX measures turn static tables into answers. Two of the most important below — one structural, one advanced — each tied to a real business question.</a:t>
            </a:r>
            <a:endParaRPr lang="en-US" sz="1350" dirty="0"/>
          </a:p>
        </p:txBody>
      </p:sp>
      <p:sp>
        <p:nvSpPr>
          <p:cNvPr id="7" name="Shape 4"/>
          <p:cNvSpPr/>
          <p:nvPr/>
        </p:nvSpPr>
        <p:spPr>
          <a:xfrm>
            <a:off x="548640" y="2057400"/>
            <a:ext cx="5541264" cy="4160520"/>
          </a:xfrm>
          <a:prstGeom prst="roundRect">
            <a:avLst>
              <a:gd name="adj" fmla="val 1319"/>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8" name="Text 5"/>
          <p:cNvSpPr/>
          <p:nvPr/>
        </p:nvSpPr>
        <p:spPr>
          <a:xfrm>
            <a:off x="822960" y="2258568"/>
            <a:ext cx="4992624" cy="274320"/>
          </a:xfrm>
          <a:prstGeom prst="rect">
            <a:avLst/>
          </a:prstGeom>
          <a:noFill/>
          <a:ln/>
        </p:spPr>
        <p:txBody>
          <a:bodyPr wrap="square" lIns="0" tIns="0" rIns="0" bIns="0" rtlCol="0" anchor="ctr"/>
          <a:lstStyle/>
          <a:p>
            <a:pPr indent="0" marL="0">
              <a:buNone/>
            </a:pPr>
            <a:r>
              <a:rPr lang="en-US" sz="1100" b="1" spc="200" kern="0" dirty="0">
                <a:solidFill>
                  <a:srgbClr val="C8A04A"/>
                </a:solidFill>
                <a:latin typeface="Calibri" pitchFamily="34" charset="0"/>
                <a:ea typeface="Calibri" pitchFamily="34" charset="-122"/>
                <a:cs typeface="Calibri" pitchFamily="34" charset="-120"/>
              </a:rPr>
              <a:t>MEASURE 01  ·  STRUCTURAL</a:t>
            </a:r>
            <a:endParaRPr lang="en-US" sz="1100" dirty="0"/>
          </a:p>
        </p:txBody>
      </p:sp>
      <p:sp>
        <p:nvSpPr>
          <p:cNvPr id="9" name="Text 6"/>
          <p:cNvSpPr/>
          <p:nvPr/>
        </p:nvSpPr>
        <p:spPr>
          <a:xfrm>
            <a:off x="822960" y="2514600"/>
            <a:ext cx="4992624" cy="365760"/>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Non-Oil Export Share %</a:t>
            </a:r>
            <a:endParaRPr lang="en-US" sz="1700" dirty="0"/>
          </a:p>
        </p:txBody>
      </p:sp>
      <p:sp>
        <p:nvSpPr>
          <p:cNvPr id="10" name="Text 7"/>
          <p:cNvSpPr/>
          <p:nvPr/>
        </p:nvSpPr>
        <p:spPr>
          <a:xfrm>
            <a:off x="822960" y="2898648"/>
            <a:ext cx="4992624" cy="502920"/>
          </a:xfrm>
          <a:prstGeom prst="rect">
            <a:avLst/>
          </a:prstGeom>
          <a:noFill/>
          <a:ln/>
        </p:spPr>
        <p:txBody>
          <a:bodyPr wrap="square" lIns="0" tIns="0" rIns="0" bIns="0" rtlCol="0" anchor="ctr"/>
          <a:lstStyle/>
          <a:p>
            <a:pPr indent="0" marL="0">
              <a:lnSpc>
                <a:spcPts val="1500"/>
              </a:lnSpc>
              <a:buNone/>
            </a:pPr>
            <a:r>
              <a:rPr lang="en-US" sz="1150" b="1" dirty="0">
                <a:solidFill>
                  <a:srgbClr val="12507B"/>
                </a:solidFill>
                <a:latin typeface="Calibri" pitchFamily="34" charset="0"/>
                <a:ea typeface="Calibri" pitchFamily="34" charset="-122"/>
                <a:cs typeface="Calibri" pitchFamily="34" charset="-120"/>
              </a:rPr>
              <a:t>Answers:  </a:t>
            </a:r>
            <a:pPr indent="0" marL="0">
              <a:lnSpc>
                <a:spcPts val="1500"/>
              </a:lnSpc>
              <a:buNone/>
            </a:pPr>
            <a:r>
              <a:rPr lang="en-US" sz="1150" i="1" dirty="0">
                <a:solidFill>
                  <a:srgbClr val="1C2530"/>
                </a:solidFill>
                <a:latin typeface="Calibri" pitchFamily="34" charset="0"/>
                <a:ea typeface="Calibri" pitchFamily="34" charset="-122"/>
                <a:cs typeface="Calibri" pitchFamily="34" charset="-120"/>
              </a:rPr>
              <a:t>Is Egypt reducing its dependence on oil? — the single most important Vision 2030 diversification KPI.</a:t>
            </a:r>
            <a:endParaRPr lang="en-US" sz="1150" dirty="0"/>
          </a:p>
        </p:txBody>
      </p:sp>
      <p:sp>
        <p:nvSpPr>
          <p:cNvPr id="11" name="Shape 8"/>
          <p:cNvSpPr/>
          <p:nvPr/>
        </p:nvSpPr>
        <p:spPr>
          <a:xfrm>
            <a:off x="822960" y="3474720"/>
            <a:ext cx="4992624" cy="2514600"/>
          </a:xfrm>
          <a:prstGeom prst="roundRect">
            <a:avLst>
              <a:gd name="adj" fmla="val 1818"/>
            </a:avLst>
          </a:prstGeom>
          <a:solidFill>
            <a:srgbClr val="0F1B28"/>
          </a:solidFill>
          <a:ln/>
        </p:spPr>
      </p:sp>
      <p:sp>
        <p:nvSpPr>
          <p:cNvPr id="12" name="Text 9"/>
          <p:cNvSpPr/>
          <p:nvPr/>
        </p:nvSpPr>
        <p:spPr>
          <a:xfrm>
            <a:off x="960120" y="3593592"/>
            <a:ext cx="4718304" cy="2286000"/>
          </a:xfrm>
          <a:prstGeom prst="rect">
            <a:avLst/>
          </a:prstGeom>
          <a:noFill/>
          <a:ln/>
        </p:spPr>
        <p:txBody>
          <a:bodyPr wrap="square" lIns="0" tIns="0" rIns="0" bIns="0" rtlCol="0" anchor="t"/>
          <a:lstStyle/>
          <a:p>
            <a:pPr indent="0" marL="0">
              <a:lnSpc>
                <a:spcPts val="1400"/>
              </a:lnSpc>
              <a:buNone/>
            </a:pPr>
            <a:r>
              <a:rPr lang="en-US" sz="1000" b="1" dirty="0">
                <a:solidFill>
                  <a:srgbClr val="E9CD82"/>
                </a:solidFill>
                <a:latin typeface="Courier New" pitchFamily="34" charset="0"/>
                <a:ea typeface="Courier New" pitchFamily="34" charset="-122"/>
                <a:cs typeface="Courier New" pitchFamily="34" charset="-120"/>
              </a:rPr>
              <a:t>Non-Oil Export Share % =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DIVIDE(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CALCULATE(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SUM(FACT_TRADE_FLOW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[trade_value_usd_million]),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DIM_TRADE_TYPE[direction]="Export",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DIM_PRODUCT[is_petroleum]="No"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[Total Exports USD M], 0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 100</a:t>
            </a:r>
            <a:endParaRPr lang="en-US" sz="1000" dirty="0"/>
          </a:p>
        </p:txBody>
      </p:sp>
      <p:sp>
        <p:nvSpPr>
          <p:cNvPr id="13" name="Shape 10"/>
          <p:cNvSpPr/>
          <p:nvPr/>
        </p:nvSpPr>
        <p:spPr>
          <a:xfrm>
            <a:off x="6272784" y="2057400"/>
            <a:ext cx="5541264" cy="4160520"/>
          </a:xfrm>
          <a:prstGeom prst="roundRect">
            <a:avLst>
              <a:gd name="adj" fmla="val 1319"/>
            </a:avLst>
          </a:prstGeom>
          <a:solidFill>
            <a:srgbClr val="FFFFFF"/>
          </a:solidFill>
          <a:ln w="12700">
            <a:solidFill>
              <a:srgbClr val="DCE3EA"/>
            </a:solidFill>
            <a:prstDash val="solid"/>
          </a:ln>
          <a:effectLst>
            <a:outerShdw sx="100000" sy="100000" kx="0" ky="0" algn="bl" rotWithShape="0" blurRad="88900" dist="38100" dir="5400000">
              <a:srgbClr val="000000">
                <a:alpha val="16000"/>
              </a:srgbClr>
            </a:outerShdw>
          </a:effectLst>
        </p:spPr>
      </p:sp>
      <p:sp>
        <p:nvSpPr>
          <p:cNvPr id="14" name="Text 11"/>
          <p:cNvSpPr/>
          <p:nvPr/>
        </p:nvSpPr>
        <p:spPr>
          <a:xfrm>
            <a:off x="6547104" y="2258568"/>
            <a:ext cx="4992624" cy="274320"/>
          </a:xfrm>
          <a:prstGeom prst="rect">
            <a:avLst/>
          </a:prstGeom>
          <a:noFill/>
          <a:ln/>
        </p:spPr>
        <p:txBody>
          <a:bodyPr wrap="square" lIns="0" tIns="0" rIns="0" bIns="0" rtlCol="0" anchor="ctr"/>
          <a:lstStyle/>
          <a:p>
            <a:pPr indent="0" marL="0">
              <a:buNone/>
            </a:pPr>
            <a:r>
              <a:rPr lang="en-US" sz="1100" b="1" spc="200" kern="0" dirty="0">
                <a:solidFill>
                  <a:srgbClr val="C8A04A"/>
                </a:solidFill>
                <a:latin typeface="Calibri" pitchFamily="34" charset="0"/>
                <a:ea typeface="Calibri" pitchFamily="34" charset="-122"/>
                <a:cs typeface="Calibri" pitchFamily="34" charset="-120"/>
              </a:rPr>
              <a:t>MEASURE 02  ·  ADVANCED</a:t>
            </a:r>
            <a:endParaRPr lang="en-US" sz="1100" dirty="0"/>
          </a:p>
        </p:txBody>
      </p:sp>
      <p:sp>
        <p:nvSpPr>
          <p:cNvPr id="15" name="Text 12"/>
          <p:cNvSpPr/>
          <p:nvPr/>
        </p:nvSpPr>
        <p:spPr>
          <a:xfrm>
            <a:off x="6547104" y="2514600"/>
            <a:ext cx="4992624" cy="365760"/>
          </a:xfrm>
          <a:prstGeom prst="rect">
            <a:avLst/>
          </a:prstGeom>
          <a:noFill/>
          <a:ln/>
        </p:spPr>
        <p:txBody>
          <a:bodyPr wrap="square" lIns="0" tIns="0" rIns="0" bIns="0" rtlCol="0" anchor="ctr"/>
          <a:lstStyle/>
          <a:p>
            <a:pPr indent="0" marL="0">
              <a:buNone/>
            </a:pPr>
            <a:r>
              <a:rPr lang="en-US" sz="1700" b="1" dirty="0">
                <a:solidFill>
                  <a:srgbClr val="0A2540"/>
                </a:solidFill>
                <a:latin typeface="Cambria" pitchFamily="34" charset="0"/>
                <a:ea typeface="Cambria" pitchFamily="34" charset="-122"/>
                <a:cs typeface="Cambria" pitchFamily="34" charset="-120"/>
              </a:rPr>
              <a:t>Geographic HHI</a:t>
            </a:r>
            <a:endParaRPr lang="en-US" sz="1700" dirty="0"/>
          </a:p>
        </p:txBody>
      </p:sp>
      <p:sp>
        <p:nvSpPr>
          <p:cNvPr id="16" name="Text 13"/>
          <p:cNvSpPr/>
          <p:nvPr/>
        </p:nvSpPr>
        <p:spPr>
          <a:xfrm>
            <a:off x="6547104" y="2898648"/>
            <a:ext cx="4992624" cy="502920"/>
          </a:xfrm>
          <a:prstGeom prst="rect">
            <a:avLst/>
          </a:prstGeom>
          <a:noFill/>
          <a:ln/>
        </p:spPr>
        <p:txBody>
          <a:bodyPr wrap="square" lIns="0" tIns="0" rIns="0" bIns="0" rtlCol="0" anchor="ctr"/>
          <a:lstStyle/>
          <a:p>
            <a:pPr indent="0" marL="0">
              <a:lnSpc>
                <a:spcPts val="1500"/>
              </a:lnSpc>
              <a:buNone/>
            </a:pPr>
            <a:r>
              <a:rPr lang="en-US" sz="1150" b="1" dirty="0">
                <a:solidFill>
                  <a:srgbClr val="12507B"/>
                </a:solidFill>
                <a:latin typeface="Calibri" pitchFamily="34" charset="0"/>
                <a:ea typeface="Calibri" pitchFamily="34" charset="-122"/>
                <a:cs typeface="Calibri" pitchFamily="34" charset="-120"/>
              </a:rPr>
              <a:t>Answers:  </a:t>
            </a:r>
            <a:pPr indent="0" marL="0">
              <a:lnSpc>
                <a:spcPts val="1500"/>
              </a:lnSpc>
              <a:buNone/>
            </a:pPr>
            <a:r>
              <a:rPr lang="en-US" sz="1150" i="1" dirty="0">
                <a:solidFill>
                  <a:srgbClr val="1C2530"/>
                </a:solidFill>
                <a:latin typeface="Calibri" pitchFamily="34" charset="0"/>
                <a:ea typeface="Calibri" pitchFamily="34" charset="-122"/>
                <a:cs typeface="Calibri" pitchFamily="34" charset="-120"/>
              </a:rPr>
              <a:t>How concentrated — or diversified — is Egypt's export map? Implements the Herfindahl-Hirschman index directly in DAX.</a:t>
            </a:r>
            <a:endParaRPr lang="en-US" sz="1150" dirty="0"/>
          </a:p>
        </p:txBody>
      </p:sp>
      <p:sp>
        <p:nvSpPr>
          <p:cNvPr id="17" name="Shape 14"/>
          <p:cNvSpPr/>
          <p:nvPr/>
        </p:nvSpPr>
        <p:spPr>
          <a:xfrm>
            <a:off x="6547104" y="3474720"/>
            <a:ext cx="4992624" cy="2514600"/>
          </a:xfrm>
          <a:prstGeom prst="roundRect">
            <a:avLst>
              <a:gd name="adj" fmla="val 1818"/>
            </a:avLst>
          </a:prstGeom>
          <a:solidFill>
            <a:srgbClr val="0F1B28"/>
          </a:solidFill>
          <a:ln/>
        </p:spPr>
      </p:sp>
      <p:sp>
        <p:nvSpPr>
          <p:cNvPr id="18" name="Text 15"/>
          <p:cNvSpPr/>
          <p:nvPr/>
        </p:nvSpPr>
        <p:spPr>
          <a:xfrm>
            <a:off x="6684264" y="3593592"/>
            <a:ext cx="4718304" cy="2286000"/>
          </a:xfrm>
          <a:prstGeom prst="rect">
            <a:avLst/>
          </a:prstGeom>
          <a:noFill/>
          <a:ln/>
        </p:spPr>
        <p:txBody>
          <a:bodyPr wrap="square" lIns="0" tIns="0" rIns="0" bIns="0" rtlCol="0" anchor="t"/>
          <a:lstStyle/>
          <a:p>
            <a:pPr indent="0" marL="0">
              <a:lnSpc>
                <a:spcPts val="1400"/>
              </a:lnSpc>
              <a:buNone/>
            </a:pPr>
            <a:r>
              <a:rPr lang="en-US" sz="1000" b="1" dirty="0">
                <a:solidFill>
                  <a:srgbClr val="E9CD82"/>
                </a:solidFill>
                <a:latin typeface="Courier New" pitchFamily="34" charset="0"/>
                <a:ea typeface="Courier New" pitchFamily="34" charset="-122"/>
                <a:cs typeface="Courier New" pitchFamily="34" charset="-120"/>
              </a:rPr>
              <a:t>Geographic HHI =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VAR TotalExp =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SUMX(SUMMARIZE(FACT_BILATERAL_FLOWS,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[partner_country_en],"E",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SUM([export_usd_m])),[E])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RETURN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SUMX(SUMMARIZE(FACT_BILATERAL_FLOWS,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[partner_country_en],"E",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SUM([export_usd_m])),
</a:t>
            </a:r>
            <a:endParaRPr lang="en-US" sz="1000" dirty="0"/>
          </a:p>
          <a:p>
            <a:pPr indent="0" marL="0">
              <a:lnSpc>
                <a:spcPts val="1400"/>
              </a:lnSpc>
              <a:buNone/>
            </a:pPr>
            <a:r>
              <a:rPr lang="en-US" sz="1000" dirty="0">
                <a:solidFill>
                  <a:srgbClr val="D6E4F0"/>
                </a:solidFill>
                <a:latin typeface="Courier New" pitchFamily="34" charset="0"/>
                <a:ea typeface="Courier New" pitchFamily="34" charset="-122"/>
                <a:cs typeface="Courier New" pitchFamily="34" charset="-120"/>
              </a:rPr>
              <a:t>    POWER(DIVIDE([E],TotalExp,0),2))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4" name="Text 1"/>
          <p:cNvSpPr/>
          <p:nvPr/>
        </p:nvSpPr>
        <p:spPr>
          <a:xfrm>
            <a:off x="1325880" y="457200"/>
            <a:ext cx="9144000" cy="274320"/>
          </a:xfrm>
          <a:prstGeom prst="rect">
            <a:avLst/>
          </a:prstGeom>
          <a:noFill/>
          <a:ln/>
        </p:spPr>
        <p:txBody>
          <a:bodyPr wrap="square" lIns="0" tIns="0" rIns="0" bIns="0" rtlCol="0" anchor="ctr"/>
          <a:lstStyle/>
          <a:p>
            <a:pPr algn="l" indent="0" marL="0">
              <a:buNone/>
            </a:pPr>
            <a:r>
              <a:rPr lang="en-US" sz="1200" b="1" spc="300" kern="0" dirty="0">
                <a:solidFill>
                  <a:srgbClr val="C8A04A"/>
                </a:solidFill>
                <a:latin typeface="Calibri" pitchFamily="34" charset="0"/>
                <a:ea typeface="Calibri" pitchFamily="34" charset="-122"/>
                <a:cs typeface="Calibri" pitchFamily="34" charset="-120"/>
              </a:rPr>
              <a:t>STEP 04  ·  THE DIAGNOSIS</a:t>
            </a:r>
            <a:endParaRPr lang="en-US" sz="1200" dirty="0"/>
          </a:p>
        </p:txBody>
      </p:sp>
      <p:sp>
        <p:nvSpPr>
          <p:cNvPr id="5" name="Text 2"/>
          <p:cNvSpPr/>
          <p:nvPr/>
        </p:nvSpPr>
        <p:spPr>
          <a:xfrm>
            <a:off x="1325880" y="713232"/>
            <a:ext cx="10241280" cy="640080"/>
          </a:xfrm>
          <a:prstGeom prst="rect">
            <a:avLst/>
          </a:prstGeom>
          <a:noFill/>
          <a:ln/>
        </p:spPr>
        <p:txBody>
          <a:bodyPr wrap="square" lIns="0" tIns="0" rIns="0" bIns="0" rtlCol="0" anchor="ctr"/>
          <a:lstStyle/>
          <a:p>
            <a:pPr algn="l" indent="0" marL="0">
              <a:buNone/>
            </a:pPr>
            <a:r>
              <a:rPr lang="en-US" sz="3000" b="1" dirty="0">
                <a:solidFill>
                  <a:srgbClr val="0A2540"/>
                </a:solidFill>
                <a:latin typeface="Cambria" pitchFamily="34" charset="0"/>
                <a:ea typeface="Cambria" pitchFamily="34" charset="-122"/>
                <a:cs typeface="Cambria" pitchFamily="34" charset="-120"/>
              </a:rPr>
              <a:t>Eight Pages, One Story</a:t>
            </a:r>
            <a:endParaRPr lang="en-US" sz="3000" dirty="0"/>
          </a:p>
        </p:txBody>
      </p:sp>
      <p:sp>
        <p:nvSpPr>
          <p:cNvPr id="6" name="Text 3"/>
          <p:cNvSpPr/>
          <p:nvPr/>
        </p:nvSpPr>
        <p:spPr>
          <a:xfrm>
            <a:off x="548640" y="1463040"/>
            <a:ext cx="5486400" cy="320040"/>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The wake-up call: Egypt vs its peers (exports, $B)</a:t>
            </a:r>
            <a:endParaRPr lang="en-US" sz="1300" dirty="0"/>
          </a:p>
        </p:txBody>
      </p:sp>
      <p:graphicFrame>
        <p:nvGraphicFramePr>
          <p:cNvPr id="7" name="Chart 0" descr=""/>
          <p:cNvGraphicFramePr/>
          <p:nvPr/>
        </p:nvGraphicFramePr>
        <p:xfrm>
          <a:off x="457200" y="1783080"/>
          <a:ext cx="5532120" cy="21488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3950208"/>
            <a:ext cx="5486400" cy="502920"/>
          </a:xfrm>
          <a:prstGeom prst="rect">
            <a:avLst/>
          </a:prstGeom>
          <a:noFill/>
          <a:ln/>
        </p:spPr>
        <p:txBody>
          <a:bodyPr wrap="square" lIns="0" tIns="0" rIns="0" bIns="0" rtlCol="0" anchor="ctr"/>
          <a:lstStyle/>
          <a:p>
            <a:pPr indent="0" marL="0">
              <a:lnSpc>
                <a:spcPts val="1400"/>
              </a:lnSpc>
              <a:buNone/>
            </a:pPr>
            <a:r>
              <a:rPr lang="en-US" sz="1100" i="1" dirty="0">
                <a:solidFill>
                  <a:srgbClr val="B23B3B"/>
                </a:solidFill>
                <a:latin typeface="Calibri" pitchFamily="34" charset="0"/>
                <a:ea typeface="Calibri" pitchFamily="34" charset="-122"/>
                <a:cs typeface="Calibri" pitchFamily="34" charset="-120"/>
              </a:rPr>
              <a:t>Vietnam — poorer than Egypt in 2000 — now exports ~12× more. The gap is policy, not destiny.</a:t>
            </a:r>
            <a:endParaRPr lang="en-US" sz="1100" dirty="0"/>
          </a:p>
        </p:txBody>
      </p:sp>
      <p:sp>
        <p:nvSpPr>
          <p:cNvPr id="9" name="Shape 5"/>
          <p:cNvSpPr/>
          <p:nvPr/>
        </p:nvSpPr>
        <p:spPr>
          <a:xfrm>
            <a:off x="6263640" y="1481328"/>
            <a:ext cx="5532120" cy="1133856"/>
          </a:xfrm>
          <a:prstGeom prst="roundRect">
            <a:avLst>
              <a:gd name="adj" fmla="val 4839"/>
            </a:avLst>
          </a:prstGeom>
          <a:solidFill>
            <a:srgbClr val="F4F7FA"/>
          </a:solidFill>
          <a:ln/>
          <a:effectLst>
            <a:outerShdw sx="100000" sy="100000" kx="0" ky="0" algn="bl" rotWithShape="0" blurRad="88900" dist="38100" dir="5400000">
              <a:srgbClr val="000000">
                <a:alpha val="16000"/>
              </a:srgbClr>
            </a:outerShdw>
          </a:effectLst>
        </p:spPr>
      </p:sp>
      <p:sp>
        <p:nvSpPr>
          <p:cNvPr id="10" name="Shape 6"/>
          <p:cNvSpPr/>
          <p:nvPr/>
        </p:nvSpPr>
        <p:spPr>
          <a:xfrm>
            <a:off x="6464808" y="1664208"/>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1" name="Image 1" descr="preencoded.png">    </p:cNvPr>
          <p:cNvPicPr>
            <a:picLocks noChangeAspect="1"/>
          </p:cNvPicPr>
          <p:nvPr/>
        </p:nvPicPr>
        <p:blipFill>
          <a:blip r:embed="rId3"/>
          <a:stretch>
            <a:fillRect/>
          </a:stretch>
        </p:blipFill>
        <p:spPr>
          <a:xfrm>
            <a:off x="6574536" y="1773936"/>
            <a:ext cx="237744" cy="237744"/>
          </a:xfrm>
          <a:prstGeom prst="rect">
            <a:avLst/>
          </a:prstGeom>
        </p:spPr>
      </p:pic>
      <p:sp>
        <p:nvSpPr>
          <p:cNvPr id="12" name="Text 7"/>
          <p:cNvSpPr/>
          <p:nvPr/>
        </p:nvSpPr>
        <p:spPr>
          <a:xfrm>
            <a:off x="7040880" y="1627632"/>
            <a:ext cx="4617720" cy="292608"/>
          </a:xfrm>
          <a:prstGeom prst="rect">
            <a:avLst/>
          </a:prstGeom>
          <a:noFill/>
          <a:ln/>
        </p:spPr>
        <p:txBody>
          <a:bodyPr wrap="square" lIns="0" tIns="0" rIns="0" bIns="0" rtlCol="0" anchor="ctr"/>
          <a:lstStyle/>
          <a:p>
            <a:pPr indent="0" marL="0">
              <a:buNone/>
            </a:pPr>
            <a:r>
              <a:rPr lang="en-US" sz="1350" b="1" dirty="0">
                <a:solidFill>
                  <a:srgbClr val="12507B"/>
                </a:solidFill>
                <a:latin typeface="Cambria" pitchFamily="34" charset="0"/>
                <a:ea typeface="Cambria" pitchFamily="34" charset="-122"/>
                <a:cs typeface="Cambria" pitchFamily="34" charset="-120"/>
              </a:rPr>
              <a:t>P4 · The Value-Chain Trap</a:t>
            </a:r>
            <a:endParaRPr lang="en-US" sz="1350" dirty="0"/>
          </a:p>
        </p:txBody>
      </p:sp>
      <p:sp>
        <p:nvSpPr>
          <p:cNvPr id="13" name="Text 8"/>
          <p:cNvSpPr/>
          <p:nvPr/>
        </p:nvSpPr>
        <p:spPr>
          <a:xfrm>
            <a:off x="7040880" y="1938528"/>
            <a:ext cx="4572000" cy="621792"/>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Energy = 69% of exports; top-5 products = 88.8% (basket HHI 0.22). Egypt earns most from its LEAST-complex product — trapped at the bottom of the chain.</a:t>
            </a:r>
            <a:endParaRPr lang="en-US" sz="980" dirty="0"/>
          </a:p>
        </p:txBody>
      </p:sp>
      <p:sp>
        <p:nvSpPr>
          <p:cNvPr id="14" name="Shape 9"/>
          <p:cNvSpPr/>
          <p:nvPr/>
        </p:nvSpPr>
        <p:spPr>
          <a:xfrm>
            <a:off x="6263640" y="2743200"/>
            <a:ext cx="5532120" cy="1133856"/>
          </a:xfrm>
          <a:prstGeom prst="roundRect">
            <a:avLst>
              <a:gd name="adj" fmla="val 4839"/>
            </a:avLst>
          </a:prstGeom>
          <a:solidFill>
            <a:srgbClr val="F4F7FA"/>
          </a:solidFill>
          <a:ln/>
          <a:effectLst>
            <a:outerShdw sx="100000" sy="100000" kx="0" ky="0" algn="bl" rotWithShape="0" blurRad="88900" dist="38100" dir="5400000">
              <a:srgbClr val="000000">
                <a:alpha val="16000"/>
              </a:srgbClr>
            </a:outerShdw>
          </a:effectLst>
        </p:spPr>
      </p:sp>
      <p:sp>
        <p:nvSpPr>
          <p:cNvPr id="15" name="Shape 10"/>
          <p:cNvSpPr/>
          <p:nvPr/>
        </p:nvSpPr>
        <p:spPr>
          <a:xfrm>
            <a:off x="6464808" y="292608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6" name="Image 2" descr="preencoded.png">    </p:cNvPr>
          <p:cNvPicPr>
            <a:picLocks noChangeAspect="1"/>
          </p:cNvPicPr>
          <p:nvPr/>
        </p:nvPicPr>
        <p:blipFill>
          <a:blip r:embed="rId4"/>
          <a:stretch>
            <a:fillRect/>
          </a:stretch>
        </p:blipFill>
        <p:spPr>
          <a:xfrm>
            <a:off x="6574536" y="3035808"/>
            <a:ext cx="237744" cy="237744"/>
          </a:xfrm>
          <a:prstGeom prst="rect">
            <a:avLst/>
          </a:prstGeom>
        </p:spPr>
      </p:pic>
      <p:sp>
        <p:nvSpPr>
          <p:cNvPr id="17" name="Text 11"/>
          <p:cNvSpPr/>
          <p:nvPr/>
        </p:nvSpPr>
        <p:spPr>
          <a:xfrm>
            <a:off x="7040880" y="2889504"/>
            <a:ext cx="4617720" cy="292608"/>
          </a:xfrm>
          <a:prstGeom prst="rect">
            <a:avLst/>
          </a:prstGeom>
          <a:noFill/>
          <a:ln/>
        </p:spPr>
        <p:txBody>
          <a:bodyPr wrap="square" lIns="0" tIns="0" rIns="0" bIns="0" rtlCol="0" anchor="ctr"/>
          <a:lstStyle/>
          <a:p>
            <a:pPr indent="0" marL="0">
              <a:buNone/>
            </a:pPr>
            <a:r>
              <a:rPr lang="en-US" sz="1350" b="1" dirty="0">
                <a:solidFill>
                  <a:srgbClr val="12507B"/>
                </a:solidFill>
                <a:latin typeface="Cambria" pitchFamily="34" charset="0"/>
                <a:ea typeface="Cambria" pitchFamily="34" charset="-122"/>
                <a:cs typeface="Cambria" pitchFamily="34" charset="-120"/>
              </a:rPr>
              <a:t>P5 · The Price Squeeze</a:t>
            </a:r>
            <a:endParaRPr lang="en-US" sz="1350" dirty="0"/>
          </a:p>
        </p:txBody>
      </p:sp>
      <p:sp>
        <p:nvSpPr>
          <p:cNvPr id="18" name="Text 12"/>
          <p:cNvSpPr/>
          <p:nvPr/>
        </p:nvSpPr>
        <p:spPr>
          <a:xfrm>
            <a:off x="7040880" y="3200400"/>
            <a:ext cx="4572000" cy="621792"/>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Sells raw &amp; under-priced (citrus $333 vs Spain $426), buys over-priced. ~$3.5B/yr lost to under-pricing; 9.6% import premium; 4 circular-trade products.</a:t>
            </a:r>
            <a:endParaRPr lang="en-US" sz="980" dirty="0"/>
          </a:p>
        </p:txBody>
      </p:sp>
      <p:sp>
        <p:nvSpPr>
          <p:cNvPr id="19" name="Shape 13"/>
          <p:cNvSpPr/>
          <p:nvPr/>
        </p:nvSpPr>
        <p:spPr>
          <a:xfrm>
            <a:off x="6263640" y="4005072"/>
            <a:ext cx="5532120" cy="1133856"/>
          </a:xfrm>
          <a:prstGeom prst="roundRect">
            <a:avLst>
              <a:gd name="adj" fmla="val 4839"/>
            </a:avLst>
          </a:prstGeom>
          <a:solidFill>
            <a:srgbClr val="F4F7FA"/>
          </a:solidFill>
          <a:ln/>
          <a:effectLst>
            <a:outerShdw sx="100000" sy="100000" kx="0" ky="0" algn="bl" rotWithShape="0" blurRad="88900" dist="38100" dir="5400000">
              <a:srgbClr val="000000">
                <a:alpha val="16000"/>
              </a:srgbClr>
            </a:outerShdw>
          </a:effectLst>
        </p:spPr>
      </p:sp>
      <p:sp>
        <p:nvSpPr>
          <p:cNvPr id="20" name="Shape 14"/>
          <p:cNvSpPr/>
          <p:nvPr/>
        </p:nvSpPr>
        <p:spPr>
          <a:xfrm>
            <a:off x="6464808" y="4187952"/>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21" name="Image 3" descr="preencoded.png">    </p:cNvPr>
          <p:cNvPicPr>
            <a:picLocks noChangeAspect="1"/>
          </p:cNvPicPr>
          <p:nvPr/>
        </p:nvPicPr>
        <p:blipFill>
          <a:blip r:embed="rId5"/>
          <a:stretch>
            <a:fillRect/>
          </a:stretch>
        </p:blipFill>
        <p:spPr>
          <a:xfrm>
            <a:off x="6574536" y="4297680"/>
            <a:ext cx="237744" cy="237744"/>
          </a:xfrm>
          <a:prstGeom prst="rect">
            <a:avLst/>
          </a:prstGeom>
        </p:spPr>
      </p:pic>
      <p:sp>
        <p:nvSpPr>
          <p:cNvPr id="22" name="Text 15"/>
          <p:cNvSpPr/>
          <p:nvPr/>
        </p:nvSpPr>
        <p:spPr>
          <a:xfrm>
            <a:off x="7040880" y="4151376"/>
            <a:ext cx="4617720" cy="292608"/>
          </a:xfrm>
          <a:prstGeom prst="rect">
            <a:avLst/>
          </a:prstGeom>
          <a:noFill/>
          <a:ln/>
        </p:spPr>
        <p:txBody>
          <a:bodyPr wrap="square" lIns="0" tIns="0" rIns="0" bIns="0" rtlCol="0" anchor="ctr"/>
          <a:lstStyle/>
          <a:p>
            <a:pPr indent="0" marL="0">
              <a:buNone/>
            </a:pPr>
            <a:r>
              <a:rPr lang="en-US" sz="1350" b="1" dirty="0">
                <a:solidFill>
                  <a:srgbClr val="12507B"/>
                </a:solidFill>
                <a:latin typeface="Cambria" pitchFamily="34" charset="0"/>
                <a:ea typeface="Cambria" pitchFamily="34" charset="-122"/>
                <a:cs typeface="Cambria" pitchFamily="34" charset="-120"/>
              </a:rPr>
              <a:t>P6 · The Peer Gap</a:t>
            </a:r>
            <a:endParaRPr lang="en-US" sz="1350" dirty="0"/>
          </a:p>
        </p:txBody>
      </p:sp>
      <p:sp>
        <p:nvSpPr>
          <p:cNvPr id="23" name="Text 16"/>
          <p:cNvSpPr/>
          <p:nvPr/>
        </p:nvSpPr>
        <p:spPr>
          <a:xfrm>
            <a:off x="7040880" y="4462272"/>
            <a:ext cx="4572000" cy="621792"/>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Last of 4 on nearly every metric — EXPY 10,800, manufacturing share 32.5%. Peers each broke out via one decisive reform.</a:t>
            </a:r>
            <a:endParaRPr lang="en-US" sz="980" dirty="0"/>
          </a:p>
        </p:txBody>
      </p:sp>
      <p:sp>
        <p:nvSpPr>
          <p:cNvPr id="24" name="Shape 17"/>
          <p:cNvSpPr/>
          <p:nvPr/>
        </p:nvSpPr>
        <p:spPr>
          <a:xfrm>
            <a:off x="6263640" y="5266944"/>
            <a:ext cx="5532120" cy="1133856"/>
          </a:xfrm>
          <a:prstGeom prst="roundRect">
            <a:avLst>
              <a:gd name="adj" fmla="val 4839"/>
            </a:avLst>
          </a:prstGeom>
          <a:solidFill>
            <a:srgbClr val="F4F7FA"/>
          </a:solidFill>
          <a:ln/>
          <a:effectLst>
            <a:outerShdw sx="100000" sy="100000" kx="0" ky="0" algn="bl" rotWithShape="0" blurRad="88900" dist="38100" dir="5400000">
              <a:srgbClr val="000000">
                <a:alpha val="16000"/>
              </a:srgbClr>
            </a:outerShdw>
          </a:effectLst>
        </p:spPr>
      </p:sp>
      <p:sp>
        <p:nvSpPr>
          <p:cNvPr id="25" name="Shape 18"/>
          <p:cNvSpPr/>
          <p:nvPr/>
        </p:nvSpPr>
        <p:spPr>
          <a:xfrm>
            <a:off x="6464808" y="5449824"/>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26" name="Image 4" descr="preencoded.png">    </p:cNvPr>
          <p:cNvPicPr>
            <a:picLocks noChangeAspect="1"/>
          </p:cNvPicPr>
          <p:nvPr/>
        </p:nvPicPr>
        <p:blipFill>
          <a:blip r:embed="rId6"/>
          <a:stretch>
            <a:fillRect/>
          </a:stretch>
        </p:blipFill>
        <p:spPr>
          <a:xfrm>
            <a:off x="6574536" y="5559552"/>
            <a:ext cx="237744" cy="237744"/>
          </a:xfrm>
          <a:prstGeom prst="rect">
            <a:avLst/>
          </a:prstGeom>
        </p:spPr>
      </p:pic>
      <p:sp>
        <p:nvSpPr>
          <p:cNvPr id="27" name="Text 19"/>
          <p:cNvSpPr/>
          <p:nvPr/>
        </p:nvSpPr>
        <p:spPr>
          <a:xfrm>
            <a:off x="7040880" y="5413248"/>
            <a:ext cx="4617720" cy="292608"/>
          </a:xfrm>
          <a:prstGeom prst="rect">
            <a:avLst/>
          </a:prstGeom>
          <a:noFill/>
          <a:ln/>
        </p:spPr>
        <p:txBody>
          <a:bodyPr wrap="square" lIns="0" tIns="0" rIns="0" bIns="0" rtlCol="0" anchor="ctr"/>
          <a:lstStyle/>
          <a:p>
            <a:pPr indent="0" marL="0">
              <a:buNone/>
            </a:pPr>
            <a:r>
              <a:rPr lang="en-US" sz="1350" b="1" dirty="0">
                <a:solidFill>
                  <a:srgbClr val="12507B"/>
                </a:solidFill>
                <a:latin typeface="Cambria" pitchFamily="34" charset="0"/>
                <a:ea typeface="Cambria" pitchFamily="34" charset="-122"/>
                <a:cs typeface="Cambria" pitchFamily="34" charset="-120"/>
              </a:rPr>
              <a:t>P3 · The Geographic Gap</a:t>
            </a:r>
            <a:endParaRPr lang="en-US" sz="1350" dirty="0"/>
          </a:p>
        </p:txBody>
      </p:sp>
      <p:sp>
        <p:nvSpPr>
          <p:cNvPr id="28" name="Text 20"/>
          <p:cNvSpPr/>
          <p:nvPr/>
        </p:nvSpPr>
        <p:spPr>
          <a:xfrm>
            <a:off x="7040880" y="5724144"/>
            <a:ext cx="4572000" cy="621792"/>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80 partners, but MENA + EU take 54.5% of exports; under-represented in Asia — the engine of global growth. The map's white space is the opportunity.</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1554480" y="4572000"/>
            <a:ext cx="4023360" cy="4023360"/>
          </a:xfrm>
          <a:prstGeom prst="ellipse">
            <a:avLst/>
          </a:prstGeom>
          <a:solidFill>
            <a:srgbClr val="12507B">
              <a:alpha val="55000"/>
            </a:srgbClr>
          </a:solidFill>
          <a:ln/>
        </p:spPr>
      </p:sp>
      <p:sp>
        <p:nvSpPr>
          <p:cNvPr id="3" name="Shape 1"/>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4"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5" name="Text 2"/>
          <p:cNvSpPr/>
          <p:nvPr/>
        </p:nvSpPr>
        <p:spPr>
          <a:xfrm>
            <a:off x="1325880" y="457200"/>
            <a:ext cx="9144000" cy="274320"/>
          </a:xfrm>
          <a:prstGeom prst="rect">
            <a:avLst/>
          </a:prstGeom>
          <a:noFill/>
          <a:ln/>
        </p:spPr>
        <p:txBody>
          <a:bodyPr wrap="square" lIns="0" tIns="0" rIns="0" bIns="0" rtlCol="0" anchor="ctr"/>
          <a:lstStyle/>
          <a:p>
            <a:pPr indent="0" marL="0">
              <a:buNone/>
            </a:pPr>
            <a:r>
              <a:rPr lang="en-US" sz="1200" b="1" spc="300" kern="0" dirty="0">
                <a:solidFill>
                  <a:srgbClr val="E9CD82"/>
                </a:solidFill>
                <a:latin typeface="Calibri" pitchFamily="34" charset="0"/>
                <a:ea typeface="Calibri" pitchFamily="34" charset="-122"/>
                <a:cs typeface="Calibri" pitchFamily="34" charset="-120"/>
              </a:rPr>
              <a:t>STEP 05  ·  THE ROADMAP</a:t>
            </a:r>
            <a:endParaRPr lang="en-US" sz="1200" dirty="0"/>
          </a:p>
        </p:txBody>
      </p:sp>
      <p:sp>
        <p:nvSpPr>
          <p:cNvPr id="6" name="Text 3"/>
          <p:cNvSpPr/>
          <p:nvPr/>
        </p:nvSpPr>
        <p:spPr>
          <a:xfrm>
            <a:off x="1325880" y="713232"/>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Diagnosis to Action</a:t>
            </a:r>
            <a:endParaRPr lang="en-US" sz="3000" dirty="0"/>
          </a:p>
        </p:txBody>
      </p:sp>
      <p:sp>
        <p:nvSpPr>
          <p:cNvPr id="7" name="Text 4"/>
          <p:cNvSpPr/>
          <p:nvPr/>
        </p:nvSpPr>
        <p:spPr>
          <a:xfrm>
            <a:off x="548640" y="1417320"/>
            <a:ext cx="1097280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Every action answers a specific finding in the dashboard. No recommendation goes beyond the evidence.</a:t>
            </a:r>
            <a:endParaRPr lang="en-US" sz="1300" dirty="0"/>
          </a:p>
        </p:txBody>
      </p:sp>
      <p:sp>
        <p:nvSpPr>
          <p:cNvPr id="8" name="Shape 5"/>
          <p:cNvSpPr/>
          <p:nvPr/>
        </p:nvSpPr>
        <p:spPr>
          <a:xfrm>
            <a:off x="548640" y="1965960"/>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9" name="Shape 6"/>
          <p:cNvSpPr/>
          <p:nvPr/>
        </p:nvSpPr>
        <p:spPr>
          <a:xfrm>
            <a:off x="731520" y="214884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0" name="Image 1" descr="preencoded.png">    </p:cNvPr>
          <p:cNvPicPr>
            <a:picLocks noChangeAspect="1"/>
          </p:cNvPicPr>
          <p:nvPr/>
        </p:nvPicPr>
        <p:blipFill>
          <a:blip r:embed="rId2"/>
          <a:stretch>
            <a:fillRect/>
          </a:stretch>
        </p:blipFill>
        <p:spPr>
          <a:xfrm>
            <a:off x="841248" y="2258568"/>
            <a:ext cx="237744" cy="237744"/>
          </a:xfrm>
          <a:prstGeom prst="rect">
            <a:avLst/>
          </a:prstGeom>
        </p:spPr>
      </p:pic>
      <p:sp>
        <p:nvSpPr>
          <p:cNvPr id="11" name="Text 7"/>
          <p:cNvSpPr/>
          <p:nvPr/>
        </p:nvSpPr>
        <p:spPr>
          <a:xfrm>
            <a:off x="1280160" y="2167128"/>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Fix Export Pricing</a:t>
            </a:r>
            <a:endParaRPr lang="en-US" sz="1450" dirty="0"/>
          </a:p>
        </p:txBody>
      </p:sp>
      <p:sp>
        <p:nvSpPr>
          <p:cNvPr id="12" name="Text 8"/>
          <p:cNvSpPr/>
          <p:nvPr/>
        </p:nvSpPr>
        <p:spPr>
          <a:xfrm>
            <a:off x="731520" y="2624328"/>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Certification, branding, cold-chain, contracted sales.</a:t>
            </a:r>
            <a:endParaRPr lang="en-US" sz="980" dirty="0"/>
          </a:p>
        </p:txBody>
      </p:sp>
      <p:sp>
        <p:nvSpPr>
          <p:cNvPr id="13" name="Text 9"/>
          <p:cNvSpPr/>
          <p:nvPr/>
        </p:nvSpPr>
        <p:spPr>
          <a:xfrm>
            <a:off x="731520" y="3008376"/>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Recovers much of the $3.5B/yr under-pricing loss  (P5)</a:t>
            </a:r>
            <a:endParaRPr lang="en-US" sz="930" dirty="0"/>
          </a:p>
        </p:txBody>
      </p:sp>
      <p:sp>
        <p:nvSpPr>
          <p:cNvPr id="14" name="Shape 10"/>
          <p:cNvSpPr/>
          <p:nvPr/>
        </p:nvSpPr>
        <p:spPr>
          <a:xfrm>
            <a:off x="4379976" y="1965960"/>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15" name="Shape 11"/>
          <p:cNvSpPr/>
          <p:nvPr/>
        </p:nvSpPr>
        <p:spPr>
          <a:xfrm>
            <a:off x="4562856" y="214884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6" name="Image 2" descr="preencoded.png">    </p:cNvPr>
          <p:cNvPicPr>
            <a:picLocks noChangeAspect="1"/>
          </p:cNvPicPr>
          <p:nvPr/>
        </p:nvPicPr>
        <p:blipFill>
          <a:blip r:embed="rId3"/>
          <a:stretch>
            <a:fillRect/>
          </a:stretch>
        </p:blipFill>
        <p:spPr>
          <a:xfrm>
            <a:off x="4672584" y="2258568"/>
            <a:ext cx="237744" cy="237744"/>
          </a:xfrm>
          <a:prstGeom prst="rect">
            <a:avLst/>
          </a:prstGeom>
        </p:spPr>
      </p:pic>
      <p:sp>
        <p:nvSpPr>
          <p:cNvPr id="17" name="Text 12"/>
          <p:cNvSpPr/>
          <p:nvPr/>
        </p:nvSpPr>
        <p:spPr>
          <a:xfrm>
            <a:off x="5111496" y="2167128"/>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Climb the Value Chain</a:t>
            </a:r>
            <a:endParaRPr lang="en-US" sz="1450" dirty="0"/>
          </a:p>
        </p:txBody>
      </p:sp>
      <p:sp>
        <p:nvSpPr>
          <p:cNvPr id="18" name="Text 13"/>
          <p:cNvSpPr/>
          <p:nvPr/>
        </p:nvSpPr>
        <p:spPr>
          <a:xfrm>
            <a:off x="4562856" y="2624328"/>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Process at home: gas→petrochemicals, cotton→garments.</a:t>
            </a:r>
            <a:endParaRPr lang="en-US" sz="980" dirty="0"/>
          </a:p>
        </p:txBody>
      </p:sp>
      <p:sp>
        <p:nvSpPr>
          <p:cNvPr id="19" name="Text 14"/>
          <p:cNvSpPr/>
          <p:nvPr/>
        </p:nvSpPr>
        <p:spPr>
          <a:xfrm>
            <a:off x="4562856" y="3008376"/>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Captures the margin now earned abroad  (P4)</a:t>
            </a:r>
            <a:endParaRPr lang="en-US" sz="930" dirty="0"/>
          </a:p>
        </p:txBody>
      </p:sp>
      <p:sp>
        <p:nvSpPr>
          <p:cNvPr id="20" name="Shape 15"/>
          <p:cNvSpPr/>
          <p:nvPr/>
        </p:nvSpPr>
        <p:spPr>
          <a:xfrm>
            <a:off x="8211312" y="1965960"/>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21" name="Shape 16"/>
          <p:cNvSpPr/>
          <p:nvPr/>
        </p:nvSpPr>
        <p:spPr>
          <a:xfrm>
            <a:off x="8394192" y="2148840"/>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8503920" y="2258568"/>
            <a:ext cx="237744" cy="237744"/>
          </a:xfrm>
          <a:prstGeom prst="rect">
            <a:avLst/>
          </a:prstGeom>
        </p:spPr>
      </p:pic>
      <p:sp>
        <p:nvSpPr>
          <p:cNvPr id="23" name="Text 17"/>
          <p:cNvSpPr/>
          <p:nvPr/>
        </p:nvSpPr>
        <p:spPr>
          <a:xfrm>
            <a:off x="8942832" y="2167128"/>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Close Circular Trade</a:t>
            </a:r>
            <a:endParaRPr lang="en-US" sz="1450" dirty="0"/>
          </a:p>
        </p:txBody>
      </p:sp>
      <p:sp>
        <p:nvSpPr>
          <p:cNvPr id="24" name="Text 18"/>
          <p:cNvSpPr/>
          <p:nvPr/>
        </p:nvSpPr>
        <p:spPr>
          <a:xfrm>
            <a:off x="8394192" y="2624328"/>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Substitute imports we export raw &amp; re-import processed.</a:t>
            </a:r>
            <a:endParaRPr lang="en-US" sz="980" dirty="0"/>
          </a:p>
        </p:txBody>
      </p:sp>
      <p:sp>
        <p:nvSpPr>
          <p:cNvPr id="25" name="Text 19"/>
          <p:cNvSpPr/>
          <p:nvPr/>
        </p:nvSpPr>
        <p:spPr>
          <a:xfrm>
            <a:off x="8394192" y="3008376"/>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Cuts the import bill, narrows the deficit  (P5)</a:t>
            </a:r>
            <a:endParaRPr lang="en-US" sz="930" dirty="0"/>
          </a:p>
        </p:txBody>
      </p:sp>
      <p:sp>
        <p:nvSpPr>
          <p:cNvPr id="26" name="Shape 20"/>
          <p:cNvSpPr/>
          <p:nvPr/>
        </p:nvSpPr>
        <p:spPr>
          <a:xfrm>
            <a:off x="548640" y="3502152"/>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27" name="Shape 21"/>
          <p:cNvSpPr/>
          <p:nvPr/>
        </p:nvSpPr>
        <p:spPr>
          <a:xfrm>
            <a:off x="731520" y="3685032"/>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28" name="Image 4" descr="preencoded.png">    </p:cNvPr>
          <p:cNvPicPr>
            <a:picLocks noChangeAspect="1"/>
          </p:cNvPicPr>
          <p:nvPr/>
        </p:nvPicPr>
        <p:blipFill>
          <a:blip r:embed="rId5"/>
          <a:stretch>
            <a:fillRect/>
          </a:stretch>
        </p:blipFill>
        <p:spPr>
          <a:xfrm>
            <a:off x="841248" y="3794760"/>
            <a:ext cx="237744" cy="237744"/>
          </a:xfrm>
          <a:prstGeom prst="rect">
            <a:avLst/>
          </a:prstGeom>
        </p:spPr>
      </p:pic>
      <p:sp>
        <p:nvSpPr>
          <p:cNvPr id="29" name="Text 22"/>
          <p:cNvSpPr/>
          <p:nvPr/>
        </p:nvSpPr>
        <p:spPr>
          <a:xfrm>
            <a:off x="1280160" y="3703320"/>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Target Asia &amp; Africa</a:t>
            </a:r>
            <a:endParaRPr lang="en-US" sz="1450" dirty="0"/>
          </a:p>
        </p:txBody>
      </p:sp>
      <p:sp>
        <p:nvSpPr>
          <p:cNvPr id="30" name="Text 23"/>
          <p:cNvSpPr/>
          <p:nvPr/>
        </p:nvSpPr>
        <p:spPr>
          <a:xfrm>
            <a:off x="731520" y="4160520"/>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Dedicated strategy for high-growth markets via AfCFTA.</a:t>
            </a:r>
            <a:endParaRPr lang="en-US" sz="980" dirty="0"/>
          </a:p>
        </p:txBody>
      </p:sp>
      <p:sp>
        <p:nvSpPr>
          <p:cNvPr id="31" name="Text 24"/>
          <p:cNvSpPr/>
          <p:nvPr/>
        </p:nvSpPr>
        <p:spPr>
          <a:xfrm>
            <a:off x="731520" y="4544568"/>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Fills the map's white space  (P3)</a:t>
            </a:r>
            <a:endParaRPr lang="en-US" sz="930" dirty="0"/>
          </a:p>
        </p:txBody>
      </p:sp>
      <p:sp>
        <p:nvSpPr>
          <p:cNvPr id="32" name="Shape 25"/>
          <p:cNvSpPr/>
          <p:nvPr/>
        </p:nvSpPr>
        <p:spPr>
          <a:xfrm>
            <a:off x="4379976" y="3502152"/>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33" name="Shape 26"/>
          <p:cNvSpPr/>
          <p:nvPr/>
        </p:nvSpPr>
        <p:spPr>
          <a:xfrm>
            <a:off x="4562856" y="3685032"/>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4" name="Image 5" descr="preencoded.png">    </p:cNvPr>
          <p:cNvPicPr>
            <a:picLocks noChangeAspect="1"/>
          </p:cNvPicPr>
          <p:nvPr/>
        </p:nvPicPr>
        <p:blipFill>
          <a:blip r:embed="rId6"/>
          <a:stretch>
            <a:fillRect/>
          </a:stretch>
        </p:blipFill>
        <p:spPr>
          <a:xfrm>
            <a:off x="4672584" y="3794760"/>
            <a:ext cx="237744" cy="237744"/>
          </a:xfrm>
          <a:prstGeom prst="rect">
            <a:avLst/>
          </a:prstGeom>
        </p:spPr>
      </p:pic>
      <p:sp>
        <p:nvSpPr>
          <p:cNvPr id="35" name="Text 27"/>
          <p:cNvSpPr/>
          <p:nvPr/>
        </p:nvSpPr>
        <p:spPr>
          <a:xfrm>
            <a:off x="5111496" y="3703320"/>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Adopt the Peer Playbook</a:t>
            </a:r>
            <a:endParaRPr lang="en-US" sz="1450" dirty="0"/>
          </a:p>
        </p:txBody>
      </p:sp>
      <p:sp>
        <p:nvSpPr>
          <p:cNvPr id="36" name="Text 28"/>
          <p:cNvSpPr/>
          <p:nvPr/>
        </p:nvSpPr>
        <p:spPr>
          <a:xfrm>
            <a:off x="4562856" y="4160520"/>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Branding programme + FDI-led export zones, as peers did.</a:t>
            </a:r>
            <a:endParaRPr lang="en-US" sz="980" dirty="0"/>
          </a:p>
        </p:txBody>
      </p:sp>
      <p:sp>
        <p:nvSpPr>
          <p:cNvPr id="37" name="Text 29"/>
          <p:cNvSpPr/>
          <p:nvPr/>
        </p:nvSpPr>
        <p:spPr>
          <a:xfrm>
            <a:off x="4562856" y="4544568"/>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Lifts sophistication toward Turkey/Vietnam  (P6)</a:t>
            </a:r>
            <a:endParaRPr lang="en-US" sz="930" dirty="0"/>
          </a:p>
        </p:txBody>
      </p:sp>
      <p:sp>
        <p:nvSpPr>
          <p:cNvPr id="38" name="Shape 30"/>
          <p:cNvSpPr/>
          <p:nvPr/>
        </p:nvSpPr>
        <p:spPr>
          <a:xfrm>
            <a:off x="8211312" y="3502152"/>
            <a:ext cx="3657600" cy="1371600"/>
          </a:xfrm>
          <a:prstGeom prst="roundRect">
            <a:avLst>
              <a:gd name="adj" fmla="val 4667"/>
            </a:avLst>
          </a:prstGeom>
          <a:solidFill>
            <a:srgbClr val="FFFFFF"/>
          </a:solidFill>
          <a:ln/>
          <a:effectLst>
            <a:outerShdw sx="100000" sy="100000" kx="0" ky="0" algn="bl" rotWithShape="0" blurRad="88900" dist="38100" dir="5400000">
              <a:srgbClr val="000000">
                <a:alpha val="16000"/>
              </a:srgbClr>
            </a:outerShdw>
          </a:effectLst>
        </p:spPr>
      </p:sp>
      <p:sp>
        <p:nvSpPr>
          <p:cNvPr id="39" name="Shape 31"/>
          <p:cNvSpPr/>
          <p:nvPr/>
        </p:nvSpPr>
        <p:spPr>
          <a:xfrm>
            <a:off x="8394192" y="3685032"/>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40" name="Image 6" descr="preencoded.png">    </p:cNvPr>
          <p:cNvPicPr>
            <a:picLocks noChangeAspect="1"/>
          </p:cNvPicPr>
          <p:nvPr/>
        </p:nvPicPr>
        <p:blipFill>
          <a:blip r:embed="rId7"/>
          <a:stretch>
            <a:fillRect/>
          </a:stretch>
        </p:blipFill>
        <p:spPr>
          <a:xfrm>
            <a:off x="8503920" y="3794760"/>
            <a:ext cx="237744" cy="237744"/>
          </a:xfrm>
          <a:prstGeom prst="rect">
            <a:avLst/>
          </a:prstGeom>
        </p:spPr>
      </p:pic>
      <p:sp>
        <p:nvSpPr>
          <p:cNvPr id="41" name="Text 32"/>
          <p:cNvSpPr/>
          <p:nvPr/>
        </p:nvSpPr>
        <p:spPr>
          <a:xfrm>
            <a:off x="8942832" y="3703320"/>
            <a:ext cx="2788920" cy="411480"/>
          </a:xfrm>
          <a:prstGeom prst="rect">
            <a:avLst/>
          </a:prstGeom>
          <a:noFill/>
          <a:ln/>
        </p:spPr>
        <p:txBody>
          <a:bodyPr wrap="square" lIns="0" tIns="0" rIns="0" bIns="0" rtlCol="0" anchor="ctr"/>
          <a:lstStyle/>
          <a:p>
            <a:pPr indent="0" marL="0">
              <a:buNone/>
            </a:pPr>
            <a:r>
              <a:rPr lang="en-US" sz="1450" b="1" dirty="0">
                <a:solidFill>
                  <a:srgbClr val="0A2540"/>
                </a:solidFill>
                <a:latin typeface="Cambria" pitchFamily="34" charset="0"/>
                <a:ea typeface="Cambria" pitchFamily="34" charset="-122"/>
                <a:cs typeface="Cambria" pitchFamily="34" charset="-120"/>
              </a:rPr>
              <a:t>Accelerate Lagging KPIs</a:t>
            </a:r>
            <a:endParaRPr lang="en-US" sz="1450" dirty="0"/>
          </a:p>
        </p:txBody>
      </p:sp>
      <p:sp>
        <p:nvSpPr>
          <p:cNvPr id="42" name="Text 33"/>
          <p:cNvSpPr/>
          <p:nvPr/>
        </p:nvSpPr>
        <p:spPr>
          <a:xfrm>
            <a:off x="8394192" y="4160520"/>
            <a:ext cx="3291840" cy="384048"/>
          </a:xfrm>
          <a:prstGeom prst="rect">
            <a:avLst/>
          </a:prstGeom>
          <a:noFill/>
          <a:ln/>
        </p:spPr>
        <p:txBody>
          <a:bodyPr wrap="square" lIns="0" tIns="0" rIns="0" bIns="0" rtlCol="0" anchor="ctr"/>
          <a:lstStyle/>
          <a:p>
            <a:pPr indent="0" marL="0">
              <a:lnSpc>
                <a:spcPts val="1250"/>
              </a:lnSpc>
              <a:buNone/>
            </a:pPr>
            <a:r>
              <a:rPr lang="en-US" sz="980" dirty="0">
                <a:solidFill>
                  <a:srgbClr val="1C2530"/>
                </a:solidFill>
                <a:latin typeface="Calibri" pitchFamily="34" charset="0"/>
                <a:ea typeface="Calibri" pitchFamily="34" charset="-122"/>
                <a:cs typeface="Calibri" pitchFamily="34" charset="-120"/>
              </a:rPr>
              <a:t>Focus policy on garments, ICT, pharma, food &amp; FDI.</a:t>
            </a:r>
            <a:endParaRPr lang="en-US" sz="980" dirty="0"/>
          </a:p>
        </p:txBody>
      </p:sp>
      <p:sp>
        <p:nvSpPr>
          <p:cNvPr id="43" name="Text 34"/>
          <p:cNvSpPr/>
          <p:nvPr/>
        </p:nvSpPr>
        <p:spPr>
          <a:xfrm>
            <a:off x="8394192" y="4544568"/>
            <a:ext cx="3291840" cy="274320"/>
          </a:xfrm>
          <a:prstGeom prst="rect">
            <a:avLst/>
          </a:prstGeom>
          <a:noFill/>
          <a:ln/>
        </p:spPr>
        <p:txBody>
          <a:bodyPr wrap="square" lIns="0" tIns="0" rIns="0" bIns="0" rtlCol="0" anchor="ctr"/>
          <a:lstStyle/>
          <a:p>
            <a:pPr indent="0" marL="0">
              <a:buNone/>
            </a:pPr>
            <a:r>
              <a:rPr lang="en-US" sz="930" b="1" i="1" dirty="0">
                <a:solidFill>
                  <a:srgbClr val="12507B"/>
                </a:solidFill>
                <a:latin typeface="Calibri" pitchFamily="34" charset="0"/>
                <a:ea typeface="Calibri" pitchFamily="34" charset="-122"/>
                <a:cs typeface="Calibri" pitchFamily="34" charset="-120"/>
              </a:rPr>
              <a:t>→ Closes the gap to the 2030 export target  (P7)</a:t>
            </a:r>
            <a:endParaRPr lang="en-US" sz="930" dirty="0"/>
          </a:p>
        </p:txBody>
      </p:sp>
      <p:sp>
        <p:nvSpPr>
          <p:cNvPr id="44" name="Text 35"/>
          <p:cNvSpPr/>
          <p:nvPr/>
        </p:nvSpPr>
        <p:spPr>
          <a:xfrm>
            <a:off x="548640" y="5257800"/>
            <a:ext cx="11064240" cy="640080"/>
          </a:xfrm>
          <a:prstGeom prst="rect">
            <a:avLst/>
          </a:prstGeom>
          <a:noFill/>
          <a:ln/>
        </p:spPr>
        <p:txBody>
          <a:bodyPr wrap="square" lIns="0" tIns="0" rIns="0" bIns="0" rtlCol="0" anchor="ctr"/>
          <a:lstStyle/>
          <a:p>
            <a:pPr algn="l" indent="0" marL="0">
              <a:lnSpc>
                <a:spcPts val="2000"/>
              </a:lnSpc>
              <a:buNone/>
            </a:pPr>
            <a:r>
              <a:rPr lang="en-US" sz="1400" b="1" dirty="0">
                <a:solidFill>
                  <a:srgbClr val="E9CD82"/>
                </a:solidFill>
                <a:latin typeface="Calibri" pitchFamily="34" charset="0"/>
                <a:ea typeface="Calibri" pitchFamily="34" charset="-122"/>
                <a:cs typeface="Calibri" pitchFamily="34" charset="-120"/>
              </a:rPr>
              <a:t>The bottom line:  </a:t>
            </a:r>
            <a:pPr algn="l" indent="0" marL="0">
              <a:lnSpc>
                <a:spcPts val="2000"/>
              </a:lnSpc>
              <a:buNone/>
            </a:pPr>
            <a:r>
              <a:rPr lang="en-US" sz="1400" dirty="0">
                <a:solidFill>
                  <a:srgbClr val="CADCFC"/>
                </a:solidFill>
                <a:latin typeface="Calibri" pitchFamily="34" charset="0"/>
                <a:ea typeface="Calibri" pitchFamily="34" charset="-122"/>
                <a:cs typeface="Calibri" pitchFamily="34" charset="-120"/>
              </a:rPr>
              <a:t>one objective — raise the value Egypt captures from its trade. Next: exactly what that is worth.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75488"/>
            <a:ext cx="566928" cy="566928"/>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 name="Image 0" descr="preencoded.png">    </p:cNvPr>
          <p:cNvPicPr>
            <a:picLocks noChangeAspect="1"/>
          </p:cNvPicPr>
          <p:nvPr/>
        </p:nvPicPr>
        <p:blipFill>
          <a:blip r:embed="rId1"/>
          <a:stretch>
            <a:fillRect/>
          </a:stretch>
        </p:blipFill>
        <p:spPr>
          <a:xfrm>
            <a:off x="684703" y="611551"/>
            <a:ext cx="294803" cy="294803"/>
          </a:xfrm>
          <a:prstGeom prst="rect">
            <a:avLst/>
          </a:prstGeom>
        </p:spPr>
      </p:pic>
      <p:sp>
        <p:nvSpPr>
          <p:cNvPr id="4" name="Text 1"/>
          <p:cNvSpPr/>
          <p:nvPr/>
        </p:nvSpPr>
        <p:spPr>
          <a:xfrm>
            <a:off x="1325880" y="457200"/>
            <a:ext cx="9144000" cy="274320"/>
          </a:xfrm>
          <a:prstGeom prst="rect">
            <a:avLst/>
          </a:prstGeom>
          <a:noFill/>
          <a:ln/>
        </p:spPr>
        <p:txBody>
          <a:bodyPr wrap="square" lIns="0" tIns="0" rIns="0" bIns="0" rtlCol="0" anchor="ctr"/>
          <a:lstStyle/>
          <a:p>
            <a:pPr algn="l" indent="0" marL="0">
              <a:buNone/>
            </a:pPr>
            <a:r>
              <a:rPr lang="en-US" sz="1200" b="1" spc="300" kern="0" dirty="0">
                <a:solidFill>
                  <a:srgbClr val="C8A04A"/>
                </a:solidFill>
                <a:latin typeface="Calibri" pitchFamily="34" charset="0"/>
                <a:ea typeface="Calibri" pitchFamily="34" charset="-122"/>
                <a:cs typeface="Calibri" pitchFamily="34" charset="-120"/>
              </a:rPr>
              <a:t>STEP 06  ·  THE PAYOFF</a:t>
            </a:r>
            <a:endParaRPr lang="en-US" sz="1200" dirty="0"/>
          </a:p>
        </p:txBody>
      </p:sp>
      <p:sp>
        <p:nvSpPr>
          <p:cNvPr id="5" name="Text 2"/>
          <p:cNvSpPr/>
          <p:nvPr/>
        </p:nvSpPr>
        <p:spPr>
          <a:xfrm>
            <a:off x="1325880" y="713232"/>
            <a:ext cx="10241280" cy="640080"/>
          </a:xfrm>
          <a:prstGeom prst="rect">
            <a:avLst/>
          </a:prstGeom>
          <a:noFill/>
          <a:ln/>
        </p:spPr>
        <p:txBody>
          <a:bodyPr wrap="square" lIns="0" tIns="0" rIns="0" bIns="0" rtlCol="0" anchor="ctr"/>
          <a:lstStyle/>
          <a:p>
            <a:pPr algn="l" indent="0" marL="0">
              <a:buNone/>
            </a:pPr>
            <a:r>
              <a:rPr lang="en-US" sz="3000" b="1" dirty="0">
                <a:solidFill>
                  <a:srgbClr val="0A2540"/>
                </a:solidFill>
                <a:latin typeface="Cambria" pitchFamily="34" charset="0"/>
                <a:ea typeface="Cambria" pitchFamily="34" charset="-122"/>
                <a:cs typeface="Cambria" pitchFamily="34" charset="-120"/>
              </a:rPr>
              <a:t>What Egypt Gains by Acting</a:t>
            </a:r>
            <a:endParaRPr lang="en-US" sz="3000" dirty="0"/>
          </a:p>
        </p:txBody>
      </p:sp>
      <p:sp>
        <p:nvSpPr>
          <p:cNvPr id="6" name="Text 3"/>
          <p:cNvSpPr/>
          <p:nvPr/>
        </p:nvSpPr>
        <p:spPr>
          <a:xfrm>
            <a:off x="548640" y="1481328"/>
            <a:ext cx="11064240" cy="457200"/>
          </a:xfrm>
          <a:prstGeom prst="rect">
            <a:avLst/>
          </a:prstGeom>
          <a:noFill/>
          <a:ln/>
        </p:spPr>
        <p:txBody>
          <a:bodyPr wrap="square" lIns="0" tIns="0" rIns="0" bIns="0" rtlCol="0" anchor="ctr"/>
          <a:lstStyle/>
          <a:p>
            <a:pPr indent="0" marL="0">
              <a:buNone/>
            </a:pPr>
            <a:r>
              <a:rPr lang="en-US" sz="1350" dirty="0">
                <a:solidFill>
                  <a:srgbClr val="5C6875"/>
                </a:solidFill>
                <a:latin typeface="Calibri" pitchFamily="34" charset="0"/>
                <a:ea typeface="Calibri" pitchFamily="34" charset="-122"/>
                <a:cs typeface="Calibri" pitchFamily="34" charset="-120"/>
              </a:rPr>
              <a:t>The same three levers that fix the problem quantify the prize. Executed together, they turn today's structural weakness into measurable national gain.</a:t>
            </a:r>
            <a:endParaRPr lang="en-US" sz="1350" dirty="0"/>
          </a:p>
        </p:txBody>
      </p:sp>
      <p:sp>
        <p:nvSpPr>
          <p:cNvPr id="7" name="Shape 4"/>
          <p:cNvSpPr/>
          <p:nvPr/>
        </p:nvSpPr>
        <p:spPr>
          <a:xfrm>
            <a:off x="548640" y="2103120"/>
            <a:ext cx="5989320" cy="1078992"/>
          </a:xfrm>
          <a:prstGeom prst="roundRect">
            <a:avLst>
              <a:gd name="adj" fmla="val 5932"/>
            </a:avLst>
          </a:prstGeom>
          <a:solidFill>
            <a:srgbClr val="F4F7FA"/>
          </a:solidFill>
          <a:ln/>
          <a:effectLst>
            <a:outerShdw sx="100000" sy="100000" kx="0" ky="0" algn="bl" rotWithShape="0" blurRad="88900" dist="38100" dir="5400000">
              <a:srgbClr val="000000">
                <a:alpha val="16000"/>
              </a:srgbClr>
            </a:outerShdw>
          </a:effectLst>
        </p:spPr>
      </p:sp>
      <p:sp>
        <p:nvSpPr>
          <p:cNvPr id="8" name="Shape 5"/>
          <p:cNvSpPr/>
          <p:nvPr/>
        </p:nvSpPr>
        <p:spPr>
          <a:xfrm>
            <a:off x="749808" y="2414016"/>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9" name="Image 1" descr="preencoded.png">    </p:cNvPr>
          <p:cNvPicPr>
            <a:picLocks noChangeAspect="1"/>
          </p:cNvPicPr>
          <p:nvPr/>
        </p:nvPicPr>
        <p:blipFill>
          <a:blip r:embed="rId2"/>
          <a:stretch>
            <a:fillRect/>
          </a:stretch>
        </p:blipFill>
        <p:spPr>
          <a:xfrm>
            <a:off x="859536" y="2523744"/>
            <a:ext cx="237744" cy="237744"/>
          </a:xfrm>
          <a:prstGeom prst="rect">
            <a:avLst/>
          </a:prstGeom>
        </p:spPr>
      </p:pic>
      <p:sp>
        <p:nvSpPr>
          <p:cNvPr id="10" name="Text 6"/>
          <p:cNvSpPr/>
          <p:nvPr/>
        </p:nvSpPr>
        <p:spPr>
          <a:xfrm>
            <a:off x="1325880" y="2249424"/>
            <a:ext cx="2651760" cy="292608"/>
          </a:xfrm>
          <a:prstGeom prst="rect">
            <a:avLst/>
          </a:prstGeom>
          <a:noFill/>
          <a:ln/>
        </p:spPr>
        <p:txBody>
          <a:bodyPr wrap="square" lIns="0" tIns="0" rIns="0" bIns="0" rtlCol="0" anchor="ctr"/>
          <a:lstStyle/>
          <a:p>
            <a:pPr indent="0" marL="0">
              <a:buNone/>
            </a:pPr>
            <a:r>
              <a:rPr lang="en-US" sz="1350" b="1" dirty="0">
                <a:solidFill>
                  <a:srgbClr val="0A2540"/>
                </a:solidFill>
                <a:latin typeface="Cambria" pitchFamily="34" charset="0"/>
                <a:ea typeface="Cambria" pitchFamily="34" charset="-122"/>
                <a:cs typeface="Cambria" pitchFamily="34" charset="-120"/>
              </a:rPr>
              <a:t>Fix Export Pricing</a:t>
            </a:r>
            <a:endParaRPr lang="en-US" sz="1350" dirty="0"/>
          </a:p>
        </p:txBody>
      </p:sp>
      <p:sp>
        <p:nvSpPr>
          <p:cNvPr id="11" name="Text 7"/>
          <p:cNvSpPr/>
          <p:nvPr/>
        </p:nvSpPr>
        <p:spPr>
          <a:xfrm>
            <a:off x="1325880" y="2560320"/>
            <a:ext cx="2926080" cy="548640"/>
          </a:xfrm>
          <a:prstGeom prst="rect">
            <a:avLst/>
          </a:prstGeom>
          <a:noFill/>
          <a:ln/>
        </p:spPr>
        <p:txBody>
          <a:bodyPr wrap="square" lIns="0" tIns="0" rIns="0" bIns="0" rtlCol="0" anchor="ctr"/>
          <a:lstStyle/>
          <a:p>
            <a:pPr indent="0" marL="0">
              <a:lnSpc>
                <a:spcPts val="1200"/>
              </a:lnSpc>
              <a:buNone/>
            </a:pPr>
            <a:r>
              <a:rPr lang="en-US" sz="930" dirty="0">
                <a:solidFill>
                  <a:srgbClr val="5C6875"/>
                </a:solidFill>
                <a:latin typeface="Calibri" pitchFamily="34" charset="0"/>
                <a:ea typeface="Calibri" pitchFamily="34" charset="-122"/>
                <a:cs typeface="Calibri" pitchFamily="34" charset="-120"/>
              </a:rPr>
              <a:t>525% ROI · 2–5 yrs · delivers ~40% of the $104B export target</a:t>
            </a:r>
            <a:endParaRPr lang="en-US" sz="930" dirty="0"/>
          </a:p>
        </p:txBody>
      </p:sp>
      <p:sp>
        <p:nvSpPr>
          <p:cNvPr id="12" name="Text 8"/>
          <p:cNvSpPr/>
          <p:nvPr/>
        </p:nvSpPr>
        <p:spPr>
          <a:xfrm>
            <a:off x="4206240" y="2121408"/>
            <a:ext cx="2286000" cy="1042416"/>
          </a:xfrm>
          <a:prstGeom prst="rect">
            <a:avLst/>
          </a:prstGeom>
          <a:noFill/>
          <a:ln/>
        </p:spPr>
        <p:txBody>
          <a:bodyPr wrap="square" lIns="0" tIns="0" rIns="0" bIns="0" rtlCol="0" anchor="ctr"/>
          <a:lstStyle/>
          <a:p>
            <a:pPr algn="r" indent="0" marL="0">
              <a:buNone/>
            </a:pPr>
            <a:r>
              <a:rPr lang="en-US" sz="1900" b="1" dirty="0">
                <a:solidFill>
                  <a:srgbClr val="12507B"/>
                </a:solidFill>
                <a:latin typeface="Cambria" pitchFamily="34" charset="0"/>
                <a:ea typeface="Cambria" pitchFamily="34" charset="-122"/>
                <a:cs typeface="Cambria" pitchFamily="34" charset="-120"/>
              </a:rPr>
              <a:t>+$4.2B – $19.6B</a:t>
            </a:r>
            <a:endParaRPr lang="en-US" sz="1900" dirty="0"/>
          </a:p>
        </p:txBody>
      </p:sp>
      <p:sp>
        <p:nvSpPr>
          <p:cNvPr id="13" name="Shape 9"/>
          <p:cNvSpPr/>
          <p:nvPr/>
        </p:nvSpPr>
        <p:spPr>
          <a:xfrm>
            <a:off x="548640" y="3328416"/>
            <a:ext cx="5989320" cy="1078992"/>
          </a:xfrm>
          <a:prstGeom prst="roundRect">
            <a:avLst>
              <a:gd name="adj" fmla="val 5932"/>
            </a:avLst>
          </a:prstGeom>
          <a:solidFill>
            <a:srgbClr val="F4F7FA"/>
          </a:solidFill>
          <a:ln/>
          <a:effectLst>
            <a:outerShdw sx="100000" sy="100000" kx="0" ky="0" algn="bl" rotWithShape="0" blurRad="88900" dist="38100" dir="5400000">
              <a:srgbClr val="000000">
                <a:alpha val="16000"/>
              </a:srgbClr>
            </a:outerShdw>
          </a:effectLst>
        </p:spPr>
      </p:sp>
      <p:sp>
        <p:nvSpPr>
          <p:cNvPr id="14" name="Shape 10"/>
          <p:cNvSpPr/>
          <p:nvPr/>
        </p:nvSpPr>
        <p:spPr>
          <a:xfrm>
            <a:off x="749808" y="3639312"/>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15" name="Image 2" descr="preencoded.png">    </p:cNvPr>
          <p:cNvPicPr>
            <a:picLocks noChangeAspect="1"/>
          </p:cNvPicPr>
          <p:nvPr/>
        </p:nvPicPr>
        <p:blipFill>
          <a:blip r:embed="rId3"/>
          <a:stretch>
            <a:fillRect/>
          </a:stretch>
        </p:blipFill>
        <p:spPr>
          <a:xfrm>
            <a:off x="859536" y="3749040"/>
            <a:ext cx="237744" cy="237744"/>
          </a:xfrm>
          <a:prstGeom prst="rect">
            <a:avLst/>
          </a:prstGeom>
        </p:spPr>
      </p:pic>
      <p:sp>
        <p:nvSpPr>
          <p:cNvPr id="16" name="Text 11"/>
          <p:cNvSpPr/>
          <p:nvPr/>
        </p:nvSpPr>
        <p:spPr>
          <a:xfrm>
            <a:off x="1325880" y="3474720"/>
            <a:ext cx="2651760" cy="292608"/>
          </a:xfrm>
          <a:prstGeom prst="rect">
            <a:avLst/>
          </a:prstGeom>
          <a:noFill/>
          <a:ln/>
        </p:spPr>
        <p:txBody>
          <a:bodyPr wrap="square" lIns="0" tIns="0" rIns="0" bIns="0" rtlCol="0" anchor="ctr"/>
          <a:lstStyle/>
          <a:p>
            <a:pPr indent="0" marL="0">
              <a:buNone/>
            </a:pPr>
            <a:r>
              <a:rPr lang="en-US" sz="1350" b="1" dirty="0">
                <a:solidFill>
                  <a:srgbClr val="0A2540"/>
                </a:solidFill>
                <a:latin typeface="Cambria" pitchFamily="34" charset="0"/>
                <a:ea typeface="Cambria" pitchFamily="34" charset="-122"/>
                <a:cs typeface="Cambria" pitchFamily="34" charset="-120"/>
              </a:rPr>
              <a:t>Climb the Value Chain</a:t>
            </a:r>
            <a:endParaRPr lang="en-US" sz="1350" dirty="0"/>
          </a:p>
        </p:txBody>
      </p:sp>
      <p:sp>
        <p:nvSpPr>
          <p:cNvPr id="17" name="Text 12"/>
          <p:cNvSpPr/>
          <p:nvPr/>
        </p:nvSpPr>
        <p:spPr>
          <a:xfrm>
            <a:off x="1325880" y="3785616"/>
            <a:ext cx="2926080" cy="548640"/>
          </a:xfrm>
          <a:prstGeom prst="rect">
            <a:avLst/>
          </a:prstGeom>
          <a:noFill/>
          <a:ln/>
        </p:spPr>
        <p:txBody>
          <a:bodyPr wrap="square" lIns="0" tIns="0" rIns="0" bIns="0" rtlCol="0" anchor="ctr"/>
          <a:lstStyle/>
          <a:p>
            <a:pPr indent="0" marL="0">
              <a:lnSpc>
                <a:spcPts val="1200"/>
              </a:lnSpc>
              <a:buNone/>
            </a:pPr>
            <a:r>
              <a:rPr lang="en-US" sz="930" dirty="0">
                <a:solidFill>
                  <a:srgbClr val="5C6875"/>
                </a:solidFill>
                <a:latin typeface="Calibri" pitchFamily="34" charset="0"/>
                <a:ea typeface="Calibri" pitchFamily="34" charset="-122"/>
                <a:cs typeface="Calibri" pitchFamily="34" charset="-120"/>
              </a:rPr>
              <a:t>480% ROI · 5–8 yrs · builds ~60% of the manufacturing goal</a:t>
            </a:r>
            <a:endParaRPr lang="en-US" sz="930" dirty="0"/>
          </a:p>
        </p:txBody>
      </p:sp>
      <p:sp>
        <p:nvSpPr>
          <p:cNvPr id="18" name="Text 13"/>
          <p:cNvSpPr/>
          <p:nvPr/>
        </p:nvSpPr>
        <p:spPr>
          <a:xfrm>
            <a:off x="4206240" y="3346704"/>
            <a:ext cx="2286000" cy="1042416"/>
          </a:xfrm>
          <a:prstGeom prst="rect">
            <a:avLst/>
          </a:prstGeom>
          <a:noFill/>
          <a:ln/>
        </p:spPr>
        <p:txBody>
          <a:bodyPr wrap="square" lIns="0" tIns="0" rIns="0" bIns="0" rtlCol="0" anchor="ctr"/>
          <a:lstStyle/>
          <a:p>
            <a:pPr algn="r" indent="0" marL="0">
              <a:buNone/>
            </a:pPr>
            <a:r>
              <a:rPr lang="en-US" sz="1900" b="1" dirty="0">
                <a:solidFill>
                  <a:srgbClr val="12507B"/>
                </a:solidFill>
                <a:latin typeface="Cambria" pitchFamily="34" charset="0"/>
                <a:ea typeface="Cambria" pitchFamily="34" charset="-122"/>
                <a:cs typeface="Cambria" pitchFamily="34" charset="-120"/>
              </a:rPr>
              <a:t>+$12.5B – $95B</a:t>
            </a:r>
            <a:endParaRPr lang="en-US" sz="1900" dirty="0"/>
          </a:p>
        </p:txBody>
      </p:sp>
      <p:sp>
        <p:nvSpPr>
          <p:cNvPr id="19" name="Shape 14"/>
          <p:cNvSpPr/>
          <p:nvPr/>
        </p:nvSpPr>
        <p:spPr>
          <a:xfrm>
            <a:off x="548640" y="4553712"/>
            <a:ext cx="5989320" cy="1078992"/>
          </a:xfrm>
          <a:prstGeom prst="roundRect">
            <a:avLst>
              <a:gd name="adj" fmla="val 5932"/>
            </a:avLst>
          </a:prstGeom>
          <a:solidFill>
            <a:srgbClr val="F4F7FA"/>
          </a:solidFill>
          <a:ln/>
          <a:effectLst>
            <a:outerShdw sx="100000" sy="100000" kx="0" ky="0" algn="bl" rotWithShape="0" blurRad="88900" dist="38100" dir="5400000">
              <a:srgbClr val="000000">
                <a:alpha val="16000"/>
              </a:srgbClr>
            </a:outerShdw>
          </a:effectLst>
        </p:spPr>
      </p:sp>
      <p:sp>
        <p:nvSpPr>
          <p:cNvPr id="20" name="Shape 15"/>
          <p:cNvSpPr/>
          <p:nvPr/>
        </p:nvSpPr>
        <p:spPr>
          <a:xfrm>
            <a:off x="749808" y="4864608"/>
            <a:ext cx="457200" cy="457200"/>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21" name="Image 3" descr="preencoded.png">    </p:cNvPr>
          <p:cNvPicPr>
            <a:picLocks noChangeAspect="1"/>
          </p:cNvPicPr>
          <p:nvPr/>
        </p:nvPicPr>
        <p:blipFill>
          <a:blip r:embed="rId4"/>
          <a:stretch>
            <a:fillRect/>
          </a:stretch>
        </p:blipFill>
        <p:spPr>
          <a:xfrm>
            <a:off x="859536" y="4974336"/>
            <a:ext cx="237744" cy="237744"/>
          </a:xfrm>
          <a:prstGeom prst="rect">
            <a:avLst/>
          </a:prstGeom>
        </p:spPr>
      </p:pic>
      <p:sp>
        <p:nvSpPr>
          <p:cNvPr id="22" name="Text 16"/>
          <p:cNvSpPr/>
          <p:nvPr/>
        </p:nvSpPr>
        <p:spPr>
          <a:xfrm>
            <a:off x="1325880" y="4700016"/>
            <a:ext cx="2651760" cy="292608"/>
          </a:xfrm>
          <a:prstGeom prst="rect">
            <a:avLst/>
          </a:prstGeom>
          <a:noFill/>
          <a:ln/>
        </p:spPr>
        <p:txBody>
          <a:bodyPr wrap="square" lIns="0" tIns="0" rIns="0" bIns="0" rtlCol="0" anchor="ctr"/>
          <a:lstStyle/>
          <a:p>
            <a:pPr indent="0" marL="0">
              <a:buNone/>
            </a:pPr>
            <a:r>
              <a:rPr lang="en-US" sz="1350" b="1" dirty="0">
                <a:solidFill>
                  <a:srgbClr val="0A2540"/>
                </a:solidFill>
                <a:latin typeface="Cambria" pitchFamily="34" charset="0"/>
                <a:ea typeface="Cambria" pitchFamily="34" charset="-122"/>
                <a:cs typeface="Cambria" pitchFamily="34" charset="-120"/>
              </a:rPr>
              <a:t>Substitute Key Imports</a:t>
            </a:r>
            <a:endParaRPr lang="en-US" sz="1350" dirty="0"/>
          </a:p>
        </p:txBody>
      </p:sp>
      <p:sp>
        <p:nvSpPr>
          <p:cNvPr id="23" name="Text 17"/>
          <p:cNvSpPr/>
          <p:nvPr/>
        </p:nvSpPr>
        <p:spPr>
          <a:xfrm>
            <a:off x="1325880" y="5010912"/>
            <a:ext cx="2926080" cy="548640"/>
          </a:xfrm>
          <a:prstGeom prst="rect">
            <a:avLst/>
          </a:prstGeom>
          <a:noFill/>
          <a:ln/>
        </p:spPr>
        <p:txBody>
          <a:bodyPr wrap="square" lIns="0" tIns="0" rIns="0" bIns="0" rtlCol="0" anchor="ctr"/>
          <a:lstStyle/>
          <a:p>
            <a:pPr indent="0" marL="0">
              <a:lnSpc>
                <a:spcPts val="1200"/>
              </a:lnSpc>
              <a:buNone/>
            </a:pPr>
            <a:r>
              <a:rPr lang="en-US" sz="930" dirty="0">
                <a:solidFill>
                  <a:srgbClr val="5C6875"/>
                </a:solidFill>
                <a:latin typeface="Calibri" pitchFamily="34" charset="0"/>
                <a:ea typeface="Calibri" pitchFamily="34" charset="-122"/>
                <a:cs typeface="Calibri" pitchFamily="34" charset="-120"/>
              </a:rPr>
              <a:t>117% ROI · 4–8 yrs · narrows the trade-balance gap ~15%</a:t>
            </a:r>
            <a:endParaRPr lang="en-US" sz="930" dirty="0"/>
          </a:p>
        </p:txBody>
      </p:sp>
      <p:sp>
        <p:nvSpPr>
          <p:cNvPr id="24" name="Text 18"/>
          <p:cNvSpPr/>
          <p:nvPr/>
        </p:nvSpPr>
        <p:spPr>
          <a:xfrm>
            <a:off x="4206240" y="4572000"/>
            <a:ext cx="2286000" cy="1042416"/>
          </a:xfrm>
          <a:prstGeom prst="rect">
            <a:avLst/>
          </a:prstGeom>
          <a:noFill/>
          <a:ln/>
        </p:spPr>
        <p:txBody>
          <a:bodyPr wrap="square" lIns="0" tIns="0" rIns="0" bIns="0" rtlCol="0" anchor="ctr"/>
          <a:lstStyle/>
          <a:p>
            <a:pPr algn="r" indent="0" marL="0">
              <a:buNone/>
            </a:pPr>
            <a:r>
              <a:rPr lang="en-US" sz="1900" b="1" dirty="0">
                <a:solidFill>
                  <a:srgbClr val="12507B"/>
                </a:solidFill>
                <a:latin typeface="Cambria" pitchFamily="34" charset="0"/>
                <a:ea typeface="Cambria" pitchFamily="34" charset="-122"/>
                <a:cs typeface="Cambria" pitchFamily="34" charset="-120"/>
              </a:rPr>
              <a:t>+$1.8B – $4.5B</a:t>
            </a:r>
            <a:endParaRPr lang="en-US" sz="1900" dirty="0"/>
          </a:p>
        </p:txBody>
      </p:sp>
      <p:sp>
        <p:nvSpPr>
          <p:cNvPr id="25" name="Shape 19"/>
          <p:cNvSpPr/>
          <p:nvPr/>
        </p:nvSpPr>
        <p:spPr>
          <a:xfrm>
            <a:off x="6766560" y="2103120"/>
            <a:ext cx="4846320" cy="3529584"/>
          </a:xfrm>
          <a:prstGeom prst="roundRect">
            <a:avLst>
              <a:gd name="adj" fmla="val 2073"/>
            </a:avLst>
          </a:prstGeom>
          <a:solidFill>
            <a:srgbClr val="0A2540"/>
          </a:solidFill>
          <a:ln/>
          <a:effectLst>
            <a:outerShdw sx="100000" sy="100000" kx="0" ky="0" algn="bl" rotWithShape="0" blurRad="88900" dist="38100" dir="5400000">
              <a:srgbClr val="000000">
                <a:alpha val="16000"/>
              </a:srgbClr>
            </a:outerShdw>
          </a:effectLst>
        </p:spPr>
      </p:sp>
      <p:sp>
        <p:nvSpPr>
          <p:cNvPr id="26" name="Text 20"/>
          <p:cNvSpPr/>
          <p:nvPr/>
        </p:nvSpPr>
        <p:spPr>
          <a:xfrm>
            <a:off x="7040880" y="2331720"/>
            <a:ext cx="4297680" cy="274320"/>
          </a:xfrm>
          <a:prstGeom prst="rect">
            <a:avLst/>
          </a:prstGeom>
          <a:noFill/>
          <a:ln/>
        </p:spPr>
        <p:txBody>
          <a:bodyPr wrap="square" lIns="0" tIns="0" rIns="0" bIns="0" rtlCol="0" anchor="ctr"/>
          <a:lstStyle/>
          <a:p>
            <a:pPr indent="0" marL="0">
              <a:buNone/>
            </a:pPr>
            <a:r>
              <a:rPr lang="en-US" sz="1100" b="1" spc="150" kern="0" dirty="0">
                <a:solidFill>
                  <a:srgbClr val="E9CD82"/>
                </a:solidFill>
                <a:latin typeface="Calibri" pitchFamily="34" charset="0"/>
                <a:ea typeface="Calibri" pitchFamily="34" charset="-122"/>
                <a:cs typeface="Calibri" pitchFamily="34" charset="-120"/>
              </a:rPr>
              <a:t>TOTAL OPPORTUNITY — ALL 21 SCENARIOS</a:t>
            </a:r>
            <a:endParaRPr lang="en-US" sz="1100" dirty="0"/>
          </a:p>
        </p:txBody>
      </p:sp>
      <p:sp>
        <p:nvSpPr>
          <p:cNvPr id="27" name="Text 21"/>
          <p:cNvSpPr/>
          <p:nvPr/>
        </p:nvSpPr>
        <p:spPr>
          <a:xfrm>
            <a:off x="7040880" y="2697480"/>
            <a:ext cx="438912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+$18.5B</a:t>
            </a:r>
            <a:pPr algn="l" indent="0" marL="0">
              <a:buNone/>
            </a:pPr>
            <a:r>
              <a:rPr lang="en-US" sz="1800" dirty="0">
                <a:solidFill>
                  <a:srgbClr val="CADCFC"/>
                </a:solidFill>
                <a:latin typeface="Cambria" pitchFamily="34" charset="0"/>
                <a:ea typeface="Cambria" pitchFamily="34" charset="-122"/>
                <a:cs typeface="Cambria" pitchFamily="34" charset="-120"/>
              </a:rPr>
              <a:t>  to  </a:t>
            </a:r>
            <a:pPr algn="l" indent="0" marL="0">
              <a:buNone/>
            </a:pPr>
            <a:r>
              <a:rPr lang="en-US" sz="4000" b="1" dirty="0">
                <a:solidFill>
                  <a:srgbClr val="E9CD82"/>
                </a:solidFill>
                <a:latin typeface="Cambria" pitchFamily="34" charset="0"/>
                <a:ea typeface="Cambria" pitchFamily="34" charset="-122"/>
                <a:cs typeface="Cambria" pitchFamily="34" charset="-120"/>
              </a:rPr>
              <a:t>+$119B</a:t>
            </a:r>
            <a:endParaRPr lang="en-US" sz="4000" dirty="0"/>
          </a:p>
        </p:txBody>
      </p:sp>
      <p:sp>
        <p:nvSpPr>
          <p:cNvPr id="28" name="Text 22"/>
          <p:cNvSpPr/>
          <p:nvPr/>
        </p:nvSpPr>
        <p:spPr>
          <a:xfrm>
            <a:off x="7040880" y="3520440"/>
            <a:ext cx="4297680" cy="36576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in additional annual export revenue (conservative → optimistic)</a:t>
            </a:r>
            <a:endParaRPr lang="en-US" sz="1100" dirty="0"/>
          </a:p>
        </p:txBody>
      </p:sp>
      <p:sp>
        <p:nvSpPr>
          <p:cNvPr id="29" name="Text 23"/>
          <p:cNvSpPr/>
          <p:nvPr/>
        </p:nvSpPr>
        <p:spPr>
          <a:xfrm>
            <a:off x="7040880" y="4069080"/>
            <a:ext cx="1417320" cy="365760"/>
          </a:xfrm>
          <a:prstGeom prst="rect">
            <a:avLst/>
          </a:prstGeom>
          <a:noFill/>
          <a:ln/>
        </p:spPr>
        <p:txBody>
          <a:bodyPr wrap="square" lIns="0" tIns="0" rIns="0" bIns="0" rtlCol="0" anchor="ctr"/>
          <a:lstStyle/>
          <a:p>
            <a:pPr algn="l" indent="0" marL="0">
              <a:buNone/>
            </a:pPr>
            <a:r>
              <a:rPr lang="en-US" sz="1800" b="1" dirty="0">
                <a:solidFill>
                  <a:srgbClr val="E9CD82"/>
                </a:solidFill>
                <a:latin typeface="Cambria" pitchFamily="34" charset="0"/>
                <a:ea typeface="Cambria" pitchFamily="34" charset="-122"/>
                <a:cs typeface="Cambria" pitchFamily="34" charset="-120"/>
              </a:rPr>
              <a:t>366%</a:t>
            </a:r>
            <a:endParaRPr lang="en-US" sz="1800" dirty="0"/>
          </a:p>
        </p:txBody>
      </p:sp>
      <p:sp>
        <p:nvSpPr>
          <p:cNvPr id="30" name="Text 24"/>
          <p:cNvSpPr/>
          <p:nvPr/>
        </p:nvSpPr>
        <p:spPr>
          <a:xfrm>
            <a:off x="7040880" y="4434840"/>
            <a:ext cx="1417320" cy="502920"/>
          </a:xfrm>
          <a:prstGeom prst="rect">
            <a:avLst/>
          </a:prstGeom>
          <a:noFill/>
          <a:ln/>
        </p:spPr>
        <p:txBody>
          <a:bodyPr wrap="square" lIns="0" tIns="0" rIns="0" bIns="0" rtlCol="0" anchor="ctr"/>
          <a:lstStyle/>
          <a:p>
            <a:pPr algn="l" indent="0" marL="0">
              <a:lnSpc>
                <a:spcPts val="1000"/>
              </a:lnSpc>
              <a:buNone/>
            </a:pPr>
            <a:r>
              <a:rPr lang="en-US" sz="860" dirty="0">
                <a:solidFill>
                  <a:srgbClr val="CADCFC"/>
                </a:solidFill>
                <a:latin typeface="Calibri" pitchFamily="34" charset="0"/>
                <a:ea typeface="Calibri" pitchFamily="34" charset="-122"/>
                <a:cs typeface="Calibri" pitchFamily="34" charset="-120"/>
              </a:rPr>
              <a:t>Return on investment</a:t>
            </a:r>
            <a:endParaRPr lang="en-US" sz="860" dirty="0"/>
          </a:p>
        </p:txBody>
      </p:sp>
      <p:sp>
        <p:nvSpPr>
          <p:cNvPr id="31" name="Text 25"/>
          <p:cNvSpPr/>
          <p:nvPr/>
        </p:nvSpPr>
        <p:spPr>
          <a:xfrm>
            <a:off x="8531352" y="4069080"/>
            <a:ext cx="1417320" cy="365760"/>
          </a:xfrm>
          <a:prstGeom prst="rect">
            <a:avLst/>
          </a:prstGeom>
          <a:noFill/>
          <a:ln/>
        </p:spPr>
        <p:txBody>
          <a:bodyPr wrap="square" lIns="0" tIns="0" rIns="0" bIns="0" rtlCol="0" anchor="ctr"/>
          <a:lstStyle/>
          <a:p>
            <a:pPr algn="l" indent="0" marL="0">
              <a:buNone/>
            </a:pPr>
            <a:r>
              <a:rPr lang="en-US" sz="1800" b="1" dirty="0">
                <a:solidFill>
                  <a:srgbClr val="E9CD82"/>
                </a:solidFill>
                <a:latin typeface="Cambria" pitchFamily="34" charset="0"/>
                <a:ea typeface="Cambria" pitchFamily="34" charset="-122"/>
                <a:cs typeface="Cambria" pitchFamily="34" charset="-120"/>
              </a:rPr>
              <a:t>$27.8B</a:t>
            </a:r>
            <a:endParaRPr lang="en-US" sz="1800" dirty="0"/>
          </a:p>
        </p:txBody>
      </p:sp>
      <p:sp>
        <p:nvSpPr>
          <p:cNvPr id="32" name="Text 26"/>
          <p:cNvSpPr/>
          <p:nvPr/>
        </p:nvSpPr>
        <p:spPr>
          <a:xfrm>
            <a:off x="8531352" y="4434840"/>
            <a:ext cx="1417320" cy="502920"/>
          </a:xfrm>
          <a:prstGeom prst="rect">
            <a:avLst/>
          </a:prstGeom>
          <a:noFill/>
          <a:ln/>
        </p:spPr>
        <p:txBody>
          <a:bodyPr wrap="square" lIns="0" tIns="0" rIns="0" bIns="0" rtlCol="0" anchor="ctr"/>
          <a:lstStyle/>
          <a:p>
            <a:pPr algn="l" indent="0" marL="0">
              <a:lnSpc>
                <a:spcPts val="1000"/>
              </a:lnSpc>
              <a:buNone/>
            </a:pPr>
            <a:r>
              <a:rPr lang="en-US" sz="860" dirty="0">
                <a:solidFill>
                  <a:srgbClr val="CADCFC"/>
                </a:solidFill>
                <a:latin typeface="Calibri" pitchFamily="34" charset="0"/>
                <a:ea typeface="Calibri" pitchFamily="34" charset="-122"/>
                <a:cs typeface="Calibri" pitchFamily="34" charset="-120"/>
              </a:rPr>
              <a:t>Total investment</a:t>
            </a:r>
            <a:endParaRPr lang="en-US" sz="860" dirty="0"/>
          </a:p>
        </p:txBody>
      </p:sp>
      <p:sp>
        <p:nvSpPr>
          <p:cNvPr id="33" name="Text 27"/>
          <p:cNvSpPr/>
          <p:nvPr/>
        </p:nvSpPr>
        <p:spPr>
          <a:xfrm>
            <a:off x="10021824" y="4069080"/>
            <a:ext cx="1417320" cy="365760"/>
          </a:xfrm>
          <a:prstGeom prst="rect">
            <a:avLst/>
          </a:prstGeom>
          <a:noFill/>
          <a:ln/>
        </p:spPr>
        <p:txBody>
          <a:bodyPr wrap="square" lIns="0" tIns="0" rIns="0" bIns="0" rtlCol="0" anchor="ctr"/>
          <a:lstStyle/>
          <a:p>
            <a:pPr algn="l" indent="0" marL="0">
              <a:buNone/>
            </a:pPr>
            <a:r>
              <a:rPr lang="en-US" sz="1800" b="1" dirty="0">
                <a:solidFill>
                  <a:srgbClr val="E9CD82"/>
                </a:solidFill>
                <a:latin typeface="Cambria" pitchFamily="34" charset="0"/>
                <a:ea typeface="Cambria" pitchFamily="34" charset="-122"/>
                <a:cs typeface="Cambria" pitchFamily="34" charset="-120"/>
              </a:rPr>
              <a:t>100%+</a:t>
            </a:r>
            <a:endParaRPr lang="en-US" sz="1800" dirty="0"/>
          </a:p>
        </p:txBody>
      </p:sp>
      <p:sp>
        <p:nvSpPr>
          <p:cNvPr id="34" name="Text 28"/>
          <p:cNvSpPr/>
          <p:nvPr/>
        </p:nvSpPr>
        <p:spPr>
          <a:xfrm>
            <a:off x="10021824" y="4434840"/>
            <a:ext cx="1417320" cy="502920"/>
          </a:xfrm>
          <a:prstGeom prst="rect">
            <a:avLst/>
          </a:prstGeom>
          <a:noFill/>
          <a:ln/>
        </p:spPr>
        <p:txBody>
          <a:bodyPr wrap="square" lIns="0" tIns="0" rIns="0" bIns="0" rtlCol="0" anchor="ctr"/>
          <a:lstStyle/>
          <a:p>
            <a:pPr algn="l" indent="0" marL="0">
              <a:lnSpc>
                <a:spcPts val="1000"/>
              </a:lnSpc>
              <a:buNone/>
            </a:pPr>
            <a:r>
              <a:rPr lang="en-US" sz="860" dirty="0">
                <a:solidFill>
                  <a:srgbClr val="CADCFC"/>
                </a:solidFill>
                <a:latin typeface="Calibri" pitchFamily="34" charset="0"/>
                <a:ea typeface="Calibri" pitchFamily="34" charset="-122"/>
                <a:cs typeface="Calibri" pitchFamily="34" charset="-120"/>
              </a:rPr>
              <a:t>of Vision 2030 export goal</a:t>
            </a:r>
            <a:endParaRPr lang="en-US" sz="860" dirty="0"/>
          </a:p>
        </p:txBody>
      </p:sp>
      <p:sp>
        <p:nvSpPr>
          <p:cNvPr id="35" name="Shape 29"/>
          <p:cNvSpPr/>
          <p:nvPr/>
        </p:nvSpPr>
        <p:spPr>
          <a:xfrm>
            <a:off x="7040880" y="5074920"/>
            <a:ext cx="4297680" cy="0"/>
          </a:xfrm>
          <a:prstGeom prst="line">
            <a:avLst/>
          </a:prstGeom>
          <a:noFill/>
          <a:ln w="12700">
            <a:solidFill>
              <a:srgbClr val="2F5170"/>
            </a:solidFill>
            <a:prstDash val="solid"/>
          </a:ln>
        </p:spPr>
      </p:sp>
      <p:sp>
        <p:nvSpPr>
          <p:cNvPr id="36" name="Text 30"/>
          <p:cNvSpPr/>
          <p:nvPr/>
        </p:nvSpPr>
        <p:spPr>
          <a:xfrm>
            <a:off x="7040880" y="5175504"/>
            <a:ext cx="4297680" cy="411480"/>
          </a:xfrm>
          <a:prstGeom prst="rect">
            <a:avLst/>
          </a:prstGeom>
          <a:noFill/>
          <a:ln/>
        </p:spPr>
        <p:txBody>
          <a:bodyPr wrap="square" lIns="0" tIns="0" rIns="0" bIns="0" rtlCol="0" anchor="ctr"/>
          <a:lstStyle/>
          <a:p>
            <a:pPr indent="0" marL="0">
              <a:lnSpc>
                <a:spcPts val="1250"/>
              </a:lnSpc>
              <a:buNone/>
            </a:pPr>
            <a:r>
              <a:rPr lang="en-US" sz="1000" i="1" dirty="0">
                <a:solidFill>
                  <a:srgbClr val="FFFFFF"/>
                </a:solidFill>
                <a:latin typeface="Calibri" pitchFamily="34" charset="0"/>
                <a:ea typeface="Calibri" pitchFamily="34" charset="-122"/>
                <a:cs typeface="Calibri" pitchFamily="34" charset="-120"/>
              </a:rPr>
              <a:t>Exceeds the Vision 2030 export target in full — with no new resources, only better value capture.</a:t>
            </a:r>
            <a:endParaRPr lang="en-US" sz="1000" dirty="0"/>
          </a:p>
        </p:txBody>
      </p:sp>
      <p:sp>
        <p:nvSpPr>
          <p:cNvPr id="37" name="Text 31"/>
          <p:cNvSpPr/>
          <p:nvPr/>
        </p:nvSpPr>
        <p:spPr>
          <a:xfrm>
            <a:off x="548640" y="5806440"/>
            <a:ext cx="3657600" cy="274320"/>
          </a:xfrm>
          <a:prstGeom prst="rect">
            <a:avLst/>
          </a:prstGeom>
          <a:noFill/>
          <a:ln/>
        </p:spPr>
        <p:txBody>
          <a:bodyPr wrap="square" lIns="0" tIns="0" rIns="0" bIns="0" rtlCol="0" anchor="ctr"/>
          <a:lstStyle/>
          <a:p>
            <a:pPr indent="0" marL="0">
              <a:buNone/>
            </a:pPr>
            <a:r>
              <a:rPr lang="en-US" sz="1300" b="1" dirty="0">
                <a:solidFill>
                  <a:srgbClr val="0A2540"/>
                </a:solidFill>
                <a:latin typeface="Cambria" pitchFamily="34" charset="0"/>
                <a:ea typeface="Cambria" pitchFamily="34" charset="-122"/>
                <a:cs typeface="Cambria" pitchFamily="34" charset="-120"/>
              </a:rPr>
              <a:t>Beyond revenue</a:t>
            </a:r>
            <a:endParaRPr lang="en-US" sz="1300" dirty="0"/>
          </a:p>
        </p:txBody>
      </p:sp>
      <p:sp>
        <p:nvSpPr>
          <p:cNvPr id="38" name="Shape 32"/>
          <p:cNvSpPr/>
          <p:nvPr/>
        </p:nvSpPr>
        <p:spPr>
          <a:xfrm>
            <a:off x="548640" y="6126480"/>
            <a:ext cx="402336" cy="402336"/>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39" name="Image 4" descr="preencoded.png">    </p:cNvPr>
          <p:cNvPicPr>
            <a:picLocks noChangeAspect="1"/>
          </p:cNvPicPr>
          <p:nvPr/>
        </p:nvPicPr>
        <p:blipFill>
          <a:blip r:embed="rId5"/>
          <a:stretch>
            <a:fillRect/>
          </a:stretch>
        </p:blipFill>
        <p:spPr>
          <a:xfrm>
            <a:off x="645201" y="6223041"/>
            <a:ext cx="209215" cy="209215"/>
          </a:xfrm>
          <a:prstGeom prst="rect">
            <a:avLst/>
          </a:prstGeom>
        </p:spPr>
      </p:pic>
      <p:sp>
        <p:nvSpPr>
          <p:cNvPr id="40" name="Text 33"/>
          <p:cNvSpPr/>
          <p:nvPr/>
        </p:nvSpPr>
        <p:spPr>
          <a:xfrm>
            <a:off x="1051560" y="6089904"/>
            <a:ext cx="3136392" cy="502920"/>
          </a:xfrm>
          <a:prstGeom prst="rect">
            <a:avLst/>
          </a:prstGeom>
          <a:noFill/>
          <a:ln/>
        </p:spPr>
        <p:txBody>
          <a:bodyPr wrap="square" lIns="0" tIns="0" rIns="0" bIns="0" rtlCol="0" anchor="ctr"/>
          <a:lstStyle/>
          <a:p>
            <a:pPr indent="0" marL="0">
              <a:lnSpc>
                <a:spcPts val="1150"/>
              </a:lnSpc>
              <a:buNone/>
            </a:pPr>
            <a:r>
              <a:rPr lang="en-US" sz="920" b="1" dirty="0">
                <a:solidFill>
                  <a:srgbClr val="12507B"/>
                </a:solidFill>
                <a:latin typeface="Calibri" pitchFamily="34" charset="0"/>
                <a:ea typeface="Calibri" pitchFamily="34" charset="-122"/>
                <a:cs typeface="Calibri" pitchFamily="34" charset="-120"/>
              </a:rPr>
              <a:t>~300,000+ jobs  </a:t>
            </a:r>
            <a:pPr indent="0" marL="0">
              <a:lnSpc>
                <a:spcPts val="1150"/>
              </a:lnSpc>
              <a:buNone/>
            </a:pPr>
            <a:r>
              <a:rPr lang="en-US" sz="920" dirty="0">
                <a:solidFill>
                  <a:srgbClr val="5C6875"/>
                </a:solidFill>
                <a:latin typeface="Calibri" pitchFamily="34" charset="0"/>
                <a:ea typeface="Calibri" pitchFamily="34" charset="-122"/>
                <a:cs typeface="Calibri" pitchFamily="34" charset="-120"/>
              </a:rPr>
              <a:t>across new processing &amp; export industries</a:t>
            </a:r>
            <a:endParaRPr lang="en-US" sz="920" dirty="0"/>
          </a:p>
        </p:txBody>
      </p:sp>
      <p:sp>
        <p:nvSpPr>
          <p:cNvPr id="41" name="Shape 34"/>
          <p:cNvSpPr/>
          <p:nvPr/>
        </p:nvSpPr>
        <p:spPr>
          <a:xfrm>
            <a:off x="4343400" y="6126480"/>
            <a:ext cx="402336" cy="402336"/>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42" name="Image 5" descr="preencoded.png">    </p:cNvPr>
          <p:cNvPicPr>
            <a:picLocks noChangeAspect="1"/>
          </p:cNvPicPr>
          <p:nvPr/>
        </p:nvPicPr>
        <p:blipFill>
          <a:blip r:embed="rId6"/>
          <a:stretch>
            <a:fillRect/>
          </a:stretch>
        </p:blipFill>
        <p:spPr>
          <a:xfrm>
            <a:off x="4439961" y="6223041"/>
            <a:ext cx="209215" cy="209215"/>
          </a:xfrm>
          <a:prstGeom prst="rect">
            <a:avLst/>
          </a:prstGeom>
        </p:spPr>
      </p:pic>
      <p:sp>
        <p:nvSpPr>
          <p:cNvPr id="43" name="Text 35"/>
          <p:cNvSpPr/>
          <p:nvPr/>
        </p:nvSpPr>
        <p:spPr>
          <a:xfrm>
            <a:off x="4846320" y="6089904"/>
            <a:ext cx="3136392" cy="502920"/>
          </a:xfrm>
          <a:prstGeom prst="rect">
            <a:avLst/>
          </a:prstGeom>
          <a:noFill/>
          <a:ln/>
        </p:spPr>
        <p:txBody>
          <a:bodyPr wrap="square" lIns="0" tIns="0" rIns="0" bIns="0" rtlCol="0" anchor="ctr"/>
          <a:lstStyle/>
          <a:p>
            <a:pPr indent="0" marL="0">
              <a:lnSpc>
                <a:spcPts val="1150"/>
              </a:lnSpc>
              <a:buNone/>
            </a:pPr>
            <a:r>
              <a:rPr lang="en-US" sz="920" b="1" dirty="0">
                <a:solidFill>
                  <a:srgbClr val="12507B"/>
                </a:solidFill>
                <a:latin typeface="Calibri" pitchFamily="34" charset="0"/>
                <a:ea typeface="Calibri" pitchFamily="34" charset="-122"/>
                <a:cs typeface="Calibri" pitchFamily="34" charset="-120"/>
              </a:rPr>
              <a:t>Stronger FX &amp; reserves  </a:t>
            </a:r>
            <a:pPr indent="0" marL="0">
              <a:lnSpc>
                <a:spcPts val="1150"/>
              </a:lnSpc>
              <a:buNone/>
            </a:pPr>
            <a:r>
              <a:rPr lang="en-US" sz="920" dirty="0">
                <a:solidFill>
                  <a:srgbClr val="5C6875"/>
                </a:solidFill>
                <a:latin typeface="Calibri" pitchFamily="34" charset="0"/>
                <a:ea typeface="Calibri" pitchFamily="34" charset="-122"/>
                <a:cs typeface="Calibri" pitchFamily="34" charset="-120"/>
              </a:rPr>
              <a:t>more export dollars ease the currency constraint</a:t>
            </a:r>
            <a:endParaRPr lang="en-US" sz="920" dirty="0"/>
          </a:p>
        </p:txBody>
      </p:sp>
      <p:sp>
        <p:nvSpPr>
          <p:cNvPr id="44" name="Shape 36"/>
          <p:cNvSpPr/>
          <p:nvPr/>
        </p:nvSpPr>
        <p:spPr>
          <a:xfrm>
            <a:off x="8138160" y="6126480"/>
            <a:ext cx="402336" cy="402336"/>
          </a:xfrm>
          <a:prstGeom prst="ellipse">
            <a:avLst/>
          </a:prstGeom>
          <a:solidFill>
            <a:srgbClr val="E9CD82"/>
          </a:solidFill>
          <a:ln/>
          <a:effectLst>
            <a:outerShdw sx="100000" sy="100000" kx="0" ky="0" algn="bl" rotWithShape="0" blurRad="88900" dist="38100" dir="5400000">
              <a:srgbClr val="000000">
                <a:alpha val="16000"/>
              </a:srgbClr>
            </a:outerShdw>
          </a:effectLst>
        </p:spPr>
      </p:sp>
      <p:pic>
        <p:nvPicPr>
          <p:cNvPr id="45" name="Image 6" descr="preencoded.png">    </p:cNvPr>
          <p:cNvPicPr>
            <a:picLocks noChangeAspect="1"/>
          </p:cNvPicPr>
          <p:nvPr/>
        </p:nvPicPr>
        <p:blipFill>
          <a:blip r:embed="rId7"/>
          <a:stretch>
            <a:fillRect/>
          </a:stretch>
        </p:blipFill>
        <p:spPr>
          <a:xfrm>
            <a:off x="8234721" y="6223041"/>
            <a:ext cx="209215" cy="209215"/>
          </a:xfrm>
          <a:prstGeom prst="rect">
            <a:avLst/>
          </a:prstGeom>
        </p:spPr>
      </p:pic>
      <p:sp>
        <p:nvSpPr>
          <p:cNvPr id="46" name="Text 37"/>
          <p:cNvSpPr/>
          <p:nvPr/>
        </p:nvSpPr>
        <p:spPr>
          <a:xfrm>
            <a:off x="8641080" y="6089904"/>
            <a:ext cx="3136392" cy="502920"/>
          </a:xfrm>
          <a:prstGeom prst="rect">
            <a:avLst/>
          </a:prstGeom>
          <a:noFill/>
          <a:ln/>
        </p:spPr>
        <p:txBody>
          <a:bodyPr wrap="square" lIns="0" tIns="0" rIns="0" bIns="0" rtlCol="0" anchor="ctr"/>
          <a:lstStyle/>
          <a:p>
            <a:pPr indent="0" marL="0">
              <a:lnSpc>
                <a:spcPts val="1150"/>
              </a:lnSpc>
              <a:buNone/>
            </a:pPr>
            <a:r>
              <a:rPr lang="en-US" sz="920" b="1" dirty="0">
                <a:solidFill>
                  <a:srgbClr val="12507B"/>
                </a:solidFill>
                <a:latin typeface="Calibri" pitchFamily="34" charset="0"/>
                <a:ea typeface="Calibri" pitchFamily="34" charset="-122"/>
                <a:cs typeface="Calibri" pitchFamily="34" charset="-120"/>
              </a:rPr>
              <a:t>A narrower deficit  </a:t>
            </a:r>
            <a:pPr indent="0" marL="0">
              <a:lnSpc>
                <a:spcPts val="1150"/>
              </a:lnSpc>
              <a:buNone/>
            </a:pPr>
            <a:r>
              <a:rPr lang="en-US" sz="920" dirty="0">
                <a:solidFill>
                  <a:srgbClr val="5C6875"/>
                </a:solidFill>
                <a:latin typeface="Calibri" pitchFamily="34" charset="0"/>
                <a:ea typeface="Calibri" pitchFamily="34" charset="-122"/>
                <a:cs typeface="Calibri" pitchFamily="34" charset="-120"/>
              </a:rPr>
              <a:t>less import dependence, greater resilience</a:t>
            </a:r>
            <a:endParaRPr lang="en-US" sz="920" dirty="0"/>
          </a:p>
        </p:txBody>
      </p:sp>
      <p:sp>
        <p:nvSpPr>
          <p:cNvPr id="47" name="Text 38"/>
          <p:cNvSpPr/>
          <p:nvPr/>
        </p:nvSpPr>
        <p:spPr>
          <a:xfrm>
            <a:off x="8138160" y="6263640"/>
            <a:ext cx="3566160" cy="365760"/>
          </a:xfrm>
          <a:prstGeom prst="rect">
            <a:avLst/>
          </a:prstGeom>
          <a:noFill/>
          <a:ln/>
        </p:spPr>
        <p:txBody>
          <a:bodyPr wrap="square" lIns="0" tIns="0" rIns="0" bIns="0" rtlCol="0" anchor="ctr"/>
          <a:lstStyle/>
          <a:p>
            <a:pPr algn="r" indent="0" marL="0">
              <a:buNone/>
            </a:pPr>
            <a:r>
              <a:rPr lang="en-US" sz="1500" b="1" dirty="0">
                <a:solidFill>
                  <a:srgbClr val="0A2540"/>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Egypt Trade Intelligence — Project Defense</dc:title>
  <dc:subject>PptxGenJS Presentation</dc:subject>
  <dc:creator>DEPI Data Analysis Track</dc:creator>
  <cp:lastModifiedBy>DEPI Data Analysis Track</cp:lastModifiedBy>
  <cp:revision>1</cp:revision>
  <dcterms:created xsi:type="dcterms:W3CDTF">2026-07-08T19:53:32Z</dcterms:created>
  <dcterms:modified xsi:type="dcterms:W3CDTF">2026-07-08T19:53:32Z</dcterms:modified>
</cp:coreProperties>
</file>