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www.linkedin.com/in/weam-ahmed-966b47333/" TargetMode="External"/><Relationship Id="rId2" Type="http://schemas.openxmlformats.org/officeDocument/2006/relationships/hyperlink" Target="https://www.linkedin.com/in/abdelrhman-safaa" TargetMode="External"/><Relationship Id="rId3" Type="http://schemas.openxmlformats.org/officeDocument/2006/relationships/hyperlink" Target="https://www.linkedin.com/in/abdelrahman-hossam-7427552b0/" TargetMode="External"/><Relationship Id="rId4" Type="http://schemas.openxmlformats.org/officeDocument/2006/relationships/hyperlink" Target="https://www.linkedin.com/in/andrew-hakim-223b333b7" TargetMode="External"/><Relationship Id="rId5" Type="http://schemas.openxmlformats.org/officeDocument/2006/relationships/hyperlink" Target="https://www.linkedin.com/in/wafik-wael-072941342" TargetMode="External"/><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342"/>
        </a:solidFill>
      </p:bgPr>
    </p:bg>
    <p:spTree>
      <p:nvGrpSpPr>
        <p:cNvPr id="1" name=""/>
        <p:cNvGrpSpPr/>
        <p:nvPr/>
      </p:nvGrpSpPr>
      <p:grpSpPr>
        <a:xfrm>
          <a:off x="0" y="0"/>
          <a:ext cx="0" cy="0"/>
          <a:chOff x="0" y="0"/>
          <a:chExt cx="0" cy="0"/>
        </a:xfrm>
      </p:grpSpPr>
      <p:sp>
        <p:nvSpPr>
          <p:cNvPr id="2" name="Shape 0"/>
          <p:cNvSpPr/>
          <p:nvPr/>
        </p:nvSpPr>
        <p:spPr>
          <a:xfrm>
            <a:off x="0" y="0"/>
            <a:ext cx="4754880" cy="5143500"/>
          </a:xfrm>
          <a:prstGeom prst="rect">
            <a:avLst/>
          </a:prstGeom>
          <a:solidFill>
            <a:srgbClr val="163A60"/>
          </a:solidFill>
          <a:ln w="12700">
            <a:solidFill>
              <a:srgbClr val="163A60"/>
            </a:solidFill>
            <a:prstDash val="solid"/>
          </a:ln>
        </p:spPr>
      </p:sp>
      <p:sp>
        <p:nvSpPr>
          <p:cNvPr id="3" name="Shape 1"/>
          <p:cNvSpPr/>
          <p:nvPr/>
        </p:nvSpPr>
        <p:spPr>
          <a:xfrm>
            <a:off x="4754880" y="0"/>
            <a:ext cx="54864" cy="5143500"/>
          </a:xfrm>
          <a:prstGeom prst="rect">
            <a:avLst/>
          </a:prstGeom>
          <a:solidFill>
            <a:srgbClr val="C9943A"/>
          </a:solidFill>
          <a:ln w="12700">
            <a:solidFill>
              <a:srgbClr val="C9943A"/>
            </a:solidFill>
            <a:prstDash val="solid"/>
          </a:ln>
        </p:spPr>
      </p:sp>
      <p:sp>
        <p:nvSpPr>
          <p:cNvPr id="4" name="Text 2"/>
          <p:cNvSpPr/>
          <p:nvPr/>
        </p:nvSpPr>
        <p:spPr>
          <a:xfrm>
            <a:off x="457200" y="548640"/>
            <a:ext cx="4114800" cy="274320"/>
          </a:xfrm>
          <a:prstGeom prst="rect">
            <a:avLst/>
          </a:prstGeom>
          <a:noFill/>
          <a:ln/>
        </p:spPr>
        <p:txBody>
          <a:bodyPr wrap="square" lIns="0" tIns="0" rIns="0" bIns="0" rtlCol="0" anchor="ctr"/>
          <a:lstStyle/>
          <a:p>
            <a:pPr indent="0" marL="0">
              <a:buNone/>
            </a:pPr>
            <a:r>
              <a:rPr lang="en-US" sz="1000" b="1" spc="400" kern="0" dirty="0">
                <a:solidFill>
                  <a:srgbClr val="C9943A"/>
                </a:solidFill>
                <a:latin typeface="Calibri" pitchFamily="34" charset="0"/>
                <a:ea typeface="Calibri" pitchFamily="34" charset="-122"/>
                <a:cs typeface="Calibri" pitchFamily="34" charset="-120"/>
              </a:rPr>
              <a:t>CAPSTONE PROJECT</a:t>
            </a:r>
            <a:endParaRPr lang="en-US" sz="1000" dirty="0"/>
          </a:p>
        </p:txBody>
      </p:sp>
      <p:sp>
        <p:nvSpPr>
          <p:cNvPr id="5" name="Text 3"/>
          <p:cNvSpPr/>
          <p:nvPr/>
        </p:nvSpPr>
        <p:spPr>
          <a:xfrm>
            <a:off x="457200" y="960120"/>
            <a:ext cx="4114800" cy="20116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THE EGYPTIAN</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EXPORT</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OBSERVATORY</a:t>
            </a:r>
            <a:endParaRPr lang="en-US" sz="3600" dirty="0"/>
          </a:p>
        </p:txBody>
      </p:sp>
      <p:sp>
        <p:nvSpPr>
          <p:cNvPr id="6" name="Text 4"/>
          <p:cNvSpPr/>
          <p:nvPr/>
        </p:nvSpPr>
        <p:spPr>
          <a:xfrm>
            <a:off x="457200" y="3063240"/>
            <a:ext cx="4114800" cy="347472"/>
          </a:xfrm>
          <a:prstGeom prst="rect">
            <a:avLst/>
          </a:prstGeom>
          <a:noFill/>
          <a:ln/>
        </p:spPr>
        <p:txBody>
          <a:bodyPr wrap="square" lIns="0" tIns="0" rIns="0" bIns="0" rtlCol="0" anchor="ctr"/>
          <a:lstStyle/>
          <a:p>
            <a:pPr indent="0" marL="0">
              <a:buNone/>
            </a:pPr>
            <a:r>
              <a:rPr lang="en-US" sz="1100" dirty="0">
                <a:solidFill>
                  <a:srgbClr val="C9943A"/>
                </a:solidFill>
                <a:latin typeface="Calibri" pitchFamily="34" charset="0"/>
                <a:ea typeface="Calibri" pitchFamily="34" charset="-122"/>
                <a:cs typeface="Calibri" pitchFamily="34" charset="-120"/>
              </a:rPr>
              <a:t>Egypt Trade Intelligence Dashboard — 2010 to 2024</a:t>
            </a:r>
            <a:endParaRPr lang="en-US" sz="1100" dirty="0"/>
          </a:p>
        </p:txBody>
      </p:sp>
      <p:sp>
        <p:nvSpPr>
          <p:cNvPr id="7" name="Shape 5"/>
          <p:cNvSpPr/>
          <p:nvPr/>
        </p:nvSpPr>
        <p:spPr>
          <a:xfrm>
            <a:off x="457200" y="3493008"/>
            <a:ext cx="3931920" cy="27432"/>
          </a:xfrm>
          <a:prstGeom prst="rect">
            <a:avLst/>
          </a:prstGeom>
          <a:solidFill>
            <a:srgbClr val="C9943A"/>
          </a:solidFill>
          <a:ln w="12700">
            <a:solidFill>
              <a:srgbClr val="C9943A"/>
            </a:solidFill>
            <a:prstDash val="solid"/>
          </a:ln>
        </p:spPr>
      </p:sp>
      <p:sp>
        <p:nvSpPr>
          <p:cNvPr id="8" name="Text 6"/>
          <p:cNvSpPr/>
          <p:nvPr/>
        </p:nvSpPr>
        <p:spPr>
          <a:xfrm>
            <a:off x="457200" y="3611880"/>
            <a:ext cx="4114800" cy="228600"/>
          </a:xfrm>
          <a:prstGeom prst="rect">
            <a:avLst/>
          </a:prstGeom>
          <a:noFill/>
          <a:ln/>
        </p:spPr>
        <p:txBody>
          <a:bodyPr wrap="square" lIns="0" tIns="0" rIns="0" bIns="0" rtlCol="0" anchor="ctr"/>
          <a:lstStyle/>
          <a:p>
            <a:pPr indent="0" marL="0">
              <a:buNone/>
            </a:pPr>
            <a:r>
              <a:rPr lang="en-US" sz="850" dirty="0">
                <a:solidFill>
                  <a:srgbClr val="A0B8D0"/>
                </a:solidFill>
                <a:latin typeface="Calibri" pitchFamily="34" charset="0"/>
                <a:ea typeface="Calibri" pitchFamily="34" charset="-122"/>
                <a:cs typeface="Calibri" pitchFamily="34" charset="-120"/>
              </a:rPr>
              <a:t>Powered by Microsoft Power BI  ·  8 Dashboard Pages  ·  40+ DAX Measures</a:t>
            </a:r>
            <a:endParaRPr lang="en-US" sz="850" dirty="0"/>
          </a:p>
        </p:txBody>
      </p:sp>
      <p:sp>
        <p:nvSpPr>
          <p:cNvPr id="9" name="Text 7"/>
          <p:cNvSpPr/>
          <p:nvPr/>
        </p:nvSpPr>
        <p:spPr>
          <a:xfrm>
            <a:off x="5029200" y="502920"/>
            <a:ext cx="1828800" cy="237744"/>
          </a:xfrm>
          <a:prstGeom prst="rect">
            <a:avLst/>
          </a:prstGeom>
          <a:noFill/>
          <a:ln/>
        </p:spPr>
        <p:txBody>
          <a:bodyPr wrap="square" lIns="0" tIns="0" rIns="0" bIns="0" rtlCol="0" anchor="ctr"/>
          <a:lstStyle/>
          <a:p>
            <a:pPr indent="0" marL="0">
              <a:buNone/>
            </a:pPr>
            <a:r>
              <a:rPr lang="en-US" sz="800" b="1" dirty="0">
                <a:solidFill>
                  <a:srgbClr val="C9943A"/>
                </a:solidFill>
                <a:latin typeface="Calibri" pitchFamily="34" charset="0"/>
                <a:ea typeface="Calibri" pitchFamily="34" charset="-122"/>
                <a:cs typeface="Calibri" pitchFamily="34" charset="-120"/>
              </a:rPr>
              <a:t>TRACK</a:t>
            </a:r>
            <a:endParaRPr lang="en-US" sz="800" dirty="0"/>
          </a:p>
        </p:txBody>
      </p:sp>
      <p:sp>
        <p:nvSpPr>
          <p:cNvPr id="10" name="Text 8"/>
          <p:cNvSpPr/>
          <p:nvPr/>
        </p:nvSpPr>
        <p:spPr>
          <a:xfrm>
            <a:off x="6903720" y="502920"/>
            <a:ext cx="2103120" cy="23774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Data Analytics — DEPI Program</a:t>
            </a:r>
            <a:endParaRPr lang="en-US" sz="800" dirty="0"/>
          </a:p>
        </p:txBody>
      </p:sp>
      <p:sp>
        <p:nvSpPr>
          <p:cNvPr id="11" name="Text 9"/>
          <p:cNvSpPr/>
          <p:nvPr/>
        </p:nvSpPr>
        <p:spPr>
          <a:xfrm>
            <a:off x="5029200" y="1014984"/>
            <a:ext cx="1828800" cy="237744"/>
          </a:xfrm>
          <a:prstGeom prst="rect">
            <a:avLst/>
          </a:prstGeom>
          <a:noFill/>
          <a:ln/>
        </p:spPr>
        <p:txBody>
          <a:bodyPr wrap="square" lIns="0" tIns="0" rIns="0" bIns="0" rtlCol="0" anchor="ctr"/>
          <a:lstStyle/>
          <a:p>
            <a:pPr indent="0" marL="0">
              <a:buNone/>
            </a:pPr>
            <a:r>
              <a:rPr lang="en-US" sz="800" b="1" dirty="0">
                <a:solidFill>
                  <a:srgbClr val="C9943A"/>
                </a:solidFill>
                <a:latin typeface="Calibri" pitchFamily="34" charset="0"/>
                <a:ea typeface="Calibri" pitchFamily="34" charset="-122"/>
                <a:cs typeface="Calibri" pitchFamily="34" charset="-120"/>
              </a:rPr>
              <a:t>DASHBOARD TOOL</a:t>
            </a:r>
            <a:endParaRPr lang="en-US" sz="800" dirty="0"/>
          </a:p>
        </p:txBody>
      </p:sp>
      <p:sp>
        <p:nvSpPr>
          <p:cNvPr id="12" name="Text 10"/>
          <p:cNvSpPr/>
          <p:nvPr/>
        </p:nvSpPr>
        <p:spPr>
          <a:xfrm>
            <a:off x="6903720" y="1014984"/>
            <a:ext cx="2103120" cy="23774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Microsoft Power BI</a:t>
            </a:r>
            <a:endParaRPr lang="en-US" sz="800" dirty="0"/>
          </a:p>
        </p:txBody>
      </p:sp>
      <p:sp>
        <p:nvSpPr>
          <p:cNvPr id="13" name="Text 11"/>
          <p:cNvSpPr/>
          <p:nvPr/>
        </p:nvSpPr>
        <p:spPr>
          <a:xfrm>
            <a:off x="5029200" y="1527048"/>
            <a:ext cx="1828800" cy="237744"/>
          </a:xfrm>
          <a:prstGeom prst="rect">
            <a:avLst/>
          </a:prstGeom>
          <a:noFill/>
          <a:ln/>
        </p:spPr>
        <p:txBody>
          <a:bodyPr wrap="square" lIns="0" tIns="0" rIns="0" bIns="0" rtlCol="0" anchor="ctr"/>
          <a:lstStyle/>
          <a:p>
            <a:pPr indent="0" marL="0">
              <a:buNone/>
            </a:pPr>
            <a:r>
              <a:rPr lang="en-US" sz="800" b="1" dirty="0">
                <a:solidFill>
                  <a:srgbClr val="C9943A"/>
                </a:solidFill>
                <a:latin typeface="Calibri" pitchFamily="34" charset="0"/>
                <a:ea typeface="Calibri" pitchFamily="34" charset="-122"/>
                <a:cs typeface="Calibri" pitchFamily="34" charset="-120"/>
              </a:rPr>
              <a:t>DATA PERIOD</a:t>
            </a:r>
            <a:endParaRPr lang="en-US" sz="800" dirty="0"/>
          </a:p>
        </p:txBody>
      </p:sp>
      <p:sp>
        <p:nvSpPr>
          <p:cNvPr id="14" name="Text 12"/>
          <p:cNvSpPr/>
          <p:nvPr/>
        </p:nvSpPr>
        <p:spPr>
          <a:xfrm>
            <a:off x="6903720" y="1527048"/>
            <a:ext cx="2103120" cy="23774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2010 – 2024 (15 Years)</a:t>
            </a:r>
            <a:endParaRPr lang="en-US" sz="800" dirty="0"/>
          </a:p>
        </p:txBody>
      </p:sp>
      <p:sp>
        <p:nvSpPr>
          <p:cNvPr id="15" name="Text 13"/>
          <p:cNvSpPr/>
          <p:nvPr/>
        </p:nvSpPr>
        <p:spPr>
          <a:xfrm>
            <a:off x="5029200" y="2039112"/>
            <a:ext cx="1828800" cy="237744"/>
          </a:xfrm>
          <a:prstGeom prst="rect">
            <a:avLst/>
          </a:prstGeom>
          <a:noFill/>
          <a:ln/>
        </p:spPr>
        <p:txBody>
          <a:bodyPr wrap="square" lIns="0" tIns="0" rIns="0" bIns="0" rtlCol="0" anchor="ctr"/>
          <a:lstStyle/>
          <a:p>
            <a:pPr indent="0" marL="0">
              <a:buNone/>
            </a:pPr>
            <a:r>
              <a:rPr lang="en-US" sz="800" b="1" dirty="0">
                <a:solidFill>
                  <a:srgbClr val="C9943A"/>
                </a:solidFill>
                <a:latin typeface="Calibri" pitchFamily="34" charset="0"/>
                <a:ea typeface="Calibri" pitchFamily="34" charset="-122"/>
                <a:cs typeface="Calibri" pitchFamily="34" charset="-120"/>
              </a:rPr>
              <a:t>DASHBOARD PAGES</a:t>
            </a:r>
            <a:endParaRPr lang="en-US" sz="800" dirty="0"/>
          </a:p>
        </p:txBody>
      </p:sp>
      <p:sp>
        <p:nvSpPr>
          <p:cNvPr id="16" name="Text 14"/>
          <p:cNvSpPr/>
          <p:nvPr/>
        </p:nvSpPr>
        <p:spPr>
          <a:xfrm>
            <a:off x="6903720" y="2039112"/>
            <a:ext cx="2103120" cy="23774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8 Pages (P1 – P8)</a:t>
            </a:r>
            <a:endParaRPr lang="en-US" sz="800" dirty="0"/>
          </a:p>
        </p:txBody>
      </p:sp>
      <p:sp>
        <p:nvSpPr>
          <p:cNvPr id="17" name="Text 15"/>
          <p:cNvSpPr/>
          <p:nvPr/>
        </p:nvSpPr>
        <p:spPr>
          <a:xfrm>
            <a:off x="5029200" y="2551176"/>
            <a:ext cx="1828800" cy="237744"/>
          </a:xfrm>
          <a:prstGeom prst="rect">
            <a:avLst/>
          </a:prstGeom>
          <a:noFill/>
          <a:ln/>
        </p:spPr>
        <p:txBody>
          <a:bodyPr wrap="square" lIns="0" tIns="0" rIns="0" bIns="0" rtlCol="0" anchor="ctr"/>
          <a:lstStyle/>
          <a:p>
            <a:pPr indent="0" marL="0">
              <a:buNone/>
            </a:pPr>
            <a:r>
              <a:rPr lang="en-US" sz="800" b="1" dirty="0">
                <a:solidFill>
                  <a:srgbClr val="C9943A"/>
                </a:solidFill>
                <a:latin typeface="Calibri" pitchFamily="34" charset="0"/>
                <a:ea typeface="Calibri" pitchFamily="34" charset="-122"/>
                <a:cs typeface="Calibri" pitchFamily="34" charset="-120"/>
              </a:rPr>
              <a:t>DAX MEASURES</a:t>
            </a:r>
            <a:endParaRPr lang="en-US" sz="800" dirty="0"/>
          </a:p>
        </p:txBody>
      </p:sp>
      <p:sp>
        <p:nvSpPr>
          <p:cNvPr id="18" name="Text 16"/>
          <p:cNvSpPr/>
          <p:nvPr/>
        </p:nvSpPr>
        <p:spPr>
          <a:xfrm>
            <a:off x="6903720" y="2551176"/>
            <a:ext cx="2103120" cy="23774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40+ Professional Measures</a:t>
            </a:r>
            <a:endParaRPr lang="en-US" sz="800" dirty="0"/>
          </a:p>
        </p:txBody>
      </p:sp>
      <p:sp>
        <p:nvSpPr>
          <p:cNvPr id="19" name="Text 17"/>
          <p:cNvSpPr/>
          <p:nvPr/>
        </p:nvSpPr>
        <p:spPr>
          <a:xfrm>
            <a:off x="5029200" y="3063240"/>
            <a:ext cx="1828800" cy="237744"/>
          </a:xfrm>
          <a:prstGeom prst="rect">
            <a:avLst/>
          </a:prstGeom>
          <a:noFill/>
          <a:ln/>
        </p:spPr>
        <p:txBody>
          <a:bodyPr wrap="square" lIns="0" tIns="0" rIns="0" bIns="0" rtlCol="0" anchor="ctr"/>
          <a:lstStyle/>
          <a:p>
            <a:pPr indent="0" marL="0">
              <a:buNone/>
            </a:pPr>
            <a:r>
              <a:rPr lang="en-US" sz="800" b="1" dirty="0">
                <a:solidFill>
                  <a:srgbClr val="C9943A"/>
                </a:solidFill>
                <a:latin typeface="Calibri" pitchFamily="34" charset="0"/>
                <a:ea typeface="Calibri" pitchFamily="34" charset="-122"/>
                <a:cs typeface="Calibri" pitchFamily="34" charset="-120"/>
              </a:rPr>
              <a:t>DATA SOURCES</a:t>
            </a:r>
            <a:endParaRPr lang="en-US" sz="800" dirty="0"/>
          </a:p>
        </p:txBody>
      </p:sp>
      <p:sp>
        <p:nvSpPr>
          <p:cNvPr id="20" name="Text 18"/>
          <p:cNvSpPr/>
          <p:nvPr/>
        </p:nvSpPr>
        <p:spPr>
          <a:xfrm>
            <a:off x="6903720" y="3063240"/>
            <a:ext cx="2103120" cy="23774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CAPMAS · Comtrade · WTO · World Bank · ITC TradeMap</a:t>
            </a:r>
            <a:endParaRPr lang="en-US" sz="800" dirty="0"/>
          </a:p>
        </p:txBody>
      </p:sp>
      <p:sp>
        <p:nvSpPr>
          <p:cNvPr id="21" name="Text 19"/>
          <p:cNvSpPr/>
          <p:nvPr/>
        </p:nvSpPr>
        <p:spPr>
          <a:xfrm>
            <a:off x="5029200" y="3575304"/>
            <a:ext cx="1828800" cy="237744"/>
          </a:xfrm>
          <a:prstGeom prst="rect">
            <a:avLst/>
          </a:prstGeom>
          <a:noFill/>
          <a:ln/>
        </p:spPr>
        <p:txBody>
          <a:bodyPr wrap="square" lIns="0" tIns="0" rIns="0" bIns="0" rtlCol="0" anchor="ctr"/>
          <a:lstStyle/>
          <a:p>
            <a:pPr indent="0" marL="0">
              <a:buNone/>
            </a:pPr>
            <a:r>
              <a:rPr lang="en-US" sz="800" b="1" dirty="0">
                <a:solidFill>
                  <a:srgbClr val="C9943A"/>
                </a:solidFill>
                <a:latin typeface="Calibri" pitchFamily="34" charset="0"/>
                <a:ea typeface="Calibri" pitchFamily="34" charset="-122"/>
                <a:cs typeface="Calibri" pitchFamily="34" charset="-120"/>
              </a:rPr>
              <a:t>CREATED BY</a:t>
            </a:r>
            <a:endParaRPr lang="en-US" sz="800" dirty="0"/>
          </a:p>
        </p:txBody>
      </p:sp>
      <p:sp>
        <p:nvSpPr>
          <p:cNvPr id="22" name="Text 20"/>
          <p:cNvSpPr/>
          <p:nvPr/>
        </p:nvSpPr>
        <p:spPr>
          <a:xfrm>
            <a:off x="6903720" y="3575304"/>
            <a:ext cx="2103120" cy="23774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DEPI Data Analysis Track</a:t>
            </a:r>
            <a:endParaRPr lang="en-US" sz="800" dirty="0"/>
          </a:p>
          <a:p>
            <a:pPr indent="0" marL="0">
              <a:buNone/>
            </a:pPr>
            <a:r>
              <a:rPr lang="en-US" sz="800" dirty="0">
                <a:solidFill>
                  <a:srgbClr val="FFFFFF"/>
                </a:solidFill>
                <a:latin typeface="Calibri" pitchFamily="34" charset="0"/>
                <a:ea typeface="Calibri" pitchFamily="34" charset="-122"/>
                <a:cs typeface="Calibri" pitchFamily="34" charset="-120"/>
              </a:rPr>
              <a:t>CLS-EGX-TRADEG1-T1</a:t>
            </a:r>
            <a:endParaRPr lang="en-US" sz="800" dirty="0"/>
          </a:p>
        </p:txBody>
      </p:sp>
      <p:sp>
        <p:nvSpPr>
          <p:cNvPr id="23" name="Text 21"/>
          <p:cNvSpPr/>
          <p:nvPr/>
        </p:nvSpPr>
        <p:spPr>
          <a:xfrm>
            <a:off x="5029200" y="4087368"/>
            <a:ext cx="1828800" cy="237744"/>
          </a:xfrm>
          <a:prstGeom prst="rect">
            <a:avLst/>
          </a:prstGeom>
          <a:noFill/>
          <a:ln/>
        </p:spPr>
        <p:txBody>
          <a:bodyPr wrap="square" lIns="0" tIns="0" rIns="0" bIns="0" rtlCol="0" anchor="ctr"/>
          <a:lstStyle/>
          <a:p>
            <a:pPr indent="0" marL="0">
              <a:buNone/>
            </a:pPr>
            <a:r>
              <a:rPr lang="en-US" sz="800" b="1" dirty="0">
                <a:solidFill>
                  <a:srgbClr val="C9943A"/>
                </a:solidFill>
                <a:latin typeface="Calibri" pitchFamily="34" charset="0"/>
                <a:ea typeface="Calibri" pitchFamily="34" charset="-122"/>
                <a:cs typeface="Calibri" pitchFamily="34" charset="-120"/>
              </a:rPr>
              <a:t>SUPERVISED BY</a:t>
            </a:r>
            <a:endParaRPr lang="en-US" sz="800" dirty="0"/>
          </a:p>
        </p:txBody>
      </p:sp>
      <p:sp>
        <p:nvSpPr>
          <p:cNvPr id="24" name="Text 22"/>
          <p:cNvSpPr/>
          <p:nvPr/>
        </p:nvSpPr>
        <p:spPr>
          <a:xfrm>
            <a:off x="6903720" y="4087368"/>
            <a:ext cx="2103120" cy="23774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DEPI Program Supervisors</a:t>
            </a:r>
            <a:endParaRPr lang="en-US" sz="800" dirty="0"/>
          </a:p>
          <a:p>
            <a:pPr indent="0" marL="0">
              <a:buNone/>
            </a:pPr>
            <a:r>
              <a:rPr lang="en-US" sz="800" dirty="0">
                <a:solidFill>
                  <a:srgbClr val="FFFFFF"/>
                </a:solidFill>
                <a:latin typeface="Calibri" pitchFamily="34" charset="0"/>
                <a:ea typeface="Calibri" pitchFamily="34" charset="-122"/>
                <a:cs typeface="Calibri" pitchFamily="34" charset="-120"/>
              </a:rPr>
              <a:t>Digital Egypt Pioneers Initiative</a:t>
            </a:r>
            <a:endParaRPr lang="en-US" sz="800" dirty="0"/>
          </a:p>
        </p:txBody>
      </p:sp>
      <p:sp>
        <p:nvSpPr>
          <p:cNvPr id="25" name="Text 23"/>
          <p:cNvSpPr/>
          <p:nvPr/>
        </p:nvSpPr>
        <p:spPr>
          <a:xfrm>
            <a:off x="5029200" y="4663440"/>
            <a:ext cx="3931920" cy="228600"/>
          </a:xfrm>
          <a:prstGeom prst="rect">
            <a:avLst/>
          </a:prstGeom>
          <a:noFill/>
          <a:ln/>
        </p:spPr>
        <p:txBody>
          <a:bodyPr wrap="square" lIns="0" tIns="0" rIns="0" bIns="0" rtlCol="0" anchor="ctr"/>
          <a:lstStyle/>
          <a:p>
            <a:pPr indent="0" marL="0">
              <a:buNone/>
            </a:pPr>
            <a:r>
              <a:rPr lang="en-US" sz="900" dirty="0">
                <a:solidFill>
                  <a:srgbClr val="607080"/>
                </a:solidFill>
                <a:latin typeface="Calibri" pitchFamily="34" charset="0"/>
                <a:ea typeface="Calibri" pitchFamily="34" charset="-122"/>
                <a:cs typeface="Calibri" pitchFamily="34" charset="-120"/>
              </a:rPr>
              <a:t>DEC 2025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0A2342"/>
          </a:solidFill>
          <a:ln w="12700">
            <a:solidFill>
              <a:srgbClr val="0A2342"/>
            </a:solidFill>
            <a:prstDash val="solid"/>
          </a:ln>
        </p:spPr>
      </p:sp>
      <p:sp>
        <p:nvSpPr>
          <p:cNvPr id="3" name="Text 1"/>
          <p:cNvSpPr/>
          <p:nvPr/>
        </p:nvSpPr>
        <p:spPr>
          <a:xfrm>
            <a:off x="274320" y="1645920"/>
            <a:ext cx="265176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Agenda</a:t>
            </a:r>
            <a:endParaRPr lang="en-US" sz="3200" dirty="0"/>
          </a:p>
        </p:txBody>
      </p:sp>
      <p:sp>
        <p:nvSpPr>
          <p:cNvPr id="4" name="Shape 2"/>
          <p:cNvSpPr/>
          <p:nvPr/>
        </p:nvSpPr>
        <p:spPr>
          <a:xfrm>
            <a:off x="274320" y="2331720"/>
            <a:ext cx="2286000" cy="45720"/>
          </a:xfrm>
          <a:prstGeom prst="rect">
            <a:avLst/>
          </a:prstGeom>
          <a:solidFill>
            <a:srgbClr val="C9943A"/>
          </a:solidFill>
          <a:ln w="12700">
            <a:solidFill>
              <a:srgbClr val="C9943A"/>
            </a:solidFill>
            <a:prstDash val="solid"/>
          </a:ln>
        </p:spPr>
      </p:sp>
      <p:sp>
        <p:nvSpPr>
          <p:cNvPr id="5" name="Text 3"/>
          <p:cNvSpPr/>
          <p:nvPr/>
        </p:nvSpPr>
        <p:spPr>
          <a:xfrm>
            <a:off x="274320" y="2468880"/>
            <a:ext cx="2651760" cy="548640"/>
          </a:xfrm>
          <a:prstGeom prst="rect">
            <a:avLst/>
          </a:prstGeom>
          <a:noFill/>
          <a:ln/>
        </p:spPr>
        <p:txBody>
          <a:bodyPr wrap="square" lIns="0" tIns="0" rIns="0" bIns="0" rtlCol="0" anchor="ctr"/>
          <a:lstStyle/>
          <a:p>
            <a:pPr indent="0" marL="0">
              <a:buNone/>
            </a:pPr>
            <a:r>
              <a:rPr lang="en-US" sz="1000" dirty="0">
                <a:solidFill>
                  <a:srgbClr val="C9943A"/>
                </a:solidFill>
                <a:latin typeface="Calibri" pitchFamily="34" charset="0"/>
                <a:ea typeface="Calibri" pitchFamily="34" charset="-122"/>
                <a:cs typeface="Calibri" pitchFamily="34" charset="-120"/>
              </a:rPr>
              <a:t>Egyptian Export Observatory</a:t>
            </a:r>
            <a:endParaRPr lang="en-US" sz="1000" dirty="0"/>
          </a:p>
          <a:p>
            <a:pPr indent="0" marL="0">
              <a:buNone/>
            </a:pPr>
            <a:r>
              <a:rPr lang="en-US" sz="1000" dirty="0">
                <a:solidFill>
                  <a:srgbClr val="C9943A"/>
                </a:solidFill>
                <a:latin typeface="Calibri" pitchFamily="34" charset="0"/>
                <a:ea typeface="Calibri" pitchFamily="34" charset="-122"/>
                <a:cs typeface="Calibri" pitchFamily="34" charset="-120"/>
              </a:rPr>
              <a:t>DEPI Capstone Project</a:t>
            </a:r>
            <a:endParaRPr lang="en-US" sz="1000" dirty="0"/>
          </a:p>
        </p:txBody>
      </p:sp>
      <p:sp>
        <p:nvSpPr>
          <p:cNvPr id="6" name="Shape 4"/>
          <p:cNvSpPr/>
          <p:nvPr/>
        </p:nvSpPr>
        <p:spPr>
          <a:xfrm>
            <a:off x="3474720" y="502920"/>
            <a:ext cx="384048" cy="384048"/>
          </a:xfrm>
          <a:prstGeom prst="rect">
            <a:avLst/>
          </a:prstGeom>
          <a:solidFill>
            <a:srgbClr val="0A2342"/>
          </a:solidFill>
          <a:ln w="12700">
            <a:solidFill>
              <a:srgbClr val="0A2342"/>
            </a:solidFill>
            <a:prstDash val="solid"/>
          </a:ln>
        </p:spPr>
      </p:sp>
      <p:sp>
        <p:nvSpPr>
          <p:cNvPr id="7" name="Text 5"/>
          <p:cNvSpPr/>
          <p:nvPr/>
        </p:nvSpPr>
        <p:spPr>
          <a:xfrm>
            <a:off x="3474720" y="502920"/>
            <a:ext cx="384048" cy="384048"/>
          </a:xfrm>
          <a:prstGeom prst="rect">
            <a:avLst/>
          </a:prstGeom>
          <a:noFill/>
          <a:ln/>
        </p:spPr>
        <p:txBody>
          <a:bodyPr wrap="square" lIns="0" tIns="0" rIns="0" bIns="0" rtlCol="0" anchor="ctr"/>
          <a:lstStyle/>
          <a:p>
            <a:pPr algn="ctr" indent="0" marL="0">
              <a:buNone/>
            </a:pPr>
            <a:r>
              <a:rPr lang="en-US" sz="1100" b="1" dirty="0">
                <a:solidFill>
                  <a:srgbClr val="C9943A"/>
                </a:solidFill>
                <a:latin typeface="Calibri" pitchFamily="34" charset="0"/>
                <a:ea typeface="Calibri" pitchFamily="34" charset="-122"/>
                <a:cs typeface="Calibri" pitchFamily="34" charset="-120"/>
              </a:rPr>
              <a:t>01</a:t>
            </a:r>
            <a:endParaRPr lang="en-US" sz="1100" dirty="0"/>
          </a:p>
        </p:txBody>
      </p:sp>
      <p:sp>
        <p:nvSpPr>
          <p:cNvPr id="8" name="Text 6"/>
          <p:cNvSpPr/>
          <p:nvPr/>
        </p:nvSpPr>
        <p:spPr>
          <a:xfrm>
            <a:off x="3931920" y="539496"/>
            <a:ext cx="2560320" cy="329184"/>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Project Overview &amp; Context</a:t>
            </a:r>
            <a:endParaRPr lang="en-US" sz="1000" dirty="0"/>
          </a:p>
        </p:txBody>
      </p:sp>
      <p:sp>
        <p:nvSpPr>
          <p:cNvPr id="9" name="Shape 7"/>
          <p:cNvSpPr/>
          <p:nvPr/>
        </p:nvSpPr>
        <p:spPr>
          <a:xfrm>
            <a:off x="3474720" y="1207008"/>
            <a:ext cx="384048" cy="384048"/>
          </a:xfrm>
          <a:prstGeom prst="rect">
            <a:avLst/>
          </a:prstGeom>
          <a:solidFill>
            <a:srgbClr val="0A2342"/>
          </a:solidFill>
          <a:ln w="12700">
            <a:solidFill>
              <a:srgbClr val="0A2342"/>
            </a:solidFill>
            <a:prstDash val="solid"/>
          </a:ln>
        </p:spPr>
      </p:sp>
      <p:sp>
        <p:nvSpPr>
          <p:cNvPr id="10" name="Text 8"/>
          <p:cNvSpPr/>
          <p:nvPr/>
        </p:nvSpPr>
        <p:spPr>
          <a:xfrm>
            <a:off x="3474720" y="1207008"/>
            <a:ext cx="384048" cy="384048"/>
          </a:xfrm>
          <a:prstGeom prst="rect">
            <a:avLst/>
          </a:prstGeom>
          <a:noFill/>
          <a:ln/>
        </p:spPr>
        <p:txBody>
          <a:bodyPr wrap="square" lIns="0" tIns="0" rIns="0" bIns="0" rtlCol="0" anchor="ctr"/>
          <a:lstStyle/>
          <a:p>
            <a:pPr algn="ctr" indent="0" marL="0">
              <a:buNone/>
            </a:pPr>
            <a:r>
              <a:rPr lang="en-US" sz="1100" b="1" dirty="0">
                <a:solidFill>
                  <a:srgbClr val="C9943A"/>
                </a:solidFill>
                <a:latin typeface="Calibri" pitchFamily="34" charset="0"/>
                <a:ea typeface="Calibri" pitchFamily="34" charset="-122"/>
                <a:cs typeface="Calibri" pitchFamily="34" charset="-120"/>
              </a:rPr>
              <a:t>02</a:t>
            </a:r>
            <a:endParaRPr lang="en-US" sz="1100" dirty="0"/>
          </a:p>
        </p:txBody>
      </p:sp>
      <p:sp>
        <p:nvSpPr>
          <p:cNvPr id="11" name="Text 9"/>
          <p:cNvSpPr/>
          <p:nvPr/>
        </p:nvSpPr>
        <p:spPr>
          <a:xfrm>
            <a:off x="3931920" y="1243584"/>
            <a:ext cx="2560320" cy="329184"/>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Problem Statement — Four Structural Gaps</a:t>
            </a:r>
            <a:endParaRPr lang="en-US" sz="1000" dirty="0"/>
          </a:p>
        </p:txBody>
      </p:sp>
      <p:sp>
        <p:nvSpPr>
          <p:cNvPr id="12" name="Shape 10"/>
          <p:cNvSpPr/>
          <p:nvPr/>
        </p:nvSpPr>
        <p:spPr>
          <a:xfrm>
            <a:off x="3474720" y="1911096"/>
            <a:ext cx="384048" cy="384048"/>
          </a:xfrm>
          <a:prstGeom prst="rect">
            <a:avLst/>
          </a:prstGeom>
          <a:solidFill>
            <a:srgbClr val="0A2342"/>
          </a:solidFill>
          <a:ln w="12700">
            <a:solidFill>
              <a:srgbClr val="0A2342"/>
            </a:solidFill>
            <a:prstDash val="solid"/>
          </a:ln>
        </p:spPr>
      </p:sp>
      <p:sp>
        <p:nvSpPr>
          <p:cNvPr id="13" name="Text 11"/>
          <p:cNvSpPr/>
          <p:nvPr/>
        </p:nvSpPr>
        <p:spPr>
          <a:xfrm>
            <a:off x="3474720" y="1911096"/>
            <a:ext cx="384048" cy="384048"/>
          </a:xfrm>
          <a:prstGeom prst="rect">
            <a:avLst/>
          </a:prstGeom>
          <a:noFill/>
          <a:ln/>
        </p:spPr>
        <p:txBody>
          <a:bodyPr wrap="square" lIns="0" tIns="0" rIns="0" bIns="0" rtlCol="0" anchor="ctr"/>
          <a:lstStyle/>
          <a:p>
            <a:pPr algn="ctr" indent="0" marL="0">
              <a:buNone/>
            </a:pPr>
            <a:r>
              <a:rPr lang="en-US" sz="1100" b="1" dirty="0">
                <a:solidFill>
                  <a:srgbClr val="C9943A"/>
                </a:solidFill>
                <a:latin typeface="Calibri" pitchFamily="34" charset="0"/>
                <a:ea typeface="Calibri" pitchFamily="34" charset="-122"/>
                <a:cs typeface="Calibri" pitchFamily="34" charset="-120"/>
              </a:rPr>
              <a:t>03</a:t>
            </a:r>
            <a:endParaRPr lang="en-US" sz="1100" dirty="0"/>
          </a:p>
        </p:txBody>
      </p:sp>
      <p:sp>
        <p:nvSpPr>
          <p:cNvPr id="14" name="Text 12"/>
          <p:cNvSpPr/>
          <p:nvPr/>
        </p:nvSpPr>
        <p:spPr>
          <a:xfrm>
            <a:off x="3931920" y="1947672"/>
            <a:ext cx="2560320" cy="329184"/>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Project Objectives</a:t>
            </a:r>
            <a:endParaRPr lang="en-US" sz="1000" dirty="0"/>
          </a:p>
        </p:txBody>
      </p:sp>
      <p:sp>
        <p:nvSpPr>
          <p:cNvPr id="15" name="Shape 13"/>
          <p:cNvSpPr/>
          <p:nvPr/>
        </p:nvSpPr>
        <p:spPr>
          <a:xfrm>
            <a:off x="3474720" y="2615184"/>
            <a:ext cx="384048" cy="384048"/>
          </a:xfrm>
          <a:prstGeom prst="rect">
            <a:avLst/>
          </a:prstGeom>
          <a:solidFill>
            <a:srgbClr val="0A2342"/>
          </a:solidFill>
          <a:ln w="12700">
            <a:solidFill>
              <a:srgbClr val="0A2342"/>
            </a:solidFill>
            <a:prstDash val="solid"/>
          </a:ln>
        </p:spPr>
      </p:sp>
      <p:sp>
        <p:nvSpPr>
          <p:cNvPr id="16" name="Text 14"/>
          <p:cNvSpPr/>
          <p:nvPr/>
        </p:nvSpPr>
        <p:spPr>
          <a:xfrm>
            <a:off x="3474720" y="2615184"/>
            <a:ext cx="384048" cy="384048"/>
          </a:xfrm>
          <a:prstGeom prst="rect">
            <a:avLst/>
          </a:prstGeom>
          <a:noFill/>
          <a:ln/>
        </p:spPr>
        <p:txBody>
          <a:bodyPr wrap="square" lIns="0" tIns="0" rIns="0" bIns="0" rtlCol="0" anchor="ctr"/>
          <a:lstStyle/>
          <a:p>
            <a:pPr algn="ctr" indent="0" marL="0">
              <a:buNone/>
            </a:pPr>
            <a:r>
              <a:rPr lang="en-US" sz="1100" b="1" dirty="0">
                <a:solidFill>
                  <a:srgbClr val="C9943A"/>
                </a:solidFill>
                <a:latin typeface="Calibri" pitchFamily="34" charset="0"/>
                <a:ea typeface="Calibri" pitchFamily="34" charset="-122"/>
                <a:cs typeface="Calibri" pitchFamily="34" charset="-120"/>
              </a:rPr>
              <a:t>04</a:t>
            </a:r>
            <a:endParaRPr lang="en-US" sz="1100" dirty="0"/>
          </a:p>
        </p:txBody>
      </p:sp>
      <p:sp>
        <p:nvSpPr>
          <p:cNvPr id="17" name="Text 15"/>
          <p:cNvSpPr/>
          <p:nvPr/>
        </p:nvSpPr>
        <p:spPr>
          <a:xfrm>
            <a:off x="3931920" y="2651760"/>
            <a:ext cx="2560320" cy="329184"/>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Data Sources &amp; Structure</a:t>
            </a:r>
            <a:endParaRPr lang="en-US" sz="1000" dirty="0"/>
          </a:p>
        </p:txBody>
      </p:sp>
      <p:sp>
        <p:nvSpPr>
          <p:cNvPr id="18" name="Shape 16"/>
          <p:cNvSpPr/>
          <p:nvPr/>
        </p:nvSpPr>
        <p:spPr>
          <a:xfrm>
            <a:off x="3474720" y="3319272"/>
            <a:ext cx="384048" cy="384048"/>
          </a:xfrm>
          <a:prstGeom prst="rect">
            <a:avLst/>
          </a:prstGeom>
          <a:solidFill>
            <a:srgbClr val="0A2342"/>
          </a:solidFill>
          <a:ln w="12700">
            <a:solidFill>
              <a:srgbClr val="0A2342"/>
            </a:solidFill>
            <a:prstDash val="solid"/>
          </a:ln>
        </p:spPr>
      </p:sp>
      <p:sp>
        <p:nvSpPr>
          <p:cNvPr id="19" name="Text 17"/>
          <p:cNvSpPr/>
          <p:nvPr/>
        </p:nvSpPr>
        <p:spPr>
          <a:xfrm>
            <a:off x="3474720" y="3319272"/>
            <a:ext cx="384048" cy="384048"/>
          </a:xfrm>
          <a:prstGeom prst="rect">
            <a:avLst/>
          </a:prstGeom>
          <a:noFill/>
          <a:ln/>
        </p:spPr>
        <p:txBody>
          <a:bodyPr wrap="square" lIns="0" tIns="0" rIns="0" bIns="0" rtlCol="0" anchor="ctr"/>
          <a:lstStyle/>
          <a:p>
            <a:pPr algn="ctr" indent="0" marL="0">
              <a:buNone/>
            </a:pPr>
            <a:r>
              <a:rPr lang="en-US" sz="1100" b="1" dirty="0">
                <a:solidFill>
                  <a:srgbClr val="C9943A"/>
                </a:solidFill>
                <a:latin typeface="Calibri" pitchFamily="34" charset="0"/>
                <a:ea typeface="Calibri" pitchFamily="34" charset="-122"/>
                <a:cs typeface="Calibri" pitchFamily="34" charset="-120"/>
              </a:rPr>
              <a:t>05</a:t>
            </a:r>
            <a:endParaRPr lang="en-US" sz="1100" dirty="0"/>
          </a:p>
        </p:txBody>
      </p:sp>
      <p:sp>
        <p:nvSpPr>
          <p:cNvPr id="20" name="Text 18"/>
          <p:cNvSpPr/>
          <p:nvPr/>
        </p:nvSpPr>
        <p:spPr>
          <a:xfrm>
            <a:off x="3931920" y="3355848"/>
            <a:ext cx="2560320" cy="329184"/>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Data Preparation &amp; Methodology</a:t>
            </a:r>
            <a:endParaRPr lang="en-US" sz="1000" dirty="0"/>
          </a:p>
        </p:txBody>
      </p:sp>
      <p:sp>
        <p:nvSpPr>
          <p:cNvPr id="21" name="Shape 19"/>
          <p:cNvSpPr/>
          <p:nvPr/>
        </p:nvSpPr>
        <p:spPr>
          <a:xfrm>
            <a:off x="3474720" y="4023360"/>
            <a:ext cx="384048" cy="384048"/>
          </a:xfrm>
          <a:prstGeom prst="rect">
            <a:avLst/>
          </a:prstGeom>
          <a:solidFill>
            <a:srgbClr val="0A2342"/>
          </a:solidFill>
          <a:ln w="12700">
            <a:solidFill>
              <a:srgbClr val="0A2342"/>
            </a:solidFill>
            <a:prstDash val="solid"/>
          </a:ln>
        </p:spPr>
      </p:sp>
      <p:sp>
        <p:nvSpPr>
          <p:cNvPr id="22" name="Text 20"/>
          <p:cNvSpPr/>
          <p:nvPr/>
        </p:nvSpPr>
        <p:spPr>
          <a:xfrm>
            <a:off x="3474720" y="4023360"/>
            <a:ext cx="384048" cy="384048"/>
          </a:xfrm>
          <a:prstGeom prst="rect">
            <a:avLst/>
          </a:prstGeom>
          <a:noFill/>
          <a:ln/>
        </p:spPr>
        <p:txBody>
          <a:bodyPr wrap="square" lIns="0" tIns="0" rIns="0" bIns="0" rtlCol="0" anchor="ctr"/>
          <a:lstStyle/>
          <a:p>
            <a:pPr algn="ctr" indent="0" marL="0">
              <a:buNone/>
            </a:pPr>
            <a:r>
              <a:rPr lang="en-US" sz="1100" b="1" dirty="0">
                <a:solidFill>
                  <a:srgbClr val="C9943A"/>
                </a:solidFill>
                <a:latin typeface="Calibri" pitchFamily="34" charset="0"/>
                <a:ea typeface="Calibri" pitchFamily="34" charset="-122"/>
                <a:cs typeface="Calibri" pitchFamily="34" charset="-120"/>
              </a:rPr>
              <a:t>06</a:t>
            </a:r>
            <a:endParaRPr lang="en-US" sz="1100" dirty="0"/>
          </a:p>
        </p:txBody>
      </p:sp>
      <p:sp>
        <p:nvSpPr>
          <p:cNvPr id="23" name="Text 21"/>
          <p:cNvSpPr/>
          <p:nvPr/>
        </p:nvSpPr>
        <p:spPr>
          <a:xfrm>
            <a:off x="3931920" y="4059936"/>
            <a:ext cx="2560320" cy="329184"/>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Data Model &amp; Architecture</a:t>
            </a:r>
            <a:endParaRPr lang="en-US" sz="1000" dirty="0"/>
          </a:p>
        </p:txBody>
      </p:sp>
      <p:sp>
        <p:nvSpPr>
          <p:cNvPr id="24" name="Shape 22"/>
          <p:cNvSpPr/>
          <p:nvPr/>
        </p:nvSpPr>
        <p:spPr>
          <a:xfrm>
            <a:off x="6400800" y="502920"/>
            <a:ext cx="384048" cy="384048"/>
          </a:xfrm>
          <a:prstGeom prst="rect">
            <a:avLst/>
          </a:prstGeom>
          <a:solidFill>
            <a:srgbClr val="0A2342"/>
          </a:solidFill>
          <a:ln w="12700">
            <a:solidFill>
              <a:srgbClr val="0A2342"/>
            </a:solidFill>
            <a:prstDash val="solid"/>
          </a:ln>
        </p:spPr>
      </p:sp>
      <p:sp>
        <p:nvSpPr>
          <p:cNvPr id="25" name="Text 23"/>
          <p:cNvSpPr/>
          <p:nvPr/>
        </p:nvSpPr>
        <p:spPr>
          <a:xfrm>
            <a:off x="6400800" y="502920"/>
            <a:ext cx="384048" cy="384048"/>
          </a:xfrm>
          <a:prstGeom prst="rect">
            <a:avLst/>
          </a:prstGeom>
          <a:noFill/>
          <a:ln/>
        </p:spPr>
        <p:txBody>
          <a:bodyPr wrap="square" lIns="0" tIns="0" rIns="0" bIns="0" rtlCol="0" anchor="ctr"/>
          <a:lstStyle/>
          <a:p>
            <a:pPr algn="ctr" indent="0" marL="0">
              <a:buNone/>
            </a:pPr>
            <a:r>
              <a:rPr lang="en-US" sz="1100" b="1" dirty="0">
                <a:solidFill>
                  <a:srgbClr val="C9943A"/>
                </a:solidFill>
                <a:latin typeface="Calibri" pitchFamily="34" charset="0"/>
                <a:ea typeface="Calibri" pitchFamily="34" charset="-122"/>
                <a:cs typeface="Calibri" pitchFamily="34" charset="-120"/>
              </a:rPr>
              <a:t>07</a:t>
            </a:r>
            <a:endParaRPr lang="en-US" sz="1100" dirty="0"/>
          </a:p>
        </p:txBody>
      </p:sp>
      <p:sp>
        <p:nvSpPr>
          <p:cNvPr id="26" name="Text 24"/>
          <p:cNvSpPr/>
          <p:nvPr/>
        </p:nvSpPr>
        <p:spPr>
          <a:xfrm>
            <a:off x="6858000" y="539496"/>
            <a:ext cx="2560320" cy="329184"/>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DAX Measures Library</a:t>
            </a:r>
            <a:endParaRPr lang="en-US" sz="1000" dirty="0"/>
          </a:p>
        </p:txBody>
      </p:sp>
      <p:sp>
        <p:nvSpPr>
          <p:cNvPr id="27" name="Shape 25"/>
          <p:cNvSpPr/>
          <p:nvPr/>
        </p:nvSpPr>
        <p:spPr>
          <a:xfrm>
            <a:off x="6400800" y="1207008"/>
            <a:ext cx="384048" cy="384048"/>
          </a:xfrm>
          <a:prstGeom prst="rect">
            <a:avLst/>
          </a:prstGeom>
          <a:solidFill>
            <a:srgbClr val="0A2342"/>
          </a:solidFill>
          <a:ln w="12700">
            <a:solidFill>
              <a:srgbClr val="0A2342"/>
            </a:solidFill>
            <a:prstDash val="solid"/>
          </a:ln>
        </p:spPr>
      </p:sp>
      <p:sp>
        <p:nvSpPr>
          <p:cNvPr id="28" name="Text 26"/>
          <p:cNvSpPr/>
          <p:nvPr/>
        </p:nvSpPr>
        <p:spPr>
          <a:xfrm>
            <a:off x="6400800" y="1207008"/>
            <a:ext cx="384048" cy="384048"/>
          </a:xfrm>
          <a:prstGeom prst="rect">
            <a:avLst/>
          </a:prstGeom>
          <a:noFill/>
          <a:ln/>
        </p:spPr>
        <p:txBody>
          <a:bodyPr wrap="square" lIns="0" tIns="0" rIns="0" bIns="0" rtlCol="0" anchor="ctr"/>
          <a:lstStyle/>
          <a:p>
            <a:pPr algn="ctr" indent="0" marL="0">
              <a:buNone/>
            </a:pPr>
            <a:r>
              <a:rPr lang="en-US" sz="1100" b="1" dirty="0">
                <a:solidFill>
                  <a:srgbClr val="C9943A"/>
                </a:solidFill>
                <a:latin typeface="Calibri" pitchFamily="34" charset="0"/>
                <a:ea typeface="Calibri" pitchFamily="34" charset="-122"/>
                <a:cs typeface="Calibri" pitchFamily="34" charset="-120"/>
              </a:rPr>
              <a:t>08</a:t>
            </a:r>
            <a:endParaRPr lang="en-US" sz="1100" dirty="0"/>
          </a:p>
        </p:txBody>
      </p:sp>
      <p:sp>
        <p:nvSpPr>
          <p:cNvPr id="29" name="Text 27"/>
          <p:cNvSpPr/>
          <p:nvPr/>
        </p:nvSpPr>
        <p:spPr>
          <a:xfrm>
            <a:off x="6858000" y="1243584"/>
            <a:ext cx="2560320" cy="329184"/>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Dashboard Pages Overview</a:t>
            </a:r>
            <a:endParaRPr lang="en-US" sz="1000" dirty="0"/>
          </a:p>
        </p:txBody>
      </p:sp>
      <p:sp>
        <p:nvSpPr>
          <p:cNvPr id="30" name="Shape 28"/>
          <p:cNvSpPr/>
          <p:nvPr/>
        </p:nvSpPr>
        <p:spPr>
          <a:xfrm>
            <a:off x="6400800" y="1911096"/>
            <a:ext cx="384048" cy="384048"/>
          </a:xfrm>
          <a:prstGeom prst="rect">
            <a:avLst/>
          </a:prstGeom>
          <a:solidFill>
            <a:srgbClr val="0A2342"/>
          </a:solidFill>
          <a:ln w="12700">
            <a:solidFill>
              <a:srgbClr val="0A2342"/>
            </a:solidFill>
            <a:prstDash val="solid"/>
          </a:ln>
        </p:spPr>
      </p:sp>
      <p:sp>
        <p:nvSpPr>
          <p:cNvPr id="31" name="Text 29"/>
          <p:cNvSpPr/>
          <p:nvPr/>
        </p:nvSpPr>
        <p:spPr>
          <a:xfrm>
            <a:off x="6400800" y="1911096"/>
            <a:ext cx="384048" cy="384048"/>
          </a:xfrm>
          <a:prstGeom prst="rect">
            <a:avLst/>
          </a:prstGeom>
          <a:noFill/>
          <a:ln/>
        </p:spPr>
        <p:txBody>
          <a:bodyPr wrap="square" lIns="0" tIns="0" rIns="0" bIns="0" rtlCol="0" anchor="ctr"/>
          <a:lstStyle/>
          <a:p>
            <a:pPr algn="ctr" indent="0" marL="0">
              <a:buNone/>
            </a:pPr>
            <a:r>
              <a:rPr lang="en-US" sz="1100" b="1" dirty="0">
                <a:solidFill>
                  <a:srgbClr val="C9943A"/>
                </a:solidFill>
                <a:latin typeface="Calibri" pitchFamily="34" charset="0"/>
                <a:ea typeface="Calibri" pitchFamily="34" charset="-122"/>
                <a:cs typeface="Calibri" pitchFamily="34" charset="-120"/>
              </a:rPr>
              <a:t>09</a:t>
            </a:r>
            <a:endParaRPr lang="en-US" sz="1100" dirty="0"/>
          </a:p>
        </p:txBody>
      </p:sp>
      <p:sp>
        <p:nvSpPr>
          <p:cNvPr id="32" name="Text 30"/>
          <p:cNvSpPr/>
          <p:nvPr/>
        </p:nvSpPr>
        <p:spPr>
          <a:xfrm>
            <a:off x="6858000" y="1947672"/>
            <a:ext cx="2560320" cy="329184"/>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Key Insights &amp; Findings</a:t>
            </a:r>
            <a:endParaRPr lang="en-US" sz="1000" dirty="0"/>
          </a:p>
        </p:txBody>
      </p:sp>
      <p:sp>
        <p:nvSpPr>
          <p:cNvPr id="33" name="Shape 31"/>
          <p:cNvSpPr/>
          <p:nvPr/>
        </p:nvSpPr>
        <p:spPr>
          <a:xfrm>
            <a:off x="6400800" y="2615184"/>
            <a:ext cx="384048" cy="384048"/>
          </a:xfrm>
          <a:prstGeom prst="rect">
            <a:avLst/>
          </a:prstGeom>
          <a:solidFill>
            <a:srgbClr val="0A2342"/>
          </a:solidFill>
          <a:ln w="12700">
            <a:solidFill>
              <a:srgbClr val="0A2342"/>
            </a:solidFill>
            <a:prstDash val="solid"/>
          </a:ln>
        </p:spPr>
      </p:sp>
      <p:sp>
        <p:nvSpPr>
          <p:cNvPr id="34" name="Text 32"/>
          <p:cNvSpPr/>
          <p:nvPr/>
        </p:nvSpPr>
        <p:spPr>
          <a:xfrm>
            <a:off x="6400800" y="2615184"/>
            <a:ext cx="384048" cy="384048"/>
          </a:xfrm>
          <a:prstGeom prst="rect">
            <a:avLst/>
          </a:prstGeom>
          <a:noFill/>
          <a:ln/>
        </p:spPr>
        <p:txBody>
          <a:bodyPr wrap="square" lIns="0" tIns="0" rIns="0" bIns="0" rtlCol="0" anchor="ctr"/>
          <a:lstStyle/>
          <a:p>
            <a:pPr algn="ctr" indent="0" marL="0">
              <a:buNone/>
            </a:pPr>
            <a:r>
              <a:rPr lang="en-US" sz="1100" b="1" dirty="0">
                <a:solidFill>
                  <a:srgbClr val="C9943A"/>
                </a:solidFill>
                <a:latin typeface="Calibri" pitchFamily="34" charset="0"/>
                <a:ea typeface="Calibri" pitchFamily="34" charset="-122"/>
                <a:cs typeface="Calibri" pitchFamily="34" charset="-120"/>
              </a:rPr>
              <a:t>10</a:t>
            </a:r>
            <a:endParaRPr lang="en-US" sz="1100" dirty="0"/>
          </a:p>
        </p:txBody>
      </p:sp>
      <p:sp>
        <p:nvSpPr>
          <p:cNvPr id="35" name="Text 33"/>
          <p:cNvSpPr/>
          <p:nvPr/>
        </p:nvSpPr>
        <p:spPr>
          <a:xfrm>
            <a:off x="6858000" y="2651760"/>
            <a:ext cx="2560320" cy="329184"/>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Strategic Recommendations (12 Actions)</a:t>
            </a:r>
            <a:endParaRPr lang="en-US" sz="1000" dirty="0"/>
          </a:p>
        </p:txBody>
      </p:sp>
      <p:sp>
        <p:nvSpPr>
          <p:cNvPr id="36" name="Shape 34"/>
          <p:cNvSpPr/>
          <p:nvPr/>
        </p:nvSpPr>
        <p:spPr>
          <a:xfrm>
            <a:off x="6400800" y="3319272"/>
            <a:ext cx="384048" cy="384048"/>
          </a:xfrm>
          <a:prstGeom prst="rect">
            <a:avLst/>
          </a:prstGeom>
          <a:solidFill>
            <a:srgbClr val="0A2342"/>
          </a:solidFill>
          <a:ln w="12700">
            <a:solidFill>
              <a:srgbClr val="0A2342"/>
            </a:solidFill>
            <a:prstDash val="solid"/>
          </a:ln>
        </p:spPr>
      </p:sp>
      <p:sp>
        <p:nvSpPr>
          <p:cNvPr id="37" name="Text 35"/>
          <p:cNvSpPr/>
          <p:nvPr/>
        </p:nvSpPr>
        <p:spPr>
          <a:xfrm>
            <a:off x="6400800" y="3319272"/>
            <a:ext cx="384048" cy="384048"/>
          </a:xfrm>
          <a:prstGeom prst="rect">
            <a:avLst/>
          </a:prstGeom>
          <a:noFill/>
          <a:ln/>
        </p:spPr>
        <p:txBody>
          <a:bodyPr wrap="square" lIns="0" tIns="0" rIns="0" bIns="0" rtlCol="0" anchor="ctr"/>
          <a:lstStyle/>
          <a:p>
            <a:pPr algn="ctr" indent="0" marL="0">
              <a:buNone/>
            </a:pPr>
            <a:r>
              <a:rPr lang="en-US" sz="1100" b="1" dirty="0">
                <a:solidFill>
                  <a:srgbClr val="C9943A"/>
                </a:solidFill>
                <a:latin typeface="Calibri" pitchFamily="34" charset="0"/>
                <a:ea typeface="Calibri" pitchFamily="34" charset="-122"/>
                <a:cs typeface="Calibri" pitchFamily="34" charset="-120"/>
              </a:rPr>
              <a:t>11</a:t>
            </a:r>
            <a:endParaRPr lang="en-US" sz="1100" dirty="0"/>
          </a:p>
        </p:txBody>
      </p:sp>
      <p:sp>
        <p:nvSpPr>
          <p:cNvPr id="38" name="Text 36"/>
          <p:cNvSpPr/>
          <p:nvPr/>
        </p:nvSpPr>
        <p:spPr>
          <a:xfrm>
            <a:off x="6858000" y="3355848"/>
            <a:ext cx="2560320" cy="329184"/>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KPIs &amp; Success Metrics</a:t>
            </a:r>
            <a:endParaRPr lang="en-US" sz="1000" dirty="0"/>
          </a:p>
        </p:txBody>
      </p:sp>
      <p:sp>
        <p:nvSpPr>
          <p:cNvPr id="39" name="Shape 37"/>
          <p:cNvSpPr/>
          <p:nvPr/>
        </p:nvSpPr>
        <p:spPr>
          <a:xfrm>
            <a:off x="6400800" y="4023360"/>
            <a:ext cx="384048" cy="384048"/>
          </a:xfrm>
          <a:prstGeom prst="rect">
            <a:avLst/>
          </a:prstGeom>
          <a:solidFill>
            <a:srgbClr val="0A2342"/>
          </a:solidFill>
          <a:ln w="12700">
            <a:solidFill>
              <a:srgbClr val="0A2342"/>
            </a:solidFill>
            <a:prstDash val="solid"/>
          </a:ln>
        </p:spPr>
      </p:sp>
      <p:sp>
        <p:nvSpPr>
          <p:cNvPr id="40" name="Text 38"/>
          <p:cNvSpPr/>
          <p:nvPr/>
        </p:nvSpPr>
        <p:spPr>
          <a:xfrm>
            <a:off x="6400800" y="4023360"/>
            <a:ext cx="384048" cy="384048"/>
          </a:xfrm>
          <a:prstGeom prst="rect">
            <a:avLst/>
          </a:prstGeom>
          <a:noFill/>
          <a:ln/>
        </p:spPr>
        <p:txBody>
          <a:bodyPr wrap="square" lIns="0" tIns="0" rIns="0" bIns="0" rtlCol="0" anchor="ctr"/>
          <a:lstStyle/>
          <a:p>
            <a:pPr algn="ctr" indent="0" marL="0">
              <a:buNone/>
            </a:pPr>
            <a:r>
              <a:rPr lang="en-US" sz="1100" b="1" dirty="0">
                <a:solidFill>
                  <a:srgbClr val="C9943A"/>
                </a:solidFill>
                <a:latin typeface="Calibri" pitchFamily="34" charset="0"/>
                <a:ea typeface="Calibri" pitchFamily="34" charset="-122"/>
                <a:cs typeface="Calibri" pitchFamily="34" charset="-120"/>
              </a:rPr>
              <a:t>12</a:t>
            </a:r>
            <a:endParaRPr lang="en-US" sz="1100" dirty="0"/>
          </a:p>
        </p:txBody>
      </p:sp>
      <p:sp>
        <p:nvSpPr>
          <p:cNvPr id="41" name="Text 39"/>
          <p:cNvSpPr/>
          <p:nvPr/>
        </p:nvSpPr>
        <p:spPr>
          <a:xfrm>
            <a:off x="6858000" y="4059936"/>
            <a:ext cx="2560320" cy="329184"/>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Project Team</a:t>
            </a:r>
            <a:endParaRPr lang="en-US" sz="1000" dirty="0"/>
          </a:p>
        </p:txBody>
      </p:sp>
      <p:sp>
        <p:nvSpPr>
          <p:cNvPr id="42" name="Shape 40"/>
          <p:cNvSpPr/>
          <p:nvPr/>
        </p:nvSpPr>
        <p:spPr>
          <a:xfrm>
            <a:off x="0" y="4873752"/>
            <a:ext cx="9144000" cy="269748"/>
          </a:xfrm>
          <a:prstGeom prst="rect">
            <a:avLst/>
          </a:prstGeom>
          <a:solidFill>
            <a:srgbClr val="0A2342"/>
          </a:solidFill>
          <a:ln w="12700">
            <a:solidFill>
              <a:srgbClr val="0A2342"/>
            </a:solidFill>
            <a:prstDash val="solid"/>
          </a:ln>
        </p:spPr>
      </p:sp>
      <p:sp>
        <p:nvSpPr>
          <p:cNvPr id="43" name="Text 41"/>
          <p:cNvSpPr/>
          <p:nvPr/>
        </p:nvSpPr>
        <p:spPr>
          <a:xfrm>
            <a:off x="274320" y="4882896"/>
            <a:ext cx="8595360" cy="246888"/>
          </a:xfrm>
          <a:prstGeom prst="rect">
            <a:avLst/>
          </a:prstGeom>
          <a:noFill/>
          <a:ln/>
        </p:spPr>
        <p:txBody>
          <a:bodyPr wrap="square" lIns="0" tIns="0" rIns="0" bIns="0" rtlCol="0" anchor="ctr"/>
          <a:lstStyle/>
          <a:p>
            <a:pPr indent="0" marL="0">
              <a:buNone/>
            </a:pPr>
            <a:r>
              <a:rPr lang="en-US" sz="800" dirty="0">
                <a:solidFill>
                  <a:srgbClr val="C9943A"/>
                </a:solidFill>
                <a:latin typeface="Calibri" pitchFamily="34" charset="0"/>
                <a:ea typeface="Calibri" pitchFamily="34" charset="-122"/>
                <a:cs typeface="Calibri" pitchFamily="34" charset="-120"/>
              </a:rPr>
              <a:t>Egyptian Export Observatory  |  DEPI Data Analysis Track  |  CLS-EGX-TRADEG1-T1  |  2025</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502920"/>
          </a:xfrm>
          <a:prstGeom prst="rect">
            <a:avLst/>
          </a:prstGeom>
          <a:noFill/>
          <a:ln/>
        </p:spPr>
        <p:txBody>
          <a:bodyPr wrap="square" lIns="0" tIns="0" rIns="0" bIns="0" rtlCol="0" anchor="ctr"/>
          <a:lstStyle/>
          <a:p>
            <a:pPr indent="0" marL="0">
              <a:buNone/>
            </a:pPr>
            <a:r>
              <a:rPr lang="en-US" sz="2600" b="1" dirty="0">
                <a:solidFill>
                  <a:srgbClr val="0A2342"/>
                </a:solidFill>
                <a:latin typeface="Calibri" pitchFamily="34" charset="0"/>
                <a:ea typeface="Calibri" pitchFamily="34" charset="-122"/>
                <a:cs typeface="Calibri" pitchFamily="34" charset="-120"/>
              </a:rPr>
              <a:t>Project Overview</a:t>
            </a:r>
            <a:endParaRPr lang="en-US" sz="2600" dirty="0"/>
          </a:p>
        </p:txBody>
      </p:sp>
      <p:sp>
        <p:nvSpPr>
          <p:cNvPr id="3" name="Text 1"/>
          <p:cNvSpPr/>
          <p:nvPr/>
        </p:nvSpPr>
        <p:spPr>
          <a:xfrm>
            <a:off x="457200" y="694944"/>
            <a:ext cx="8229600" cy="2743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What is the Egyptian Export Observatory?</a:t>
            </a:r>
            <a:endParaRPr lang="en-US" sz="1200" dirty="0"/>
          </a:p>
        </p:txBody>
      </p:sp>
      <p:sp>
        <p:nvSpPr>
          <p:cNvPr id="4" name="Shape 2"/>
          <p:cNvSpPr/>
          <p:nvPr/>
        </p:nvSpPr>
        <p:spPr>
          <a:xfrm>
            <a:off x="457200" y="1024128"/>
            <a:ext cx="8229600" cy="27432"/>
          </a:xfrm>
          <a:prstGeom prst="rect">
            <a:avLst/>
          </a:prstGeom>
          <a:solidFill>
            <a:srgbClr val="C9943A"/>
          </a:solidFill>
          <a:ln w="12700">
            <a:solidFill>
              <a:srgbClr val="C9943A"/>
            </a:solidFill>
            <a:prstDash val="solid"/>
          </a:ln>
        </p:spPr>
      </p:sp>
      <p:sp>
        <p:nvSpPr>
          <p:cNvPr id="5" name="Text 3"/>
          <p:cNvSpPr/>
          <p:nvPr/>
        </p:nvSpPr>
        <p:spPr>
          <a:xfrm>
            <a:off x="457200" y="1143000"/>
            <a:ext cx="8229600" cy="64008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The Egyptian Export Observatory is an 8-page interactive Power BI intelligence platform that consolidates 15 years of Egypt's official trade data (2010–2024) into a unified analytical layer — making complex trade statistics accessible, visual, and actionable for policymakers, researchers, and the private sector.</a:t>
            </a:r>
            <a:endParaRPr lang="en-US" sz="1050" dirty="0"/>
          </a:p>
        </p:txBody>
      </p:sp>
      <p:sp>
        <p:nvSpPr>
          <p:cNvPr id="6" name="Shape 4"/>
          <p:cNvSpPr/>
          <p:nvPr/>
        </p:nvSpPr>
        <p:spPr>
          <a:xfrm>
            <a:off x="457200" y="1920240"/>
            <a:ext cx="2606040" cy="2286000"/>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7" name="Shape 5"/>
          <p:cNvSpPr/>
          <p:nvPr/>
        </p:nvSpPr>
        <p:spPr>
          <a:xfrm>
            <a:off x="457200" y="1920240"/>
            <a:ext cx="2606040" cy="54864"/>
          </a:xfrm>
          <a:prstGeom prst="rect">
            <a:avLst/>
          </a:prstGeom>
          <a:solidFill>
            <a:srgbClr val="0A2342"/>
          </a:solidFill>
          <a:ln w="12700">
            <a:solidFill>
              <a:srgbClr val="0A2342"/>
            </a:solidFill>
            <a:prstDash val="solid"/>
          </a:ln>
        </p:spPr>
      </p:sp>
      <p:sp>
        <p:nvSpPr>
          <p:cNvPr id="8" name="Text 6"/>
          <p:cNvSpPr/>
          <p:nvPr/>
        </p:nvSpPr>
        <p:spPr>
          <a:xfrm>
            <a:off x="594360" y="2011680"/>
            <a:ext cx="2331720" cy="292608"/>
          </a:xfrm>
          <a:prstGeom prst="rect">
            <a:avLst/>
          </a:prstGeom>
          <a:noFill/>
          <a:ln/>
        </p:spPr>
        <p:txBody>
          <a:bodyPr wrap="square" lIns="0" tIns="0" rIns="0" bIns="0" rtlCol="0" anchor="ctr"/>
          <a:lstStyle/>
          <a:p>
            <a:pPr indent="0" marL="0">
              <a:buNone/>
            </a:pPr>
            <a:r>
              <a:rPr lang="en-US" sz="1100" b="1" dirty="0">
                <a:solidFill>
                  <a:srgbClr val="0A2342"/>
                </a:solidFill>
                <a:latin typeface="Calibri" pitchFamily="34" charset="0"/>
                <a:ea typeface="Calibri" pitchFamily="34" charset="-122"/>
                <a:cs typeface="Calibri" pitchFamily="34" charset="-120"/>
              </a:rPr>
              <a:t>OBJECTIVE</a:t>
            </a:r>
            <a:endParaRPr lang="en-US" sz="1100" dirty="0"/>
          </a:p>
        </p:txBody>
      </p:sp>
      <p:sp>
        <p:nvSpPr>
          <p:cNvPr id="9" name="Text 7"/>
          <p:cNvSpPr/>
          <p:nvPr/>
        </p:nvSpPr>
        <p:spPr>
          <a:xfrm>
            <a:off x="594360" y="2331720"/>
            <a:ext cx="2331720" cy="173736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Design and deliver a data-driven export intelligence platform enabling evidence-based analysis in pursuit of Vision 2030 targets</a:t>
            </a:r>
            <a:endParaRPr lang="en-US" sz="950" dirty="0"/>
          </a:p>
        </p:txBody>
      </p:sp>
      <p:sp>
        <p:nvSpPr>
          <p:cNvPr id="10" name="Shape 8"/>
          <p:cNvSpPr/>
          <p:nvPr/>
        </p:nvSpPr>
        <p:spPr>
          <a:xfrm>
            <a:off x="3273552" y="1920240"/>
            <a:ext cx="2606040" cy="2286000"/>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11" name="Shape 9"/>
          <p:cNvSpPr/>
          <p:nvPr/>
        </p:nvSpPr>
        <p:spPr>
          <a:xfrm>
            <a:off x="3273552" y="1920240"/>
            <a:ext cx="2606040" cy="54864"/>
          </a:xfrm>
          <a:prstGeom prst="rect">
            <a:avLst/>
          </a:prstGeom>
          <a:solidFill>
            <a:srgbClr val="007B55"/>
          </a:solidFill>
          <a:ln w="12700">
            <a:solidFill>
              <a:srgbClr val="007B55"/>
            </a:solidFill>
            <a:prstDash val="solid"/>
          </a:ln>
        </p:spPr>
      </p:sp>
      <p:sp>
        <p:nvSpPr>
          <p:cNvPr id="12" name="Text 10"/>
          <p:cNvSpPr/>
          <p:nvPr/>
        </p:nvSpPr>
        <p:spPr>
          <a:xfrm>
            <a:off x="3410712" y="2011680"/>
            <a:ext cx="2331720" cy="292608"/>
          </a:xfrm>
          <a:prstGeom prst="rect">
            <a:avLst/>
          </a:prstGeom>
          <a:noFill/>
          <a:ln/>
        </p:spPr>
        <p:txBody>
          <a:bodyPr wrap="square" lIns="0" tIns="0" rIns="0" bIns="0" rtlCol="0" anchor="ctr"/>
          <a:lstStyle/>
          <a:p>
            <a:pPr indent="0" marL="0">
              <a:buNone/>
            </a:pPr>
            <a:r>
              <a:rPr lang="en-US" sz="1100" b="1" dirty="0">
                <a:solidFill>
                  <a:srgbClr val="007B55"/>
                </a:solidFill>
                <a:latin typeface="Calibri" pitchFamily="34" charset="0"/>
                <a:ea typeface="Calibri" pitchFamily="34" charset="-122"/>
                <a:cs typeface="Calibri" pitchFamily="34" charset="-120"/>
              </a:rPr>
              <a:t>SCOPE</a:t>
            </a:r>
            <a:endParaRPr lang="en-US" sz="1100" dirty="0"/>
          </a:p>
        </p:txBody>
      </p:sp>
      <p:sp>
        <p:nvSpPr>
          <p:cNvPr id="13" name="Text 11"/>
          <p:cNvSpPr/>
          <p:nvPr/>
        </p:nvSpPr>
        <p:spPr>
          <a:xfrm>
            <a:off x="3410712" y="2331720"/>
            <a:ext cx="2331720" cy="173736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17 structured data tables · 7,000+ records · 15-year horizon (2010–2024) · 120+ bilateral trade partners · 18 Vision 2030 KPIs</a:t>
            </a:r>
            <a:endParaRPr lang="en-US" sz="950" dirty="0"/>
          </a:p>
        </p:txBody>
      </p:sp>
      <p:sp>
        <p:nvSpPr>
          <p:cNvPr id="14" name="Shape 12"/>
          <p:cNvSpPr/>
          <p:nvPr/>
        </p:nvSpPr>
        <p:spPr>
          <a:xfrm>
            <a:off x="6089904" y="1920240"/>
            <a:ext cx="2606040" cy="2286000"/>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15" name="Shape 13"/>
          <p:cNvSpPr/>
          <p:nvPr/>
        </p:nvSpPr>
        <p:spPr>
          <a:xfrm>
            <a:off x="6089904" y="1920240"/>
            <a:ext cx="2606040" cy="54864"/>
          </a:xfrm>
          <a:prstGeom prst="rect">
            <a:avLst/>
          </a:prstGeom>
          <a:solidFill>
            <a:srgbClr val="C9943A"/>
          </a:solidFill>
          <a:ln w="12700">
            <a:solidFill>
              <a:srgbClr val="C9943A"/>
            </a:solidFill>
            <a:prstDash val="solid"/>
          </a:ln>
        </p:spPr>
      </p:sp>
      <p:sp>
        <p:nvSpPr>
          <p:cNvPr id="16" name="Text 14"/>
          <p:cNvSpPr/>
          <p:nvPr/>
        </p:nvSpPr>
        <p:spPr>
          <a:xfrm>
            <a:off x="6227064" y="2011680"/>
            <a:ext cx="2331720" cy="292608"/>
          </a:xfrm>
          <a:prstGeom prst="rect">
            <a:avLst/>
          </a:prstGeom>
          <a:noFill/>
          <a:ln/>
        </p:spPr>
        <p:txBody>
          <a:bodyPr wrap="square" lIns="0" tIns="0" rIns="0" bIns="0" rtlCol="0" anchor="ctr"/>
          <a:lstStyle/>
          <a:p>
            <a:pPr indent="0" marL="0">
              <a:buNone/>
            </a:pPr>
            <a:r>
              <a:rPr lang="en-US" sz="1100" b="1" dirty="0">
                <a:solidFill>
                  <a:srgbClr val="C9943A"/>
                </a:solidFill>
                <a:latin typeface="Calibri" pitchFamily="34" charset="0"/>
                <a:ea typeface="Calibri" pitchFamily="34" charset="-122"/>
                <a:cs typeface="Calibri" pitchFamily="34" charset="-120"/>
              </a:rPr>
              <a:t>OUTCOME</a:t>
            </a:r>
            <a:endParaRPr lang="en-US" sz="1100" dirty="0"/>
          </a:p>
        </p:txBody>
      </p:sp>
      <p:sp>
        <p:nvSpPr>
          <p:cNvPr id="17" name="Text 15"/>
          <p:cNvSpPr/>
          <p:nvPr/>
        </p:nvSpPr>
        <p:spPr>
          <a:xfrm>
            <a:off x="6227064" y="2331720"/>
            <a:ext cx="2331720" cy="173736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Identify four structural gaps · Deliver 12 quantified recommendations · Build an interactive scenario engine for strategic planning</a:t>
            </a:r>
            <a:endParaRPr lang="en-US" sz="950" dirty="0"/>
          </a:p>
        </p:txBody>
      </p:sp>
      <p:sp>
        <p:nvSpPr>
          <p:cNvPr id="18" name="Shape 16"/>
          <p:cNvSpPr/>
          <p:nvPr/>
        </p:nvSpPr>
        <p:spPr>
          <a:xfrm>
            <a:off x="457200" y="4315968"/>
            <a:ext cx="1353312" cy="685800"/>
          </a:xfrm>
          <a:prstGeom prst="rect">
            <a:avLst/>
          </a:prstGeom>
          <a:solidFill>
            <a:srgbClr val="0A2342"/>
          </a:solidFill>
          <a:ln w="12700">
            <a:solidFill>
              <a:srgbClr val="0A2342"/>
            </a:solidFill>
            <a:prstDash val="solid"/>
          </a:ln>
          <a:effectLst>
            <a:outerShdw sx="100000" sy="100000" kx="0" ky="0" algn="bl" rotWithShape="0" blurRad="101600" dist="25400" dir="8100000">
              <a:srgbClr val="000000">
                <a:alpha val="13000"/>
              </a:srgbClr>
            </a:outerShdw>
          </a:effectLst>
        </p:spPr>
      </p:sp>
      <p:sp>
        <p:nvSpPr>
          <p:cNvPr id="19" name="Text 17"/>
          <p:cNvSpPr/>
          <p:nvPr/>
        </p:nvSpPr>
        <p:spPr>
          <a:xfrm>
            <a:off x="457200" y="4352544"/>
            <a:ext cx="1353312" cy="292608"/>
          </a:xfrm>
          <a:prstGeom prst="rect">
            <a:avLst/>
          </a:prstGeom>
          <a:noFill/>
          <a:ln/>
        </p:spPr>
        <p:txBody>
          <a:bodyPr wrap="square" lIns="0" tIns="0" rIns="0" bIns="0" rtlCol="0" anchor="ctr"/>
          <a:lstStyle/>
          <a:p>
            <a:pPr algn="ctr" indent="0" marL="0">
              <a:buNone/>
            </a:pPr>
            <a:r>
              <a:rPr lang="en-US" sz="1400" b="1" dirty="0">
                <a:solidFill>
                  <a:srgbClr val="C9943A"/>
                </a:solidFill>
                <a:latin typeface="Calibri" pitchFamily="34" charset="0"/>
                <a:ea typeface="Calibri" pitchFamily="34" charset="-122"/>
                <a:cs typeface="Calibri" pitchFamily="34" charset="-120"/>
              </a:rPr>
              <a:t>$32.6B</a:t>
            </a:r>
            <a:endParaRPr lang="en-US" sz="1400" dirty="0"/>
          </a:p>
        </p:txBody>
      </p:sp>
      <p:sp>
        <p:nvSpPr>
          <p:cNvPr id="20" name="Text 18"/>
          <p:cNvSpPr/>
          <p:nvPr/>
        </p:nvSpPr>
        <p:spPr>
          <a:xfrm>
            <a:off x="457200" y="4645152"/>
            <a:ext cx="1353312" cy="274320"/>
          </a:xfrm>
          <a:prstGeom prst="rect">
            <a:avLst/>
          </a:prstGeom>
          <a:noFill/>
          <a:ln/>
        </p:spPr>
        <p:txBody>
          <a:bodyPr wrap="square" lIns="0" tIns="0" rIns="0" bIns="0" rtlCol="0" anchor="ctr"/>
          <a:lstStyle/>
          <a:p>
            <a:pPr algn="ctr" indent="0" marL="0">
              <a:buNone/>
            </a:pPr>
            <a:r>
              <a:rPr lang="en-US" sz="750" dirty="0">
                <a:solidFill>
                  <a:srgbClr val="A0B8D0"/>
                </a:solidFill>
                <a:latin typeface="Calibri" pitchFamily="34" charset="0"/>
                <a:ea typeface="Calibri" pitchFamily="34" charset="-122"/>
                <a:cs typeface="Calibri" pitchFamily="34" charset="-120"/>
              </a:rPr>
              <a:t>Total Exports</a:t>
            </a:r>
            <a:endParaRPr lang="en-US" sz="750" dirty="0"/>
          </a:p>
          <a:p>
            <a:pPr algn="ctr" indent="0" marL="0">
              <a:buNone/>
            </a:pPr>
            <a:r>
              <a:rPr lang="en-US" sz="750" dirty="0">
                <a:solidFill>
                  <a:srgbClr val="A0B8D0"/>
                </a:solidFill>
                <a:latin typeface="Calibri" pitchFamily="34" charset="0"/>
                <a:ea typeface="Calibri" pitchFamily="34" charset="-122"/>
                <a:cs typeface="Calibri" pitchFamily="34" charset="-120"/>
              </a:rPr>
              <a:t>2024</a:t>
            </a:r>
            <a:endParaRPr lang="en-US" sz="750" dirty="0"/>
          </a:p>
        </p:txBody>
      </p:sp>
      <p:sp>
        <p:nvSpPr>
          <p:cNvPr id="21" name="Shape 19"/>
          <p:cNvSpPr/>
          <p:nvPr/>
        </p:nvSpPr>
        <p:spPr>
          <a:xfrm>
            <a:off x="1874520" y="4315968"/>
            <a:ext cx="1353312" cy="685800"/>
          </a:xfrm>
          <a:prstGeom prst="rect">
            <a:avLst/>
          </a:prstGeom>
          <a:solidFill>
            <a:srgbClr val="0A2342"/>
          </a:solidFill>
          <a:ln w="12700">
            <a:solidFill>
              <a:srgbClr val="0A2342"/>
            </a:solidFill>
            <a:prstDash val="solid"/>
          </a:ln>
          <a:effectLst>
            <a:outerShdw sx="100000" sy="100000" kx="0" ky="0" algn="bl" rotWithShape="0" blurRad="101600" dist="25400" dir="8100000">
              <a:srgbClr val="000000">
                <a:alpha val="13000"/>
              </a:srgbClr>
            </a:outerShdw>
          </a:effectLst>
        </p:spPr>
      </p:sp>
      <p:sp>
        <p:nvSpPr>
          <p:cNvPr id="22" name="Text 20"/>
          <p:cNvSpPr/>
          <p:nvPr/>
        </p:nvSpPr>
        <p:spPr>
          <a:xfrm>
            <a:off x="1874520" y="4352544"/>
            <a:ext cx="1353312" cy="292608"/>
          </a:xfrm>
          <a:prstGeom prst="rect">
            <a:avLst/>
          </a:prstGeom>
          <a:noFill/>
          <a:ln/>
        </p:spPr>
        <p:txBody>
          <a:bodyPr wrap="square" lIns="0" tIns="0" rIns="0" bIns="0" rtlCol="0" anchor="ctr"/>
          <a:lstStyle/>
          <a:p>
            <a:pPr algn="ctr" indent="0" marL="0">
              <a:buNone/>
            </a:pPr>
            <a:r>
              <a:rPr lang="en-US" sz="1400" b="1" dirty="0">
                <a:solidFill>
                  <a:srgbClr val="C9943A"/>
                </a:solidFill>
                <a:latin typeface="Calibri" pitchFamily="34" charset="0"/>
                <a:ea typeface="Calibri" pitchFamily="34" charset="-122"/>
                <a:cs typeface="Calibri" pitchFamily="34" charset="-120"/>
              </a:rPr>
              <a:t>1 Line</a:t>
            </a:r>
            <a:endParaRPr lang="en-US" sz="1400" dirty="0"/>
          </a:p>
        </p:txBody>
      </p:sp>
      <p:sp>
        <p:nvSpPr>
          <p:cNvPr id="23" name="Text 21"/>
          <p:cNvSpPr/>
          <p:nvPr/>
        </p:nvSpPr>
        <p:spPr>
          <a:xfrm>
            <a:off x="1874520" y="4645152"/>
            <a:ext cx="1353312" cy="274320"/>
          </a:xfrm>
          <a:prstGeom prst="rect">
            <a:avLst/>
          </a:prstGeom>
          <a:noFill/>
          <a:ln/>
        </p:spPr>
        <p:txBody>
          <a:bodyPr wrap="square" lIns="0" tIns="0" rIns="0" bIns="0" rtlCol="0" anchor="ctr"/>
          <a:lstStyle/>
          <a:p>
            <a:pPr algn="ctr" indent="0" marL="0">
              <a:buNone/>
            </a:pPr>
            <a:r>
              <a:rPr lang="en-US" sz="750" dirty="0">
                <a:solidFill>
                  <a:srgbClr val="A0B8D0"/>
                </a:solidFill>
                <a:latin typeface="Calibri" pitchFamily="34" charset="0"/>
                <a:ea typeface="Calibri" pitchFamily="34" charset="-122"/>
                <a:cs typeface="Calibri" pitchFamily="34" charset="-120"/>
              </a:rPr>
              <a:t>Dashboard</a:t>
            </a:r>
            <a:endParaRPr lang="en-US" sz="750" dirty="0"/>
          </a:p>
          <a:p>
            <a:pPr algn="ctr" indent="0" marL="0">
              <a:buNone/>
            </a:pPr>
            <a:r>
              <a:rPr lang="en-US" sz="750" dirty="0">
                <a:solidFill>
                  <a:srgbClr val="A0B8D0"/>
                </a:solidFill>
                <a:latin typeface="Calibri" pitchFamily="34" charset="0"/>
                <a:ea typeface="Calibri" pitchFamily="34" charset="-122"/>
                <a:cs typeface="Calibri" pitchFamily="34" charset="-120"/>
              </a:rPr>
              <a:t>Navigation</a:t>
            </a:r>
            <a:endParaRPr lang="en-US" sz="750" dirty="0"/>
          </a:p>
        </p:txBody>
      </p:sp>
      <p:sp>
        <p:nvSpPr>
          <p:cNvPr id="24" name="Shape 22"/>
          <p:cNvSpPr/>
          <p:nvPr/>
        </p:nvSpPr>
        <p:spPr>
          <a:xfrm>
            <a:off x="3291840" y="4315968"/>
            <a:ext cx="1353312" cy="685800"/>
          </a:xfrm>
          <a:prstGeom prst="rect">
            <a:avLst/>
          </a:prstGeom>
          <a:solidFill>
            <a:srgbClr val="0A2342"/>
          </a:solidFill>
          <a:ln w="12700">
            <a:solidFill>
              <a:srgbClr val="0A2342"/>
            </a:solidFill>
            <a:prstDash val="solid"/>
          </a:ln>
          <a:effectLst>
            <a:outerShdw sx="100000" sy="100000" kx="0" ky="0" algn="bl" rotWithShape="0" blurRad="101600" dist="25400" dir="8100000">
              <a:srgbClr val="000000">
                <a:alpha val="13000"/>
              </a:srgbClr>
            </a:outerShdw>
          </a:effectLst>
        </p:spPr>
      </p:sp>
      <p:sp>
        <p:nvSpPr>
          <p:cNvPr id="25" name="Text 23"/>
          <p:cNvSpPr/>
          <p:nvPr/>
        </p:nvSpPr>
        <p:spPr>
          <a:xfrm>
            <a:off x="3291840" y="4352544"/>
            <a:ext cx="1353312" cy="292608"/>
          </a:xfrm>
          <a:prstGeom prst="rect">
            <a:avLst/>
          </a:prstGeom>
          <a:noFill/>
          <a:ln/>
        </p:spPr>
        <p:txBody>
          <a:bodyPr wrap="square" lIns="0" tIns="0" rIns="0" bIns="0" rtlCol="0" anchor="ctr"/>
          <a:lstStyle/>
          <a:p>
            <a:pPr algn="ctr" indent="0" marL="0">
              <a:buNone/>
            </a:pPr>
            <a:r>
              <a:rPr lang="en-US" sz="1400" b="1" dirty="0">
                <a:solidFill>
                  <a:srgbClr val="C9943A"/>
                </a:solidFill>
                <a:latin typeface="Calibri" pitchFamily="34" charset="0"/>
                <a:ea typeface="Calibri" pitchFamily="34" charset="-122"/>
                <a:cs typeface="Calibri" pitchFamily="34" charset="-120"/>
              </a:rPr>
              <a:t>-$50B</a:t>
            </a:r>
            <a:endParaRPr lang="en-US" sz="1400" dirty="0"/>
          </a:p>
        </p:txBody>
      </p:sp>
      <p:sp>
        <p:nvSpPr>
          <p:cNvPr id="26" name="Text 24"/>
          <p:cNvSpPr/>
          <p:nvPr/>
        </p:nvSpPr>
        <p:spPr>
          <a:xfrm>
            <a:off x="3291840" y="4645152"/>
            <a:ext cx="1353312" cy="274320"/>
          </a:xfrm>
          <a:prstGeom prst="rect">
            <a:avLst/>
          </a:prstGeom>
          <a:noFill/>
          <a:ln/>
        </p:spPr>
        <p:txBody>
          <a:bodyPr wrap="square" lIns="0" tIns="0" rIns="0" bIns="0" rtlCol="0" anchor="ctr"/>
          <a:lstStyle/>
          <a:p>
            <a:pPr algn="ctr" indent="0" marL="0">
              <a:buNone/>
            </a:pPr>
            <a:r>
              <a:rPr lang="en-US" sz="750" dirty="0">
                <a:solidFill>
                  <a:srgbClr val="A0B8D0"/>
                </a:solidFill>
                <a:latin typeface="Calibri" pitchFamily="34" charset="0"/>
                <a:ea typeface="Calibri" pitchFamily="34" charset="-122"/>
                <a:cs typeface="Calibri" pitchFamily="34" charset="-120"/>
              </a:rPr>
              <a:t>Trade Deficit</a:t>
            </a:r>
            <a:endParaRPr lang="en-US" sz="750" dirty="0"/>
          </a:p>
          <a:p>
            <a:pPr algn="ctr" indent="0" marL="0">
              <a:buNone/>
            </a:pPr>
            <a:r>
              <a:rPr lang="en-US" sz="750" dirty="0">
                <a:solidFill>
                  <a:srgbClr val="A0B8D0"/>
                </a:solidFill>
                <a:latin typeface="Calibri" pitchFamily="34" charset="0"/>
                <a:ea typeface="Calibri" pitchFamily="34" charset="-122"/>
                <a:cs typeface="Calibri" pitchFamily="34" charset="-120"/>
              </a:rPr>
              <a:t>2024</a:t>
            </a:r>
            <a:endParaRPr lang="en-US" sz="750" dirty="0"/>
          </a:p>
        </p:txBody>
      </p:sp>
      <p:sp>
        <p:nvSpPr>
          <p:cNvPr id="27" name="Shape 25"/>
          <p:cNvSpPr/>
          <p:nvPr/>
        </p:nvSpPr>
        <p:spPr>
          <a:xfrm>
            <a:off x="4709160" y="4315968"/>
            <a:ext cx="1353312" cy="685800"/>
          </a:xfrm>
          <a:prstGeom prst="rect">
            <a:avLst/>
          </a:prstGeom>
          <a:solidFill>
            <a:srgbClr val="0A2342"/>
          </a:solidFill>
          <a:ln w="12700">
            <a:solidFill>
              <a:srgbClr val="0A2342"/>
            </a:solidFill>
            <a:prstDash val="solid"/>
          </a:ln>
          <a:effectLst>
            <a:outerShdw sx="100000" sy="100000" kx="0" ky="0" algn="bl" rotWithShape="0" blurRad="101600" dist="25400" dir="8100000">
              <a:srgbClr val="000000">
                <a:alpha val="13000"/>
              </a:srgbClr>
            </a:outerShdw>
          </a:effectLst>
        </p:spPr>
      </p:sp>
      <p:sp>
        <p:nvSpPr>
          <p:cNvPr id="28" name="Text 26"/>
          <p:cNvSpPr/>
          <p:nvPr/>
        </p:nvSpPr>
        <p:spPr>
          <a:xfrm>
            <a:off x="4709160" y="4352544"/>
            <a:ext cx="1353312" cy="292608"/>
          </a:xfrm>
          <a:prstGeom prst="rect">
            <a:avLst/>
          </a:prstGeom>
          <a:noFill/>
          <a:ln/>
        </p:spPr>
        <p:txBody>
          <a:bodyPr wrap="square" lIns="0" tIns="0" rIns="0" bIns="0" rtlCol="0" anchor="ctr"/>
          <a:lstStyle/>
          <a:p>
            <a:pPr algn="ctr" indent="0" marL="0">
              <a:buNone/>
            </a:pPr>
            <a:r>
              <a:rPr lang="en-US" sz="1400" b="1" dirty="0">
                <a:solidFill>
                  <a:srgbClr val="C9943A"/>
                </a:solidFill>
                <a:latin typeface="Calibri" pitchFamily="34" charset="0"/>
                <a:ea typeface="Calibri" pitchFamily="34" charset="-122"/>
                <a:cs typeface="Calibri" pitchFamily="34" charset="-120"/>
              </a:rPr>
              <a:t>40+</a:t>
            </a:r>
            <a:endParaRPr lang="en-US" sz="1400" dirty="0"/>
          </a:p>
        </p:txBody>
      </p:sp>
      <p:sp>
        <p:nvSpPr>
          <p:cNvPr id="29" name="Text 27"/>
          <p:cNvSpPr/>
          <p:nvPr/>
        </p:nvSpPr>
        <p:spPr>
          <a:xfrm>
            <a:off x="4709160" y="4645152"/>
            <a:ext cx="1353312" cy="274320"/>
          </a:xfrm>
          <a:prstGeom prst="rect">
            <a:avLst/>
          </a:prstGeom>
          <a:noFill/>
          <a:ln/>
        </p:spPr>
        <p:txBody>
          <a:bodyPr wrap="square" lIns="0" tIns="0" rIns="0" bIns="0" rtlCol="0" anchor="ctr"/>
          <a:lstStyle/>
          <a:p>
            <a:pPr algn="ctr" indent="0" marL="0">
              <a:buNone/>
            </a:pPr>
            <a:r>
              <a:rPr lang="en-US" sz="750" dirty="0">
                <a:solidFill>
                  <a:srgbClr val="A0B8D0"/>
                </a:solidFill>
                <a:latin typeface="Calibri" pitchFamily="34" charset="0"/>
                <a:ea typeface="Calibri" pitchFamily="34" charset="-122"/>
                <a:cs typeface="Calibri" pitchFamily="34" charset="-120"/>
              </a:rPr>
              <a:t>DAX</a:t>
            </a:r>
            <a:endParaRPr lang="en-US" sz="750" dirty="0"/>
          </a:p>
          <a:p>
            <a:pPr algn="ctr" indent="0" marL="0">
              <a:buNone/>
            </a:pPr>
            <a:r>
              <a:rPr lang="en-US" sz="750" dirty="0">
                <a:solidFill>
                  <a:srgbClr val="A0B8D0"/>
                </a:solidFill>
                <a:latin typeface="Calibri" pitchFamily="34" charset="0"/>
                <a:ea typeface="Calibri" pitchFamily="34" charset="-122"/>
                <a:cs typeface="Calibri" pitchFamily="34" charset="-120"/>
              </a:rPr>
              <a:t>Measures</a:t>
            </a:r>
            <a:endParaRPr lang="en-US" sz="750" dirty="0"/>
          </a:p>
        </p:txBody>
      </p:sp>
      <p:sp>
        <p:nvSpPr>
          <p:cNvPr id="30" name="Shape 28"/>
          <p:cNvSpPr/>
          <p:nvPr/>
        </p:nvSpPr>
        <p:spPr>
          <a:xfrm>
            <a:off x="6126480" y="4315968"/>
            <a:ext cx="1353312" cy="685800"/>
          </a:xfrm>
          <a:prstGeom prst="rect">
            <a:avLst/>
          </a:prstGeom>
          <a:solidFill>
            <a:srgbClr val="0A2342"/>
          </a:solidFill>
          <a:ln w="12700">
            <a:solidFill>
              <a:srgbClr val="0A2342"/>
            </a:solidFill>
            <a:prstDash val="solid"/>
          </a:ln>
          <a:effectLst>
            <a:outerShdw sx="100000" sy="100000" kx="0" ky="0" algn="bl" rotWithShape="0" blurRad="101600" dist="25400" dir="8100000">
              <a:srgbClr val="000000">
                <a:alpha val="13000"/>
              </a:srgbClr>
            </a:outerShdw>
          </a:effectLst>
        </p:spPr>
      </p:sp>
      <p:sp>
        <p:nvSpPr>
          <p:cNvPr id="31" name="Text 29"/>
          <p:cNvSpPr/>
          <p:nvPr/>
        </p:nvSpPr>
        <p:spPr>
          <a:xfrm>
            <a:off x="6126480" y="4352544"/>
            <a:ext cx="1353312" cy="292608"/>
          </a:xfrm>
          <a:prstGeom prst="rect">
            <a:avLst/>
          </a:prstGeom>
          <a:noFill/>
          <a:ln/>
        </p:spPr>
        <p:txBody>
          <a:bodyPr wrap="square" lIns="0" tIns="0" rIns="0" bIns="0" rtlCol="0" anchor="ctr"/>
          <a:lstStyle/>
          <a:p>
            <a:pPr algn="ctr" indent="0" marL="0">
              <a:buNone/>
            </a:pPr>
            <a:r>
              <a:rPr lang="en-US" sz="1400" b="1" dirty="0">
                <a:solidFill>
                  <a:srgbClr val="C9943A"/>
                </a:solidFill>
                <a:latin typeface="Calibri" pitchFamily="34" charset="0"/>
                <a:ea typeface="Calibri" pitchFamily="34" charset="-122"/>
                <a:cs typeface="Calibri" pitchFamily="34" charset="-120"/>
              </a:rPr>
              <a:t>8 Pages</a:t>
            </a:r>
            <a:endParaRPr lang="en-US" sz="1400" dirty="0"/>
          </a:p>
        </p:txBody>
      </p:sp>
      <p:sp>
        <p:nvSpPr>
          <p:cNvPr id="32" name="Text 30"/>
          <p:cNvSpPr/>
          <p:nvPr/>
        </p:nvSpPr>
        <p:spPr>
          <a:xfrm>
            <a:off x="6126480" y="4645152"/>
            <a:ext cx="1353312" cy="274320"/>
          </a:xfrm>
          <a:prstGeom prst="rect">
            <a:avLst/>
          </a:prstGeom>
          <a:noFill/>
          <a:ln/>
        </p:spPr>
        <p:txBody>
          <a:bodyPr wrap="square" lIns="0" tIns="0" rIns="0" bIns="0" rtlCol="0" anchor="ctr"/>
          <a:lstStyle/>
          <a:p>
            <a:pPr algn="ctr" indent="0" marL="0">
              <a:buNone/>
            </a:pPr>
            <a:r>
              <a:rPr lang="en-US" sz="750" dirty="0">
                <a:solidFill>
                  <a:srgbClr val="A0B8D0"/>
                </a:solidFill>
                <a:latin typeface="Calibri" pitchFamily="34" charset="0"/>
                <a:ea typeface="Calibri" pitchFamily="34" charset="-122"/>
                <a:cs typeface="Calibri" pitchFamily="34" charset="-120"/>
              </a:rPr>
              <a:t>Dashboard</a:t>
            </a:r>
            <a:endParaRPr lang="en-US" sz="750" dirty="0"/>
          </a:p>
          <a:p>
            <a:pPr algn="ctr" indent="0" marL="0">
              <a:buNone/>
            </a:pPr>
            <a:r>
              <a:rPr lang="en-US" sz="750" dirty="0">
                <a:solidFill>
                  <a:srgbClr val="A0B8D0"/>
                </a:solidFill>
                <a:latin typeface="Calibri" pitchFamily="34" charset="0"/>
                <a:ea typeface="Calibri" pitchFamily="34" charset="-122"/>
                <a:cs typeface="Calibri" pitchFamily="34" charset="-120"/>
              </a:rPr>
              <a:t>Pages</a:t>
            </a:r>
            <a:endParaRPr lang="en-US" sz="750" dirty="0"/>
          </a:p>
        </p:txBody>
      </p:sp>
      <p:sp>
        <p:nvSpPr>
          <p:cNvPr id="33" name="Shape 31"/>
          <p:cNvSpPr/>
          <p:nvPr/>
        </p:nvSpPr>
        <p:spPr>
          <a:xfrm>
            <a:off x="7543800" y="4315968"/>
            <a:ext cx="1353312" cy="685800"/>
          </a:xfrm>
          <a:prstGeom prst="rect">
            <a:avLst/>
          </a:prstGeom>
          <a:solidFill>
            <a:srgbClr val="0A2342"/>
          </a:solidFill>
          <a:ln w="12700">
            <a:solidFill>
              <a:srgbClr val="0A2342"/>
            </a:solidFill>
            <a:prstDash val="solid"/>
          </a:ln>
          <a:effectLst>
            <a:outerShdw sx="100000" sy="100000" kx="0" ky="0" algn="bl" rotWithShape="0" blurRad="101600" dist="25400" dir="8100000">
              <a:srgbClr val="000000">
                <a:alpha val="13000"/>
              </a:srgbClr>
            </a:outerShdw>
          </a:effectLst>
        </p:spPr>
      </p:sp>
      <p:sp>
        <p:nvSpPr>
          <p:cNvPr id="34" name="Text 32"/>
          <p:cNvSpPr/>
          <p:nvPr/>
        </p:nvSpPr>
        <p:spPr>
          <a:xfrm>
            <a:off x="7543800" y="4352544"/>
            <a:ext cx="1353312" cy="292608"/>
          </a:xfrm>
          <a:prstGeom prst="rect">
            <a:avLst/>
          </a:prstGeom>
          <a:noFill/>
          <a:ln/>
        </p:spPr>
        <p:txBody>
          <a:bodyPr wrap="square" lIns="0" tIns="0" rIns="0" bIns="0" rtlCol="0" anchor="ctr"/>
          <a:lstStyle/>
          <a:p>
            <a:pPr algn="ctr" indent="0" marL="0">
              <a:buNone/>
            </a:pPr>
            <a:r>
              <a:rPr lang="en-US" sz="1400" b="1" dirty="0">
                <a:solidFill>
                  <a:srgbClr val="C9943A"/>
                </a:solidFill>
                <a:latin typeface="Calibri" pitchFamily="34" charset="0"/>
                <a:ea typeface="Calibri" pitchFamily="34" charset="-122"/>
                <a:cs typeface="Calibri" pitchFamily="34" charset="-120"/>
              </a:rPr>
              <a:t>120+</a:t>
            </a:r>
            <a:endParaRPr lang="en-US" sz="1400" dirty="0"/>
          </a:p>
        </p:txBody>
      </p:sp>
      <p:sp>
        <p:nvSpPr>
          <p:cNvPr id="35" name="Text 33"/>
          <p:cNvSpPr/>
          <p:nvPr/>
        </p:nvSpPr>
        <p:spPr>
          <a:xfrm>
            <a:off x="7543800" y="4645152"/>
            <a:ext cx="1353312" cy="274320"/>
          </a:xfrm>
          <a:prstGeom prst="rect">
            <a:avLst/>
          </a:prstGeom>
          <a:noFill/>
          <a:ln/>
        </p:spPr>
        <p:txBody>
          <a:bodyPr wrap="square" lIns="0" tIns="0" rIns="0" bIns="0" rtlCol="0" anchor="ctr"/>
          <a:lstStyle/>
          <a:p>
            <a:pPr algn="ctr" indent="0" marL="0">
              <a:buNone/>
            </a:pPr>
            <a:r>
              <a:rPr lang="en-US" sz="750" dirty="0">
                <a:solidFill>
                  <a:srgbClr val="A0B8D0"/>
                </a:solidFill>
                <a:latin typeface="Calibri" pitchFamily="34" charset="0"/>
                <a:ea typeface="Calibri" pitchFamily="34" charset="-122"/>
                <a:cs typeface="Calibri" pitchFamily="34" charset="-120"/>
              </a:rPr>
              <a:t>Active Trade</a:t>
            </a:r>
            <a:endParaRPr lang="en-US" sz="750" dirty="0"/>
          </a:p>
          <a:p>
            <a:pPr algn="ctr" indent="0" marL="0">
              <a:buNone/>
            </a:pPr>
            <a:r>
              <a:rPr lang="en-US" sz="750" dirty="0">
                <a:solidFill>
                  <a:srgbClr val="A0B8D0"/>
                </a:solidFill>
                <a:latin typeface="Calibri" pitchFamily="34" charset="0"/>
                <a:ea typeface="Calibri" pitchFamily="34" charset="-122"/>
                <a:cs typeface="Calibri" pitchFamily="34" charset="-120"/>
              </a:rPr>
              <a:t>Partners</a:t>
            </a:r>
            <a:endParaRPr lang="en-US" sz="750" dirty="0"/>
          </a:p>
        </p:txBody>
      </p:sp>
      <p:sp>
        <p:nvSpPr>
          <p:cNvPr id="36" name="Shape 34"/>
          <p:cNvSpPr/>
          <p:nvPr/>
        </p:nvSpPr>
        <p:spPr>
          <a:xfrm>
            <a:off x="0" y="4873752"/>
            <a:ext cx="9144000" cy="269748"/>
          </a:xfrm>
          <a:prstGeom prst="rect">
            <a:avLst/>
          </a:prstGeom>
          <a:solidFill>
            <a:srgbClr val="0A2342"/>
          </a:solidFill>
          <a:ln w="12700">
            <a:solidFill>
              <a:srgbClr val="0A2342"/>
            </a:solidFill>
            <a:prstDash val="solid"/>
          </a:ln>
        </p:spPr>
      </p:sp>
      <p:sp>
        <p:nvSpPr>
          <p:cNvPr id="37" name="Text 35"/>
          <p:cNvSpPr/>
          <p:nvPr/>
        </p:nvSpPr>
        <p:spPr>
          <a:xfrm>
            <a:off x="274320" y="4882896"/>
            <a:ext cx="8595360" cy="246888"/>
          </a:xfrm>
          <a:prstGeom prst="rect">
            <a:avLst/>
          </a:prstGeom>
          <a:noFill/>
          <a:ln/>
        </p:spPr>
        <p:txBody>
          <a:bodyPr wrap="square" lIns="0" tIns="0" rIns="0" bIns="0" rtlCol="0" anchor="ctr"/>
          <a:lstStyle/>
          <a:p>
            <a:pPr indent="0" marL="0">
              <a:buNone/>
            </a:pPr>
            <a:r>
              <a:rPr lang="en-US" sz="800" dirty="0">
                <a:solidFill>
                  <a:srgbClr val="C9943A"/>
                </a:solidFill>
                <a:latin typeface="Calibri" pitchFamily="34" charset="0"/>
                <a:ea typeface="Calibri" pitchFamily="34" charset="-122"/>
                <a:cs typeface="Calibri" pitchFamily="34" charset="-120"/>
              </a:rPr>
              <a:t>Egyptian Export Observatory  |  DEPI Data Analysis Track  |  CLS-EGX-TRADEG1-T1  |  2025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502920"/>
          </a:xfrm>
          <a:prstGeom prst="rect">
            <a:avLst/>
          </a:prstGeom>
          <a:noFill/>
          <a:ln/>
        </p:spPr>
        <p:txBody>
          <a:bodyPr wrap="square" lIns="0" tIns="0" rIns="0" bIns="0" rtlCol="0" anchor="ctr"/>
          <a:lstStyle/>
          <a:p>
            <a:pPr indent="0" marL="0">
              <a:buNone/>
            </a:pPr>
            <a:r>
              <a:rPr lang="en-US" sz="2600" b="1" dirty="0">
                <a:solidFill>
                  <a:srgbClr val="0A2342"/>
                </a:solidFill>
                <a:latin typeface="Calibri" pitchFamily="34" charset="0"/>
                <a:ea typeface="Calibri" pitchFamily="34" charset="-122"/>
                <a:cs typeface="Calibri" pitchFamily="34" charset="-120"/>
              </a:rPr>
              <a:t>Problem Statement</a:t>
            </a:r>
            <a:endParaRPr lang="en-US" sz="2600" dirty="0"/>
          </a:p>
        </p:txBody>
      </p:sp>
      <p:sp>
        <p:nvSpPr>
          <p:cNvPr id="3" name="Text 1"/>
          <p:cNvSpPr/>
          <p:nvPr/>
        </p:nvSpPr>
        <p:spPr>
          <a:xfrm>
            <a:off x="457200" y="694944"/>
            <a:ext cx="8229600" cy="2743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Four Structural Gaps Limiting Egypt's Export Potential</a:t>
            </a:r>
            <a:endParaRPr lang="en-US" sz="1200" dirty="0"/>
          </a:p>
        </p:txBody>
      </p:sp>
      <p:sp>
        <p:nvSpPr>
          <p:cNvPr id="4" name="Shape 2"/>
          <p:cNvSpPr/>
          <p:nvPr/>
        </p:nvSpPr>
        <p:spPr>
          <a:xfrm>
            <a:off x="457200" y="1024128"/>
            <a:ext cx="8229600" cy="27432"/>
          </a:xfrm>
          <a:prstGeom prst="rect">
            <a:avLst/>
          </a:prstGeom>
          <a:solidFill>
            <a:srgbClr val="C9943A"/>
          </a:solidFill>
          <a:ln w="12700">
            <a:solidFill>
              <a:srgbClr val="C9943A"/>
            </a:solidFill>
            <a:prstDash val="solid"/>
          </a:ln>
        </p:spPr>
      </p:sp>
      <p:sp>
        <p:nvSpPr>
          <p:cNvPr id="5" name="Shape 3"/>
          <p:cNvSpPr/>
          <p:nvPr/>
        </p:nvSpPr>
        <p:spPr>
          <a:xfrm>
            <a:off x="320040" y="1170432"/>
            <a:ext cx="4206240" cy="1783080"/>
          </a:xfrm>
          <a:prstGeom prst="rect">
            <a:avLst/>
          </a:prstGeom>
          <a:solidFill>
            <a:srgbClr val="F4F6F8"/>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6" name="Shape 4"/>
          <p:cNvSpPr/>
          <p:nvPr/>
        </p:nvSpPr>
        <p:spPr>
          <a:xfrm>
            <a:off x="320040" y="1170432"/>
            <a:ext cx="54864" cy="1783080"/>
          </a:xfrm>
          <a:prstGeom prst="rect">
            <a:avLst/>
          </a:prstGeom>
          <a:solidFill>
            <a:srgbClr val="C0392B"/>
          </a:solidFill>
          <a:ln w="12700">
            <a:solidFill>
              <a:srgbClr val="C0392B"/>
            </a:solidFill>
            <a:prstDash val="solid"/>
          </a:ln>
        </p:spPr>
      </p:sp>
      <p:sp>
        <p:nvSpPr>
          <p:cNvPr id="7" name="Text 5"/>
          <p:cNvSpPr/>
          <p:nvPr/>
        </p:nvSpPr>
        <p:spPr>
          <a:xfrm>
            <a:off x="484632" y="1261872"/>
            <a:ext cx="1097280" cy="219456"/>
          </a:xfrm>
          <a:prstGeom prst="rect">
            <a:avLst/>
          </a:prstGeom>
          <a:noFill/>
          <a:ln/>
        </p:spPr>
        <p:txBody>
          <a:bodyPr wrap="square" lIns="0" tIns="0" rIns="0" bIns="0" rtlCol="0" anchor="ctr"/>
          <a:lstStyle/>
          <a:p>
            <a:pPr indent="0" marL="0">
              <a:buNone/>
            </a:pPr>
            <a:r>
              <a:rPr lang="en-US" sz="900" b="1" dirty="0">
                <a:solidFill>
                  <a:srgbClr val="C0392B"/>
                </a:solidFill>
                <a:latin typeface="Calibri" pitchFamily="34" charset="0"/>
                <a:ea typeface="Calibri" pitchFamily="34" charset="-122"/>
                <a:cs typeface="Calibri" pitchFamily="34" charset="-120"/>
              </a:rPr>
              <a:t>Gap 1</a:t>
            </a:r>
            <a:endParaRPr lang="en-US" sz="900" dirty="0"/>
          </a:p>
        </p:txBody>
      </p:sp>
      <p:sp>
        <p:nvSpPr>
          <p:cNvPr id="8" name="Text 6"/>
          <p:cNvSpPr/>
          <p:nvPr/>
        </p:nvSpPr>
        <p:spPr>
          <a:xfrm>
            <a:off x="484632" y="1490472"/>
            <a:ext cx="3931920" cy="256032"/>
          </a:xfrm>
          <a:prstGeom prst="rect">
            <a:avLst/>
          </a:prstGeom>
          <a:noFill/>
          <a:ln/>
        </p:spPr>
        <p:txBody>
          <a:bodyPr wrap="square" lIns="0" tIns="0" rIns="0" bIns="0" rtlCol="0" anchor="ctr"/>
          <a:lstStyle/>
          <a:p>
            <a:pPr indent="0" marL="0">
              <a:buNone/>
            </a:pPr>
            <a:r>
              <a:rPr lang="en-US" sz="1200" b="1" dirty="0">
                <a:solidFill>
                  <a:srgbClr val="0A2342"/>
                </a:solidFill>
                <a:latin typeface="Calibri" pitchFamily="34" charset="0"/>
                <a:ea typeface="Calibri" pitchFamily="34" charset="-122"/>
                <a:cs typeface="Calibri" pitchFamily="34" charset="-120"/>
              </a:rPr>
              <a:t>Widening Trade Deficit</a:t>
            </a:r>
            <a:endParaRPr lang="en-US" sz="1200" dirty="0"/>
          </a:p>
        </p:txBody>
      </p:sp>
      <p:sp>
        <p:nvSpPr>
          <p:cNvPr id="9" name="Text 7"/>
          <p:cNvSpPr/>
          <p:nvPr/>
        </p:nvSpPr>
        <p:spPr>
          <a:xfrm>
            <a:off x="484632" y="1764792"/>
            <a:ext cx="3931920" cy="1078992"/>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Deficit expanded from -$29B (2010) to -$50B (2024) — a 72% widening in 14 years. Exports grew at 2.7% CAGR vs. 3.9% for imports. The 2022 surge was commodity-driven, not structural.</a:t>
            </a:r>
            <a:endParaRPr lang="en-US" sz="950" dirty="0"/>
          </a:p>
        </p:txBody>
      </p:sp>
      <p:sp>
        <p:nvSpPr>
          <p:cNvPr id="10" name="Shape 8"/>
          <p:cNvSpPr/>
          <p:nvPr/>
        </p:nvSpPr>
        <p:spPr>
          <a:xfrm>
            <a:off x="4736592" y="1170432"/>
            <a:ext cx="4206240" cy="1783080"/>
          </a:xfrm>
          <a:prstGeom prst="rect">
            <a:avLst/>
          </a:prstGeom>
          <a:solidFill>
            <a:srgbClr val="F4F6F8"/>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11" name="Shape 9"/>
          <p:cNvSpPr/>
          <p:nvPr/>
        </p:nvSpPr>
        <p:spPr>
          <a:xfrm>
            <a:off x="4736592" y="1170432"/>
            <a:ext cx="54864" cy="1783080"/>
          </a:xfrm>
          <a:prstGeom prst="rect">
            <a:avLst/>
          </a:prstGeom>
          <a:solidFill>
            <a:srgbClr val="C9943A"/>
          </a:solidFill>
          <a:ln w="12700">
            <a:solidFill>
              <a:srgbClr val="C9943A"/>
            </a:solidFill>
            <a:prstDash val="solid"/>
          </a:ln>
        </p:spPr>
      </p:sp>
      <p:sp>
        <p:nvSpPr>
          <p:cNvPr id="12" name="Text 10"/>
          <p:cNvSpPr/>
          <p:nvPr/>
        </p:nvSpPr>
        <p:spPr>
          <a:xfrm>
            <a:off x="4901184" y="1261872"/>
            <a:ext cx="1097280" cy="219456"/>
          </a:xfrm>
          <a:prstGeom prst="rect">
            <a:avLst/>
          </a:prstGeom>
          <a:noFill/>
          <a:ln/>
        </p:spPr>
        <p:txBody>
          <a:bodyPr wrap="square" lIns="0" tIns="0" rIns="0" bIns="0" rtlCol="0" anchor="ctr"/>
          <a:lstStyle/>
          <a:p>
            <a:pPr indent="0" marL="0">
              <a:buNone/>
            </a:pPr>
            <a:r>
              <a:rPr lang="en-US" sz="900" b="1" dirty="0">
                <a:solidFill>
                  <a:srgbClr val="C9943A"/>
                </a:solidFill>
                <a:latin typeface="Calibri" pitchFamily="34" charset="0"/>
                <a:ea typeface="Calibri" pitchFamily="34" charset="-122"/>
                <a:cs typeface="Calibri" pitchFamily="34" charset="-120"/>
              </a:rPr>
              <a:t>Gap 2</a:t>
            </a:r>
            <a:endParaRPr lang="en-US" sz="900" dirty="0"/>
          </a:p>
        </p:txBody>
      </p:sp>
      <p:sp>
        <p:nvSpPr>
          <p:cNvPr id="13" name="Text 11"/>
          <p:cNvSpPr/>
          <p:nvPr/>
        </p:nvSpPr>
        <p:spPr>
          <a:xfrm>
            <a:off x="4901184" y="1490472"/>
            <a:ext cx="3931920" cy="256032"/>
          </a:xfrm>
          <a:prstGeom prst="rect">
            <a:avLst/>
          </a:prstGeom>
          <a:noFill/>
          <a:ln/>
        </p:spPr>
        <p:txBody>
          <a:bodyPr wrap="square" lIns="0" tIns="0" rIns="0" bIns="0" rtlCol="0" anchor="ctr"/>
          <a:lstStyle/>
          <a:p>
            <a:pPr indent="0" marL="0">
              <a:buNone/>
            </a:pPr>
            <a:r>
              <a:rPr lang="en-US" sz="1200" b="1" dirty="0">
                <a:solidFill>
                  <a:srgbClr val="0A2342"/>
                </a:solidFill>
                <a:latin typeface="Calibri" pitchFamily="34" charset="0"/>
                <a:ea typeface="Calibri" pitchFamily="34" charset="-122"/>
                <a:cs typeface="Calibri" pitchFamily="34" charset="-120"/>
              </a:rPr>
              <a:t>Petroleum Dependency</a:t>
            </a:r>
            <a:endParaRPr lang="en-US" sz="1200" dirty="0"/>
          </a:p>
        </p:txBody>
      </p:sp>
      <p:sp>
        <p:nvSpPr>
          <p:cNvPr id="14" name="Text 12"/>
          <p:cNvSpPr/>
          <p:nvPr/>
        </p:nvSpPr>
        <p:spPr>
          <a:xfrm>
            <a:off x="4901184" y="1764792"/>
            <a:ext cx="3931920" cy="1078992"/>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62% of exports remain petroleum-based — virtually unchanged from 63% in 2010 despite stated diversification goals. Non-oil exports grew at only 1.9% CAGR. Vision 2030 targets 75% non-oil share.</a:t>
            </a:r>
            <a:endParaRPr lang="en-US" sz="950" dirty="0"/>
          </a:p>
        </p:txBody>
      </p:sp>
      <p:sp>
        <p:nvSpPr>
          <p:cNvPr id="15" name="Shape 13"/>
          <p:cNvSpPr/>
          <p:nvPr/>
        </p:nvSpPr>
        <p:spPr>
          <a:xfrm>
            <a:off x="320040" y="3127248"/>
            <a:ext cx="4206240" cy="1783080"/>
          </a:xfrm>
          <a:prstGeom prst="rect">
            <a:avLst/>
          </a:prstGeom>
          <a:solidFill>
            <a:srgbClr val="F4F6F8"/>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16" name="Shape 14"/>
          <p:cNvSpPr/>
          <p:nvPr/>
        </p:nvSpPr>
        <p:spPr>
          <a:xfrm>
            <a:off x="320040" y="3127248"/>
            <a:ext cx="54864" cy="1783080"/>
          </a:xfrm>
          <a:prstGeom prst="rect">
            <a:avLst/>
          </a:prstGeom>
          <a:solidFill>
            <a:srgbClr val="007B55"/>
          </a:solidFill>
          <a:ln w="12700">
            <a:solidFill>
              <a:srgbClr val="007B55"/>
            </a:solidFill>
            <a:prstDash val="solid"/>
          </a:ln>
        </p:spPr>
      </p:sp>
      <p:sp>
        <p:nvSpPr>
          <p:cNvPr id="17" name="Text 15"/>
          <p:cNvSpPr/>
          <p:nvPr/>
        </p:nvSpPr>
        <p:spPr>
          <a:xfrm>
            <a:off x="484632" y="3218688"/>
            <a:ext cx="1097280" cy="219456"/>
          </a:xfrm>
          <a:prstGeom prst="rect">
            <a:avLst/>
          </a:prstGeom>
          <a:noFill/>
          <a:ln/>
        </p:spPr>
        <p:txBody>
          <a:bodyPr wrap="square" lIns="0" tIns="0" rIns="0" bIns="0" rtlCol="0" anchor="ctr"/>
          <a:lstStyle/>
          <a:p>
            <a:pPr indent="0" marL="0">
              <a:buNone/>
            </a:pPr>
            <a:r>
              <a:rPr lang="en-US" sz="900" b="1" dirty="0">
                <a:solidFill>
                  <a:srgbClr val="007B55"/>
                </a:solidFill>
                <a:latin typeface="Calibri" pitchFamily="34" charset="0"/>
                <a:ea typeface="Calibri" pitchFamily="34" charset="-122"/>
                <a:cs typeface="Calibri" pitchFamily="34" charset="-120"/>
              </a:rPr>
              <a:t>Gap 3</a:t>
            </a:r>
            <a:endParaRPr lang="en-US" sz="900" dirty="0"/>
          </a:p>
        </p:txBody>
      </p:sp>
      <p:sp>
        <p:nvSpPr>
          <p:cNvPr id="18" name="Text 16"/>
          <p:cNvSpPr/>
          <p:nvPr/>
        </p:nvSpPr>
        <p:spPr>
          <a:xfrm>
            <a:off x="484632" y="3447288"/>
            <a:ext cx="3931920" cy="256032"/>
          </a:xfrm>
          <a:prstGeom prst="rect">
            <a:avLst/>
          </a:prstGeom>
          <a:noFill/>
          <a:ln/>
        </p:spPr>
        <p:txBody>
          <a:bodyPr wrap="square" lIns="0" tIns="0" rIns="0" bIns="0" rtlCol="0" anchor="ctr"/>
          <a:lstStyle/>
          <a:p>
            <a:pPr indent="0" marL="0">
              <a:buNone/>
            </a:pPr>
            <a:r>
              <a:rPr lang="en-US" sz="1200" b="1" dirty="0">
                <a:solidFill>
                  <a:srgbClr val="0A2342"/>
                </a:solidFill>
                <a:latin typeface="Calibri" pitchFamily="34" charset="0"/>
                <a:ea typeface="Calibri" pitchFamily="34" charset="-122"/>
                <a:cs typeface="Calibri" pitchFamily="34" charset="-120"/>
              </a:rPr>
              <a:t>Export Underpricing ($3B+ Lost)</a:t>
            </a:r>
            <a:endParaRPr lang="en-US" sz="1200" dirty="0"/>
          </a:p>
        </p:txBody>
      </p:sp>
      <p:sp>
        <p:nvSpPr>
          <p:cNvPr id="19" name="Text 17"/>
          <p:cNvSpPr/>
          <p:nvPr/>
        </p:nvSpPr>
        <p:spPr>
          <a:xfrm>
            <a:off x="484632" y="3721608"/>
            <a:ext cx="3931920" cy="1078992"/>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Egypt sells its exports 30–70% below competitor market rates. Citrus: Egypt $333/ton vs. Spain $426/ton vs. German importers $576/ton. Over $3B in annual revenue lost — without needing extra volume.</a:t>
            </a:r>
            <a:endParaRPr lang="en-US" sz="950" dirty="0"/>
          </a:p>
        </p:txBody>
      </p:sp>
      <p:sp>
        <p:nvSpPr>
          <p:cNvPr id="20" name="Shape 18"/>
          <p:cNvSpPr/>
          <p:nvPr/>
        </p:nvSpPr>
        <p:spPr>
          <a:xfrm>
            <a:off x="4736592" y="3127248"/>
            <a:ext cx="4206240" cy="1783080"/>
          </a:xfrm>
          <a:prstGeom prst="rect">
            <a:avLst/>
          </a:prstGeom>
          <a:solidFill>
            <a:srgbClr val="F4F6F8"/>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21" name="Shape 19"/>
          <p:cNvSpPr/>
          <p:nvPr/>
        </p:nvSpPr>
        <p:spPr>
          <a:xfrm>
            <a:off x="4736592" y="3127248"/>
            <a:ext cx="54864" cy="1783080"/>
          </a:xfrm>
          <a:prstGeom prst="rect">
            <a:avLst/>
          </a:prstGeom>
          <a:solidFill>
            <a:srgbClr val="0A2342"/>
          </a:solidFill>
          <a:ln w="12700">
            <a:solidFill>
              <a:srgbClr val="0A2342"/>
            </a:solidFill>
            <a:prstDash val="solid"/>
          </a:ln>
        </p:spPr>
      </p:sp>
      <p:sp>
        <p:nvSpPr>
          <p:cNvPr id="22" name="Text 20"/>
          <p:cNvSpPr/>
          <p:nvPr/>
        </p:nvSpPr>
        <p:spPr>
          <a:xfrm>
            <a:off x="4901184" y="3218688"/>
            <a:ext cx="1097280" cy="219456"/>
          </a:xfrm>
          <a:prstGeom prst="rect">
            <a:avLst/>
          </a:prstGeom>
          <a:noFill/>
          <a:ln/>
        </p:spPr>
        <p:txBody>
          <a:bodyPr wrap="square" lIns="0" tIns="0" rIns="0" bIns="0" rtlCol="0" anchor="ctr"/>
          <a:lstStyle/>
          <a:p>
            <a:pPr indent="0" marL="0">
              <a:buNone/>
            </a:pPr>
            <a:r>
              <a:rPr lang="en-US" sz="900" b="1" dirty="0">
                <a:solidFill>
                  <a:srgbClr val="0A2342"/>
                </a:solidFill>
                <a:latin typeface="Calibri" pitchFamily="34" charset="0"/>
                <a:ea typeface="Calibri" pitchFamily="34" charset="-122"/>
                <a:cs typeface="Calibri" pitchFamily="34" charset="-120"/>
              </a:rPr>
              <a:t>Gap 4</a:t>
            </a:r>
            <a:endParaRPr lang="en-US" sz="900" dirty="0"/>
          </a:p>
        </p:txBody>
      </p:sp>
      <p:sp>
        <p:nvSpPr>
          <p:cNvPr id="23" name="Text 21"/>
          <p:cNvSpPr/>
          <p:nvPr/>
        </p:nvSpPr>
        <p:spPr>
          <a:xfrm>
            <a:off x="4901184" y="3447288"/>
            <a:ext cx="3931920" cy="256032"/>
          </a:xfrm>
          <a:prstGeom prst="rect">
            <a:avLst/>
          </a:prstGeom>
          <a:noFill/>
          <a:ln/>
        </p:spPr>
        <p:txBody>
          <a:bodyPr wrap="square" lIns="0" tIns="0" rIns="0" bIns="0" rtlCol="0" anchor="ctr"/>
          <a:lstStyle/>
          <a:p>
            <a:pPr indent="0" marL="0">
              <a:buNone/>
            </a:pPr>
            <a:r>
              <a:rPr lang="en-US" sz="1200" b="1" dirty="0">
                <a:solidFill>
                  <a:srgbClr val="0A2342"/>
                </a:solidFill>
                <a:latin typeface="Calibri" pitchFamily="34" charset="0"/>
                <a:ea typeface="Calibri" pitchFamily="34" charset="-122"/>
                <a:cs typeface="Calibri" pitchFamily="34" charset="-120"/>
              </a:rPr>
              <a:t>Geographic Concentration Risk</a:t>
            </a:r>
            <a:endParaRPr lang="en-US" sz="1200" dirty="0"/>
          </a:p>
        </p:txBody>
      </p:sp>
      <p:sp>
        <p:nvSpPr>
          <p:cNvPr id="24" name="Text 22"/>
          <p:cNvSpPr/>
          <p:nvPr/>
        </p:nvSpPr>
        <p:spPr>
          <a:xfrm>
            <a:off x="4901184" y="3721608"/>
            <a:ext cx="3931920" cy="1078992"/>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Top 5 partners account for 52% of exports. Saudi Arabia + UAE alone = 22%. Asia — driving 60% of global GDP growth — receives only 18% of Egyptian exports. Geographic HHI approaching dangerous concentration.</a:t>
            </a:r>
            <a:endParaRPr lang="en-US" sz="950" dirty="0"/>
          </a:p>
        </p:txBody>
      </p:sp>
      <p:sp>
        <p:nvSpPr>
          <p:cNvPr id="25" name="Shape 23"/>
          <p:cNvSpPr/>
          <p:nvPr/>
        </p:nvSpPr>
        <p:spPr>
          <a:xfrm>
            <a:off x="0" y="4873752"/>
            <a:ext cx="9144000" cy="269748"/>
          </a:xfrm>
          <a:prstGeom prst="rect">
            <a:avLst/>
          </a:prstGeom>
          <a:solidFill>
            <a:srgbClr val="0A2342"/>
          </a:solidFill>
          <a:ln w="12700">
            <a:solidFill>
              <a:srgbClr val="0A2342"/>
            </a:solidFill>
            <a:prstDash val="solid"/>
          </a:ln>
        </p:spPr>
      </p:sp>
      <p:sp>
        <p:nvSpPr>
          <p:cNvPr id="26" name="Text 24"/>
          <p:cNvSpPr/>
          <p:nvPr/>
        </p:nvSpPr>
        <p:spPr>
          <a:xfrm>
            <a:off x="274320" y="4882896"/>
            <a:ext cx="8595360" cy="246888"/>
          </a:xfrm>
          <a:prstGeom prst="rect">
            <a:avLst/>
          </a:prstGeom>
          <a:noFill/>
          <a:ln/>
        </p:spPr>
        <p:txBody>
          <a:bodyPr wrap="square" lIns="0" tIns="0" rIns="0" bIns="0" rtlCol="0" anchor="ctr"/>
          <a:lstStyle/>
          <a:p>
            <a:pPr indent="0" marL="0">
              <a:buNone/>
            </a:pPr>
            <a:r>
              <a:rPr lang="en-US" sz="800" dirty="0">
                <a:solidFill>
                  <a:srgbClr val="C9943A"/>
                </a:solidFill>
                <a:latin typeface="Calibri" pitchFamily="34" charset="0"/>
                <a:ea typeface="Calibri" pitchFamily="34" charset="-122"/>
                <a:cs typeface="Calibri" pitchFamily="34" charset="-120"/>
              </a:rPr>
              <a:t>Egyptian Export Observatory  |  DEPI Data Analysis Track  |  CLS-EGX-TRADEG1-T1  |  2025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502920"/>
          </a:xfrm>
          <a:prstGeom prst="rect">
            <a:avLst/>
          </a:prstGeom>
          <a:noFill/>
          <a:ln/>
        </p:spPr>
        <p:txBody>
          <a:bodyPr wrap="square" lIns="0" tIns="0" rIns="0" bIns="0" rtlCol="0" anchor="ctr"/>
          <a:lstStyle/>
          <a:p>
            <a:pPr indent="0" marL="0">
              <a:buNone/>
            </a:pPr>
            <a:r>
              <a:rPr lang="en-US" sz="2600" b="1" dirty="0">
                <a:solidFill>
                  <a:srgbClr val="0A2342"/>
                </a:solidFill>
                <a:latin typeface="Calibri" pitchFamily="34" charset="0"/>
                <a:ea typeface="Calibri" pitchFamily="34" charset="-122"/>
                <a:cs typeface="Calibri" pitchFamily="34" charset="-120"/>
              </a:rPr>
              <a:t>Project Objectives</a:t>
            </a:r>
            <a:endParaRPr lang="en-US" sz="2600" dirty="0"/>
          </a:p>
        </p:txBody>
      </p:sp>
      <p:sp>
        <p:nvSpPr>
          <p:cNvPr id="3" name="Text 1"/>
          <p:cNvSpPr/>
          <p:nvPr/>
        </p:nvSpPr>
        <p:spPr>
          <a:xfrm>
            <a:off x="457200" y="694944"/>
            <a:ext cx="8229600" cy="2743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Analytical &amp; Technical Goals</a:t>
            </a:r>
            <a:endParaRPr lang="en-US" sz="1200" dirty="0"/>
          </a:p>
        </p:txBody>
      </p:sp>
      <p:sp>
        <p:nvSpPr>
          <p:cNvPr id="4" name="Shape 2"/>
          <p:cNvSpPr/>
          <p:nvPr/>
        </p:nvSpPr>
        <p:spPr>
          <a:xfrm>
            <a:off x="457200" y="1024128"/>
            <a:ext cx="8229600" cy="27432"/>
          </a:xfrm>
          <a:prstGeom prst="rect">
            <a:avLst/>
          </a:prstGeom>
          <a:solidFill>
            <a:srgbClr val="C9943A"/>
          </a:solidFill>
          <a:ln w="12700">
            <a:solidFill>
              <a:srgbClr val="C9943A"/>
            </a:solidFill>
            <a:prstDash val="solid"/>
          </a:ln>
        </p:spPr>
      </p:sp>
      <p:sp>
        <p:nvSpPr>
          <p:cNvPr id="5" name="Shape 3"/>
          <p:cNvSpPr/>
          <p:nvPr/>
        </p:nvSpPr>
        <p:spPr>
          <a:xfrm>
            <a:off x="457200" y="1143000"/>
            <a:ext cx="8229600" cy="640080"/>
          </a:xfrm>
          <a:prstGeom prst="rect">
            <a:avLst/>
          </a:prstGeom>
          <a:solidFill>
            <a:srgbClr val="0A2342"/>
          </a:solidFill>
          <a:ln w="12700">
            <a:solidFill>
              <a:srgbClr val="0A2342"/>
            </a:solidFill>
            <a:prstDash val="solid"/>
          </a:ln>
        </p:spPr>
      </p:sp>
      <p:sp>
        <p:nvSpPr>
          <p:cNvPr id="6" name="Text 4"/>
          <p:cNvSpPr/>
          <p:nvPr/>
        </p:nvSpPr>
        <p:spPr>
          <a:xfrm>
            <a:off x="594360" y="1170432"/>
            <a:ext cx="2286000" cy="182880"/>
          </a:xfrm>
          <a:prstGeom prst="rect">
            <a:avLst/>
          </a:prstGeom>
          <a:noFill/>
          <a:ln/>
        </p:spPr>
        <p:txBody>
          <a:bodyPr wrap="square" lIns="0" tIns="0" rIns="0" bIns="0" rtlCol="0" anchor="ctr"/>
          <a:lstStyle/>
          <a:p>
            <a:pPr indent="0" marL="0">
              <a:buNone/>
            </a:pPr>
            <a:r>
              <a:rPr lang="en-US" sz="800" b="1" spc="200" kern="0" dirty="0">
                <a:solidFill>
                  <a:srgbClr val="C9943A"/>
                </a:solidFill>
                <a:latin typeface="Calibri" pitchFamily="34" charset="0"/>
                <a:ea typeface="Calibri" pitchFamily="34" charset="-122"/>
                <a:cs typeface="Calibri" pitchFamily="34" charset="-120"/>
              </a:rPr>
              <a:t>PRIMARY OBJECTIVE</a:t>
            </a:r>
            <a:endParaRPr lang="en-US" sz="800" dirty="0"/>
          </a:p>
        </p:txBody>
      </p:sp>
      <p:sp>
        <p:nvSpPr>
          <p:cNvPr id="7" name="Text 5"/>
          <p:cNvSpPr/>
          <p:nvPr/>
        </p:nvSpPr>
        <p:spPr>
          <a:xfrm>
            <a:off x="594360" y="1371600"/>
            <a:ext cx="7955280" cy="36576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To design, build, and deliver a fully functional, data-driven export intelligence platform enabling evidence-based analysis of Egypt's trade performance — supporting strategic decision-making in pursuit of Vision 2030 export targets.</a:t>
            </a:r>
            <a:endParaRPr lang="en-US" sz="950" dirty="0"/>
          </a:p>
        </p:txBody>
      </p:sp>
      <p:sp>
        <p:nvSpPr>
          <p:cNvPr id="8" name="Shape 6"/>
          <p:cNvSpPr/>
          <p:nvPr/>
        </p:nvSpPr>
        <p:spPr>
          <a:xfrm>
            <a:off x="365760" y="1901952"/>
            <a:ext cx="2633472" cy="1115568"/>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9" name="Shape 7"/>
          <p:cNvSpPr/>
          <p:nvPr/>
        </p:nvSpPr>
        <p:spPr>
          <a:xfrm>
            <a:off x="365760" y="1901952"/>
            <a:ext cx="2633472" cy="45720"/>
          </a:xfrm>
          <a:prstGeom prst="rect">
            <a:avLst/>
          </a:prstGeom>
          <a:solidFill>
            <a:srgbClr val="007B55"/>
          </a:solidFill>
          <a:ln w="12700">
            <a:solidFill>
              <a:srgbClr val="007B55"/>
            </a:solidFill>
            <a:prstDash val="solid"/>
          </a:ln>
        </p:spPr>
      </p:sp>
      <p:sp>
        <p:nvSpPr>
          <p:cNvPr id="10" name="Text 8"/>
          <p:cNvSpPr/>
          <p:nvPr/>
        </p:nvSpPr>
        <p:spPr>
          <a:xfrm>
            <a:off x="475488" y="1993392"/>
            <a:ext cx="2423160" cy="246888"/>
          </a:xfrm>
          <a:prstGeom prst="rect">
            <a:avLst/>
          </a:prstGeom>
          <a:noFill/>
          <a:ln/>
        </p:spPr>
        <p:txBody>
          <a:bodyPr wrap="square" lIns="0" tIns="0" rIns="0" bIns="0" rtlCol="0" anchor="ctr"/>
          <a:lstStyle/>
          <a:p>
            <a:pPr indent="0" marL="0">
              <a:buNone/>
            </a:pPr>
            <a:r>
              <a:rPr lang="en-US" sz="950" b="1" dirty="0">
                <a:solidFill>
                  <a:srgbClr val="0A2342"/>
                </a:solidFill>
                <a:latin typeface="Calibri" pitchFamily="34" charset="0"/>
                <a:ea typeface="Calibri" pitchFamily="34" charset="-122"/>
                <a:cs typeface="Calibri" pitchFamily="34" charset="-120"/>
              </a:rPr>
              <a:t>Diagnose the Trade Deficit</a:t>
            </a:r>
            <a:endParaRPr lang="en-US" sz="950" dirty="0"/>
          </a:p>
        </p:txBody>
      </p:sp>
      <p:sp>
        <p:nvSpPr>
          <p:cNvPr id="11" name="Text 9"/>
          <p:cNvSpPr/>
          <p:nvPr/>
        </p:nvSpPr>
        <p:spPr>
          <a:xfrm>
            <a:off x="475488" y="2267712"/>
            <a:ext cx="2423160" cy="694944"/>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Quantify Egypt's trade balance trajectory 2010–2024, separating structural drivers from cyclical price effects.</a:t>
            </a:r>
            <a:endParaRPr lang="en-US" sz="850" dirty="0"/>
          </a:p>
        </p:txBody>
      </p:sp>
      <p:sp>
        <p:nvSpPr>
          <p:cNvPr id="12" name="Shape 10"/>
          <p:cNvSpPr/>
          <p:nvPr/>
        </p:nvSpPr>
        <p:spPr>
          <a:xfrm>
            <a:off x="3154680" y="1901952"/>
            <a:ext cx="2633472" cy="1115568"/>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13" name="Shape 11"/>
          <p:cNvSpPr/>
          <p:nvPr/>
        </p:nvSpPr>
        <p:spPr>
          <a:xfrm>
            <a:off x="3154680" y="1901952"/>
            <a:ext cx="2633472" cy="45720"/>
          </a:xfrm>
          <a:prstGeom prst="rect">
            <a:avLst/>
          </a:prstGeom>
          <a:solidFill>
            <a:srgbClr val="007B55"/>
          </a:solidFill>
          <a:ln w="12700">
            <a:solidFill>
              <a:srgbClr val="007B55"/>
            </a:solidFill>
            <a:prstDash val="solid"/>
          </a:ln>
        </p:spPr>
      </p:sp>
      <p:sp>
        <p:nvSpPr>
          <p:cNvPr id="14" name="Text 12"/>
          <p:cNvSpPr/>
          <p:nvPr/>
        </p:nvSpPr>
        <p:spPr>
          <a:xfrm>
            <a:off x="3264408" y="1993392"/>
            <a:ext cx="2423160" cy="246888"/>
          </a:xfrm>
          <a:prstGeom prst="rect">
            <a:avLst/>
          </a:prstGeom>
          <a:noFill/>
          <a:ln/>
        </p:spPr>
        <p:txBody>
          <a:bodyPr wrap="square" lIns="0" tIns="0" rIns="0" bIns="0" rtlCol="0" anchor="ctr"/>
          <a:lstStyle/>
          <a:p>
            <a:pPr indent="0" marL="0">
              <a:buNone/>
            </a:pPr>
            <a:r>
              <a:rPr lang="en-US" sz="950" b="1" dirty="0">
                <a:solidFill>
                  <a:srgbClr val="0A2342"/>
                </a:solidFill>
                <a:latin typeface="Calibri" pitchFamily="34" charset="0"/>
                <a:ea typeface="Calibri" pitchFamily="34" charset="-122"/>
                <a:cs typeface="Calibri" pitchFamily="34" charset="-120"/>
              </a:rPr>
              <a:t>Map Export Composition</a:t>
            </a:r>
            <a:endParaRPr lang="en-US" sz="950" dirty="0"/>
          </a:p>
        </p:txBody>
      </p:sp>
      <p:sp>
        <p:nvSpPr>
          <p:cNvPr id="15" name="Text 13"/>
          <p:cNvSpPr/>
          <p:nvPr/>
        </p:nvSpPr>
        <p:spPr>
          <a:xfrm>
            <a:off x="3264408" y="2267712"/>
            <a:ext cx="2423160" cy="694944"/>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Decompose the export basket by sector, exposing petroleum dependency and diversification gaps.</a:t>
            </a:r>
            <a:endParaRPr lang="en-US" sz="850" dirty="0"/>
          </a:p>
        </p:txBody>
      </p:sp>
      <p:sp>
        <p:nvSpPr>
          <p:cNvPr id="16" name="Shape 14"/>
          <p:cNvSpPr/>
          <p:nvPr/>
        </p:nvSpPr>
        <p:spPr>
          <a:xfrm>
            <a:off x="5943600" y="1901952"/>
            <a:ext cx="2633472" cy="1115568"/>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17" name="Shape 15"/>
          <p:cNvSpPr/>
          <p:nvPr/>
        </p:nvSpPr>
        <p:spPr>
          <a:xfrm>
            <a:off x="5943600" y="1901952"/>
            <a:ext cx="2633472" cy="45720"/>
          </a:xfrm>
          <a:prstGeom prst="rect">
            <a:avLst/>
          </a:prstGeom>
          <a:solidFill>
            <a:srgbClr val="007B55"/>
          </a:solidFill>
          <a:ln w="12700">
            <a:solidFill>
              <a:srgbClr val="007B55"/>
            </a:solidFill>
            <a:prstDash val="solid"/>
          </a:ln>
        </p:spPr>
      </p:sp>
      <p:sp>
        <p:nvSpPr>
          <p:cNvPr id="18" name="Text 16"/>
          <p:cNvSpPr/>
          <p:nvPr/>
        </p:nvSpPr>
        <p:spPr>
          <a:xfrm>
            <a:off x="6053328" y="1993392"/>
            <a:ext cx="2423160" cy="246888"/>
          </a:xfrm>
          <a:prstGeom prst="rect">
            <a:avLst/>
          </a:prstGeom>
          <a:noFill/>
          <a:ln/>
        </p:spPr>
        <p:txBody>
          <a:bodyPr wrap="square" lIns="0" tIns="0" rIns="0" bIns="0" rtlCol="0" anchor="ctr"/>
          <a:lstStyle/>
          <a:p>
            <a:pPr indent="0" marL="0">
              <a:buNone/>
            </a:pPr>
            <a:r>
              <a:rPr lang="en-US" sz="950" b="1" dirty="0">
                <a:solidFill>
                  <a:srgbClr val="0A2342"/>
                </a:solidFill>
                <a:latin typeface="Calibri" pitchFamily="34" charset="0"/>
                <a:ea typeface="Calibri" pitchFamily="34" charset="-122"/>
                <a:cs typeface="Calibri" pitchFamily="34" charset="-120"/>
              </a:rPr>
              <a:t>Quantify Pricing Gap</a:t>
            </a:r>
            <a:endParaRPr lang="en-US" sz="950" dirty="0"/>
          </a:p>
        </p:txBody>
      </p:sp>
      <p:sp>
        <p:nvSpPr>
          <p:cNvPr id="19" name="Text 17"/>
          <p:cNvSpPr/>
          <p:nvPr/>
        </p:nvSpPr>
        <p:spPr>
          <a:xfrm>
            <a:off x="6053328" y="2267712"/>
            <a:ext cx="2423160" cy="694944"/>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Calculate the annual revenue loss from export underpricing benchmarked against competitor prices.</a:t>
            </a:r>
            <a:endParaRPr lang="en-US" sz="850" dirty="0"/>
          </a:p>
        </p:txBody>
      </p:sp>
      <p:sp>
        <p:nvSpPr>
          <p:cNvPr id="20" name="Shape 18"/>
          <p:cNvSpPr/>
          <p:nvPr/>
        </p:nvSpPr>
        <p:spPr>
          <a:xfrm>
            <a:off x="365760" y="3163824"/>
            <a:ext cx="2633472" cy="1115568"/>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21" name="Shape 19"/>
          <p:cNvSpPr/>
          <p:nvPr/>
        </p:nvSpPr>
        <p:spPr>
          <a:xfrm>
            <a:off x="365760" y="3163824"/>
            <a:ext cx="2633472" cy="45720"/>
          </a:xfrm>
          <a:prstGeom prst="rect">
            <a:avLst/>
          </a:prstGeom>
          <a:solidFill>
            <a:srgbClr val="007B55"/>
          </a:solidFill>
          <a:ln w="12700">
            <a:solidFill>
              <a:srgbClr val="007B55"/>
            </a:solidFill>
            <a:prstDash val="solid"/>
          </a:ln>
        </p:spPr>
      </p:sp>
      <p:sp>
        <p:nvSpPr>
          <p:cNvPr id="22" name="Text 20"/>
          <p:cNvSpPr/>
          <p:nvPr/>
        </p:nvSpPr>
        <p:spPr>
          <a:xfrm>
            <a:off x="475488" y="3255264"/>
            <a:ext cx="2423160" cy="246888"/>
          </a:xfrm>
          <a:prstGeom prst="rect">
            <a:avLst/>
          </a:prstGeom>
          <a:noFill/>
          <a:ln/>
        </p:spPr>
        <p:txBody>
          <a:bodyPr wrap="square" lIns="0" tIns="0" rIns="0" bIns="0" rtlCol="0" anchor="ctr"/>
          <a:lstStyle/>
          <a:p>
            <a:pPr indent="0" marL="0">
              <a:buNone/>
            </a:pPr>
            <a:r>
              <a:rPr lang="en-US" sz="950" b="1" dirty="0">
                <a:solidFill>
                  <a:srgbClr val="0A2342"/>
                </a:solidFill>
                <a:latin typeface="Calibri" pitchFamily="34" charset="0"/>
                <a:ea typeface="Calibri" pitchFamily="34" charset="-122"/>
                <a:cs typeface="Calibri" pitchFamily="34" charset="-120"/>
              </a:rPr>
              <a:t>Assess Geographic Diversification</a:t>
            </a:r>
            <a:endParaRPr lang="en-US" sz="950" dirty="0"/>
          </a:p>
        </p:txBody>
      </p:sp>
      <p:sp>
        <p:nvSpPr>
          <p:cNvPr id="23" name="Text 21"/>
          <p:cNvSpPr/>
          <p:nvPr/>
        </p:nvSpPr>
        <p:spPr>
          <a:xfrm>
            <a:off x="475488" y="3529584"/>
            <a:ext cx="2423160" cy="694944"/>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Evaluate partner concentration using HHI and identify underserved high-growth markets.</a:t>
            </a:r>
            <a:endParaRPr lang="en-US" sz="850" dirty="0"/>
          </a:p>
        </p:txBody>
      </p:sp>
      <p:sp>
        <p:nvSpPr>
          <p:cNvPr id="24" name="Shape 22"/>
          <p:cNvSpPr/>
          <p:nvPr/>
        </p:nvSpPr>
        <p:spPr>
          <a:xfrm>
            <a:off x="3154680" y="3163824"/>
            <a:ext cx="2633472" cy="1115568"/>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25" name="Shape 23"/>
          <p:cNvSpPr/>
          <p:nvPr/>
        </p:nvSpPr>
        <p:spPr>
          <a:xfrm>
            <a:off x="3154680" y="3163824"/>
            <a:ext cx="2633472" cy="45720"/>
          </a:xfrm>
          <a:prstGeom prst="rect">
            <a:avLst/>
          </a:prstGeom>
          <a:solidFill>
            <a:srgbClr val="007B55"/>
          </a:solidFill>
          <a:ln w="12700">
            <a:solidFill>
              <a:srgbClr val="007B55"/>
            </a:solidFill>
            <a:prstDash val="solid"/>
          </a:ln>
        </p:spPr>
      </p:sp>
      <p:sp>
        <p:nvSpPr>
          <p:cNvPr id="26" name="Text 24"/>
          <p:cNvSpPr/>
          <p:nvPr/>
        </p:nvSpPr>
        <p:spPr>
          <a:xfrm>
            <a:off x="3264408" y="3255264"/>
            <a:ext cx="2423160" cy="246888"/>
          </a:xfrm>
          <a:prstGeom prst="rect">
            <a:avLst/>
          </a:prstGeom>
          <a:noFill/>
          <a:ln/>
        </p:spPr>
        <p:txBody>
          <a:bodyPr wrap="square" lIns="0" tIns="0" rIns="0" bIns="0" rtlCol="0" anchor="ctr"/>
          <a:lstStyle/>
          <a:p>
            <a:pPr indent="0" marL="0">
              <a:buNone/>
            </a:pPr>
            <a:r>
              <a:rPr lang="en-US" sz="950" b="1" dirty="0">
                <a:solidFill>
                  <a:srgbClr val="0A2342"/>
                </a:solidFill>
                <a:latin typeface="Calibri" pitchFamily="34" charset="0"/>
                <a:ea typeface="Calibri" pitchFamily="34" charset="-122"/>
                <a:cs typeface="Calibri" pitchFamily="34" charset="-120"/>
              </a:rPr>
              <a:t>Benchmark Peer Performance</a:t>
            </a:r>
            <a:endParaRPr lang="en-US" sz="950" dirty="0"/>
          </a:p>
        </p:txBody>
      </p:sp>
      <p:sp>
        <p:nvSpPr>
          <p:cNvPr id="27" name="Text 25"/>
          <p:cNvSpPr/>
          <p:nvPr/>
        </p:nvSpPr>
        <p:spPr>
          <a:xfrm>
            <a:off x="3264408" y="3529584"/>
            <a:ext cx="2423160" cy="694944"/>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Compare Egypt's KPIs against Turkey, Morocco, and Vietnam across 14 indicators.</a:t>
            </a:r>
            <a:endParaRPr lang="en-US" sz="850" dirty="0"/>
          </a:p>
        </p:txBody>
      </p:sp>
      <p:sp>
        <p:nvSpPr>
          <p:cNvPr id="28" name="Shape 26"/>
          <p:cNvSpPr/>
          <p:nvPr/>
        </p:nvSpPr>
        <p:spPr>
          <a:xfrm>
            <a:off x="5943600" y="3163824"/>
            <a:ext cx="2633472" cy="1115568"/>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29" name="Shape 27"/>
          <p:cNvSpPr/>
          <p:nvPr/>
        </p:nvSpPr>
        <p:spPr>
          <a:xfrm>
            <a:off x="5943600" y="3163824"/>
            <a:ext cx="2633472" cy="45720"/>
          </a:xfrm>
          <a:prstGeom prst="rect">
            <a:avLst/>
          </a:prstGeom>
          <a:solidFill>
            <a:srgbClr val="007B55"/>
          </a:solidFill>
          <a:ln w="12700">
            <a:solidFill>
              <a:srgbClr val="007B55"/>
            </a:solidFill>
            <a:prstDash val="solid"/>
          </a:ln>
        </p:spPr>
      </p:sp>
      <p:sp>
        <p:nvSpPr>
          <p:cNvPr id="30" name="Text 28"/>
          <p:cNvSpPr/>
          <p:nvPr/>
        </p:nvSpPr>
        <p:spPr>
          <a:xfrm>
            <a:off x="6053328" y="3255264"/>
            <a:ext cx="2423160" cy="246888"/>
          </a:xfrm>
          <a:prstGeom prst="rect">
            <a:avLst/>
          </a:prstGeom>
          <a:noFill/>
          <a:ln/>
        </p:spPr>
        <p:txBody>
          <a:bodyPr wrap="square" lIns="0" tIns="0" rIns="0" bIns="0" rtlCol="0" anchor="ctr"/>
          <a:lstStyle/>
          <a:p>
            <a:pPr indent="0" marL="0">
              <a:buNone/>
            </a:pPr>
            <a:r>
              <a:rPr lang="en-US" sz="950" b="1" dirty="0">
                <a:solidFill>
                  <a:srgbClr val="0A2342"/>
                </a:solidFill>
                <a:latin typeface="Calibri" pitchFamily="34" charset="0"/>
                <a:ea typeface="Calibri" pitchFamily="34" charset="-122"/>
                <a:cs typeface="Calibri" pitchFamily="34" charset="-120"/>
              </a:rPr>
              <a:t>Track Vision 2030 Progress</a:t>
            </a:r>
            <a:endParaRPr lang="en-US" sz="950" dirty="0"/>
          </a:p>
        </p:txBody>
      </p:sp>
      <p:sp>
        <p:nvSpPr>
          <p:cNvPr id="31" name="Text 29"/>
          <p:cNvSpPr/>
          <p:nvPr/>
        </p:nvSpPr>
        <p:spPr>
          <a:xfrm>
            <a:off x="6053328" y="3529584"/>
            <a:ext cx="2423160" cy="694944"/>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Monitor achievement status across 18 official KPIs and flag critical gaps with required CAGR.</a:t>
            </a:r>
            <a:endParaRPr lang="en-US" sz="850" dirty="0"/>
          </a:p>
        </p:txBody>
      </p:sp>
      <p:sp>
        <p:nvSpPr>
          <p:cNvPr id="32" name="Shape 30"/>
          <p:cNvSpPr/>
          <p:nvPr/>
        </p:nvSpPr>
        <p:spPr>
          <a:xfrm>
            <a:off x="0" y="4873752"/>
            <a:ext cx="9144000" cy="269748"/>
          </a:xfrm>
          <a:prstGeom prst="rect">
            <a:avLst/>
          </a:prstGeom>
          <a:solidFill>
            <a:srgbClr val="0A2342"/>
          </a:solidFill>
          <a:ln w="12700">
            <a:solidFill>
              <a:srgbClr val="0A2342"/>
            </a:solidFill>
            <a:prstDash val="solid"/>
          </a:ln>
        </p:spPr>
      </p:sp>
      <p:sp>
        <p:nvSpPr>
          <p:cNvPr id="33" name="Text 31"/>
          <p:cNvSpPr/>
          <p:nvPr/>
        </p:nvSpPr>
        <p:spPr>
          <a:xfrm>
            <a:off x="274320" y="4882896"/>
            <a:ext cx="8595360" cy="246888"/>
          </a:xfrm>
          <a:prstGeom prst="rect">
            <a:avLst/>
          </a:prstGeom>
          <a:noFill/>
          <a:ln/>
        </p:spPr>
        <p:txBody>
          <a:bodyPr wrap="square" lIns="0" tIns="0" rIns="0" bIns="0" rtlCol="0" anchor="ctr"/>
          <a:lstStyle/>
          <a:p>
            <a:pPr indent="0" marL="0">
              <a:buNone/>
            </a:pPr>
            <a:r>
              <a:rPr lang="en-US" sz="800" dirty="0">
                <a:solidFill>
                  <a:srgbClr val="C9943A"/>
                </a:solidFill>
                <a:latin typeface="Calibri" pitchFamily="34" charset="0"/>
                <a:ea typeface="Calibri" pitchFamily="34" charset="-122"/>
                <a:cs typeface="Calibri" pitchFamily="34" charset="-120"/>
              </a:rPr>
              <a:t>Egyptian Export Observatory  |  DEPI Data Analysis Track  |  CLS-EGX-TRADEG1-T1  |  2025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502920"/>
          </a:xfrm>
          <a:prstGeom prst="rect">
            <a:avLst/>
          </a:prstGeom>
          <a:noFill/>
          <a:ln/>
        </p:spPr>
        <p:txBody>
          <a:bodyPr wrap="square" lIns="0" tIns="0" rIns="0" bIns="0" rtlCol="0" anchor="ctr"/>
          <a:lstStyle/>
          <a:p>
            <a:pPr indent="0" marL="0">
              <a:buNone/>
            </a:pPr>
            <a:r>
              <a:rPr lang="en-US" sz="2600" b="1" dirty="0">
                <a:solidFill>
                  <a:srgbClr val="0A2342"/>
                </a:solidFill>
                <a:latin typeface="Calibri" pitchFamily="34" charset="0"/>
                <a:ea typeface="Calibri" pitchFamily="34" charset="-122"/>
                <a:cs typeface="Calibri" pitchFamily="34" charset="-120"/>
              </a:rPr>
              <a:t>Data Sources &amp; Structure</a:t>
            </a:r>
            <a:endParaRPr lang="en-US" sz="2600" dirty="0"/>
          </a:p>
        </p:txBody>
      </p:sp>
      <p:sp>
        <p:nvSpPr>
          <p:cNvPr id="3" name="Text 1"/>
          <p:cNvSpPr/>
          <p:nvPr/>
        </p:nvSpPr>
        <p:spPr>
          <a:xfrm>
            <a:off x="457200" y="694944"/>
            <a:ext cx="8229600" cy="2743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Five Official Institutions · 17 Structured Tables · 7,000+ Records</a:t>
            </a:r>
            <a:endParaRPr lang="en-US" sz="1200" dirty="0"/>
          </a:p>
        </p:txBody>
      </p:sp>
      <p:sp>
        <p:nvSpPr>
          <p:cNvPr id="4" name="Shape 2"/>
          <p:cNvSpPr/>
          <p:nvPr/>
        </p:nvSpPr>
        <p:spPr>
          <a:xfrm>
            <a:off x="457200" y="1024128"/>
            <a:ext cx="8229600" cy="27432"/>
          </a:xfrm>
          <a:prstGeom prst="rect">
            <a:avLst/>
          </a:prstGeom>
          <a:solidFill>
            <a:srgbClr val="C9943A"/>
          </a:solidFill>
          <a:ln w="12700">
            <a:solidFill>
              <a:srgbClr val="C9943A"/>
            </a:solidFill>
            <a:prstDash val="solid"/>
          </a:ln>
        </p:spPr>
      </p:sp>
      <p:sp>
        <p:nvSpPr>
          <p:cNvPr id="5" name="Shape 3"/>
          <p:cNvSpPr/>
          <p:nvPr/>
        </p:nvSpPr>
        <p:spPr>
          <a:xfrm>
            <a:off x="320040" y="1170432"/>
            <a:ext cx="1600200" cy="3520440"/>
          </a:xfrm>
          <a:prstGeom prst="rect">
            <a:avLst/>
          </a:prstGeom>
          <a:solidFill>
            <a:srgbClr val="F4F6F8"/>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6" name="Shape 4"/>
          <p:cNvSpPr/>
          <p:nvPr/>
        </p:nvSpPr>
        <p:spPr>
          <a:xfrm>
            <a:off x="320040" y="1170432"/>
            <a:ext cx="1600200" cy="54864"/>
          </a:xfrm>
          <a:prstGeom prst="rect">
            <a:avLst/>
          </a:prstGeom>
          <a:solidFill>
            <a:srgbClr val="0A2342"/>
          </a:solidFill>
          <a:ln w="12700">
            <a:solidFill>
              <a:srgbClr val="0A2342"/>
            </a:solidFill>
            <a:prstDash val="solid"/>
          </a:ln>
        </p:spPr>
      </p:sp>
      <p:sp>
        <p:nvSpPr>
          <p:cNvPr id="7" name="Text 5"/>
          <p:cNvSpPr/>
          <p:nvPr/>
        </p:nvSpPr>
        <p:spPr>
          <a:xfrm>
            <a:off x="411480" y="1261872"/>
            <a:ext cx="1417320" cy="292608"/>
          </a:xfrm>
          <a:prstGeom prst="rect">
            <a:avLst/>
          </a:prstGeom>
          <a:noFill/>
          <a:ln/>
        </p:spPr>
        <p:txBody>
          <a:bodyPr wrap="square" lIns="0" tIns="0" rIns="0" bIns="0" rtlCol="0" anchor="ctr"/>
          <a:lstStyle/>
          <a:p>
            <a:pPr indent="0" marL="0">
              <a:buNone/>
            </a:pPr>
            <a:r>
              <a:rPr lang="en-US" sz="1100" b="1" dirty="0">
                <a:solidFill>
                  <a:srgbClr val="0A2342"/>
                </a:solidFill>
                <a:latin typeface="Calibri" pitchFamily="34" charset="0"/>
                <a:ea typeface="Calibri" pitchFamily="34" charset="-122"/>
                <a:cs typeface="Calibri" pitchFamily="34" charset="-120"/>
              </a:rPr>
              <a:t>CAPMAS 2024</a:t>
            </a:r>
            <a:endParaRPr lang="en-US" sz="1100" dirty="0"/>
          </a:p>
        </p:txBody>
      </p:sp>
      <p:sp>
        <p:nvSpPr>
          <p:cNvPr id="8" name="Text 6"/>
          <p:cNvSpPr/>
          <p:nvPr/>
        </p:nvSpPr>
        <p:spPr>
          <a:xfrm>
            <a:off x="411480" y="1572768"/>
            <a:ext cx="1417320" cy="201168"/>
          </a:xfrm>
          <a:prstGeom prst="rect">
            <a:avLst/>
          </a:prstGeom>
          <a:noFill/>
          <a:ln/>
        </p:spPr>
        <p:txBody>
          <a:bodyPr wrap="square" lIns="0" tIns="0" rIns="0" bIns="0" rtlCol="0" anchor="ctr"/>
          <a:lstStyle/>
          <a:p>
            <a:pPr indent="0" marL="0">
              <a:buNone/>
            </a:pPr>
            <a:r>
              <a:rPr lang="en-US" sz="850" b="1" dirty="0">
                <a:solidFill>
                  <a:srgbClr val="475569"/>
                </a:solidFill>
                <a:latin typeface="Calibri" pitchFamily="34" charset="0"/>
                <a:ea typeface="Calibri" pitchFamily="34" charset="-122"/>
                <a:cs typeface="Calibri" pitchFamily="34" charset="-120"/>
              </a:rPr>
              <a:t>Core Official Data</a:t>
            </a:r>
            <a:endParaRPr lang="en-US" sz="850" dirty="0"/>
          </a:p>
        </p:txBody>
      </p:sp>
      <p:sp>
        <p:nvSpPr>
          <p:cNvPr id="9" name="Shape 7"/>
          <p:cNvSpPr/>
          <p:nvPr/>
        </p:nvSpPr>
        <p:spPr>
          <a:xfrm>
            <a:off x="411480" y="1828800"/>
            <a:ext cx="1280160" cy="27432"/>
          </a:xfrm>
          <a:prstGeom prst="rect">
            <a:avLst/>
          </a:prstGeom>
          <a:solidFill>
            <a:srgbClr val="E8EEF4"/>
          </a:solidFill>
          <a:ln w="12700">
            <a:solidFill>
              <a:srgbClr val="E8EEF4"/>
            </a:solidFill>
            <a:prstDash val="solid"/>
          </a:ln>
        </p:spPr>
      </p:sp>
      <p:sp>
        <p:nvSpPr>
          <p:cNvPr id="10" name="Text 8"/>
          <p:cNvSpPr/>
          <p:nvPr/>
        </p:nvSpPr>
        <p:spPr>
          <a:xfrm>
            <a:off x="411480" y="1920240"/>
            <a:ext cx="1417320" cy="265176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Central Agency for Public Mobilization and Statistics. Primary source for Egypt's annual export and import flows by sector, product, and partner country (2010–2024).</a:t>
            </a:r>
            <a:endParaRPr lang="en-US" sz="850" dirty="0"/>
          </a:p>
        </p:txBody>
      </p:sp>
      <p:sp>
        <p:nvSpPr>
          <p:cNvPr id="11" name="Shape 9"/>
          <p:cNvSpPr/>
          <p:nvPr/>
        </p:nvSpPr>
        <p:spPr>
          <a:xfrm>
            <a:off x="2039112" y="1170432"/>
            <a:ext cx="1600200" cy="3520440"/>
          </a:xfrm>
          <a:prstGeom prst="rect">
            <a:avLst/>
          </a:prstGeom>
          <a:solidFill>
            <a:srgbClr val="F4F6F8"/>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12" name="Shape 10"/>
          <p:cNvSpPr/>
          <p:nvPr/>
        </p:nvSpPr>
        <p:spPr>
          <a:xfrm>
            <a:off x="2039112" y="1170432"/>
            <a:ext cx="1600200" cy="54864"/>
          </a:xfrm>
          <a:prstGeom prst="rect">
            <a:avLst/>
          </a:prstGeom>
          <a:solidFill>
            <a:srgbClr val="007B55"/>
          </a:solidFill>
          <a:ln w="12700">
            <a:solidFill>
              <a:srgbClr val="007B55"/>
            </a:solidFill>
            <a:prstDash val="solid"/>
          </a:ln>
        </p:spPr>
      </p:sp>
      <p:sp>
        <p:nvSpPr>
          <p:cNvPr id="13" name="Text 11"/>
          <p:cNvSpPr/>
          <p:nvPr/>
        </p:nvSpPr>
        <p:spPr>
          <a:xfrm>
            <a:off x="2130552" y="1261872"/>
            <a:ext cx="1417320" cy="292608"/>
          </a:xfrm>
          <a:prstGeom prst="rect">
            <a:avLst/>
          </a:prstGeom>
          <a:noFill/>
          <a:ln/>
        </p:spPr>
        <p:txBody>
          <a:bodyPr wrap="square" lIns="0" tIns="0" rIns="0" bIns="0" rtlCol="0" anchor="ctr"/>
          <a:lstStyle/>
          <a:p>
            <a:pPr indent="0" marL="0">
              <a:buNone/>
            </a:pPr>
            <a:r>
              <a:rPr lang="en-US" sz="1100" b="1" dirty="0">
                <a:solidFill>
                  <a:srgbClr val="007B55"/>
                </a:solidFill>
                <a:latin typeface="Calibri" pitchFamily="34" charset="0"/>
                <a:ea typeface="Calibri" pitchFamily="34" charset="-122"/>
                <a:cs typeface="Calibri" pitchFamily="34" charset="-120"/>
              </a:rPr>
              <a:t>UN Comtrade</a:t>
            </a:r>
            <a:endParaRPr lang="en-US" sz="1100" dirty="0"/>
          </a:p>
        </p:txBody>
      </p:sp>
      <p:sp>
        <p:nvSpPr>
          <p:cNvPr id="14" name="Text 12"/>
          <p:cNvSpPr/>
          <p:nvPr/>
        </p:nvSpPr>
        <p:spPr>
          <a:xfrm>
            <a:off x="2130552" y="1572768"/>
            <a:ext cx="1417320" cy="201168"/>
          </a:xfrm>
          <a:prstGeom prst="rect">
            <a:avLst/>
          </a:prstGeom>
          <a:noFill/>
          <a:ln/>
        </p:spPr>
        <p:txBody>
          <a:bodyPr wrap="square" lIns="0" tIns="0" rIns="0" bIns="0" rtlCol="0" anchor="ctr"/>
          <a:lstStyle/>
          <a:p>
            <a:pPr indent="0" marL="0">
              <a:buNone/>
            </a:pPr>
            <a:r>
              <a:rPr lang="en-US" sz="850" b="1" dirty="0">
                <a:solidFill>
                  <a:srgbClr val="475569"/>
                </a:solidFill>
                <a:latin typeface="Calibri" pitchFamily="34" charset="0"/>
                <a:ea typeface="Calibri" pitchFamily="34" charset="-122"/>
                <a:cs typeface="Calibri" pitchFamily="34" charset="-120"/>
              </a:rPr>
              <a:t>Bilateral Trade Flows</a:t>
            </a:r>
            <a:endParaRPr lang="en-US" sz="850" dirty="0"/>
          </a:p>
        </p:txBody>
      </p:sp>
      <p:sp>
        <p:nvSpPr>
          <p:cNvPr id="15" name="Shape 13"/>
          <p:cNvSpPr/>
          <p:nvPr/>
        </p:nvSpPr>
        <p:spPr>
          <a:xfrm>
            <a:off x="2130552" y="1828800"/>
            <a:ext cx="1280160" cy="27432"/>
          </a:xfrm>
          <a:prstGeom prst="rect">
            <a:avLst/>
          </a:prstGeom>
          <a:solidFill>
            <a:srgbClr val="E8EEF4"/>
          </a:solidFill>
          <a:ln w="12700">
            <a:solidFill>
              <a:srgbClr val="E8EEF4"/>
            </a:solidFill>
            <a:prstDash val="solid"/>
          </a:ln>
        </p:spPr>
      </p:sp>
      <p:sp>
        <p:nvSpPr>
          <p:cNvPr id="16" name="Text 14"/>
          <p:cNvSpPr/>
          <p:nvPr/>
        </p:nvSpPr>
        <p:spPr>
          <a:xfrm>
            <a:off x="2130552" y="1920240"/>
            <a:ext cx="1417320" cy="265176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United Nations Comtrade Database. Provides detailed bilateral trade records between Egypt and 120+ partner countries, enabling geographic concentration analysis.</a:t>
            </a:r>
            <a:endParaRPr lang="en-US" sz="850" dirty="0"/>
          </a:p>
        </p:txBody>
      </p:sp>
      <p:sp>
        <p:nvSpPr>
          <p:cNvPr id="17" name="Shape 15"/>
          <p:cNvSpPr/>
          <p:nvPr/>
        </p:nvSpPr>
        <p:spPr>
          <a:xfrm>
            <a:off x="3758184" y="1170432"/>
            <a:ext cx="1600200" cy="3520440"/>
          </a:xfrm>
          <a:prstGeom prst="rect">
            <a:avLst/>
          </a:prstGeom>
          <a:solidFill>
            <a:srgbClr val="F4F6F8"/>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18" name="Shape 16"/>
          <p:cNvSpPr/>
          <p:nvPr/>
        </p:nvSpPr>
        <p:spPr>
          <a:xfrm>
            <a:off x="3758184" y="1170432"/>
            <a:ext cx="1600200" cy="54864"/>
          </a:xfrm>
          <a:prstGeom prst="rect">
            <a:avLst/>
          </a:prstGeom>
          <a:solidFill>
            <a:srgbClr val="C9943A"/>
          </a:solidFill>
          <a:ln w="12700">
            <a:solidFill>
              <a:srgbClr val="C9943A"/>
            </a:solidFill>
            <a:prstDash val="solid"/>
          </a:ln>
        </p:spPr>
      </p:sp>
      <p:sp>
        <p:nvSpPr>
          <p:cNvPr id="19" name="Text 17"/>
          <p:cNvSpPr/>
          <p:nvPr/>
        </p:nvSpPr>
        <p:spPr>
          <a:xfrm>
            <a:off x="3849624" y="1261872"/>
            <a:ext cx="1417320" cy="292608"/>
          </a:xfrm>
          <a:prstGeom prst="rect">
            <a:avLst/>
          </a:prstGeom>
          <a:noFill/>
          <a:ln/>
        </p:spPr>
        <p:txBody>
          <a:bodyPr wrap="square" lIns="0" tIns="0" rIns="0" bIns="0" rtlCol="0" anchor="ctr"/>
          <a:lstStyle/>
          <a:p>
            <a:pPr indent="0" marL="0">
              <a:buNone/>
            </a:pPr>
            <a:r>
              <a:rPr lang="en-US" sz="1100" b="1" dirty="0">
                <a:solidFill>
                  <a:srgbClr val="C9943A"/>
                </a:solidFill>
                <a:latin typeface="Calibri" pitchFamily="34" charset="0"/>
                <a:ea typeface="Calibri" pitchFamily="34" charset="-122"/>
                <a:cs typeface="Calibri" pitchFamily="34" charset="-120"/>
              </a:rPr>
              <a:t>ITC TradeMap</a:t>
            </a:r>
            <a:endParaRPr lang="en-US" sz="1100" dirty="0"/>
          </a:p>
        </p:txBody>
      </p:sp>
      <p:sp>
        <p:nvSpPr>
          <p:cNvPr id="20" name="Text 18"/>
          <p:cNvSpPr/>
          <p:nvPr/>
        </p:nvSpPr>
        <p:spPr>
          <a:xfrm>
            <a:off x="3849624" y="1572768"/>
            <a:ext cx="1417320" cy="201168"/>
          </a:xfrm>
          <a:prstGeom prst="rect">
            <a:avLst/>
          </a:prstGeom>
          <a:noFill/>
          <a:ln/>
        </p:spPr>
        <p:txBody>
          <a:bodyPr wrap="square" lIns="0" tIns="0" rIns="0" bIns="0" rtlCol="0" anchor="ctr"/>
          <a:lstStyle/>
          <a:p>
            <a:pPr indent="0" marL="0">
              <a:buNone/>
            </a:pPr>
            <a:r>
              <a:rPr lang="en-US" sz="850" b="1" dirty="0">
                <a:solidFill>
                  <a:srgbClr val="475569"/>
                </a:solidFill>
                <a:latin typeface="Calibri" pitchFamily="34" charset="0"/>
                <a:ea typeface="Calibri" pitchFamily="34" charset="-122"/>
                <a:cs typeface="Calibri" pitchFamily="34" charset="-120"/>
              </a:rPr>
              <a:t>Price Intelligence</a:t>
            </a:r>
            <a:endParaRPr lang="en-US" sz="850" dirty="0"/>
          </a:p>
        </p:txBody>
      </p:sp>
      <p:sp>
        <p:nvSpPr>
          <p:cNvPr id="21" name="Shape 19"/>
          <p:cNvSpPr/>
          <p:nvPr/>
        </p:nvSpPr>
        <p:spPr>
          <a:xfrm>
            <a:off x="3849624" y="1828800"/>
            <a:ext cx="1280160" cy="27432"/>
          </a:xfrm>
          <a:prstGeom prst="rect">
            <a:avLst/>
          </a:prstGeom>
          <a:solidFill>
            <a:srgbClr val="E8EEF4"/>
          </a:solidFill>
          <a:ln w="12700">
            <a:solidFill>
              <a:srgbClr val="E8EEF4"/>
            </a:solidFill>
            <a:prstDash val="solid"/>
          </a:ln>
        </p:spPr>
      </p:sp>
      <p:sp>
        <p:nvSpPr>
          <p:cNvPr id="22" name="Text 20"/>
          <p:cNvSpPr/>
          <p:nvPr/>
        </p:nvSpPr>
        <p:spPr>
          <a:xfrm>
            <a:off x="3849624" y="1920240"/>
            <a:ext cx="1417320" cy="265176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International Trade Centre TradeMap. Source for unit price data comparing Egypt's export prices against top competitor nations — powering the $3B+ pricing gap analysis.</a:t>
            </a:r>
            <a:endParaRPr lang="en-US" sz="850" dirty="0"/>
          </a:p>
        </p:txBody>
      </p:sp>
      <p:sp>
        <p:nvSpPr>
          <p:cNvPr id="23" name="Shape 21"/>
          <p:cNvSpPr/>
          <p:nvPr/>
        </p:nvSpPr>
        <p:spPr>
          <a:xfrm>
            <a:off x="5477256" y="1170432"/>
            <a:ext cx="1600200" cy="3520440"/>
          </a:xfrm>
          <a:prstGeom prst="rect">
            <a:avLst/>
          </a:prstGeom>
          <a:solidFill>
            <a:srgbClr val="F4F6F8"/>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24" name="Shape 22"/>
          <p:cNvSpPr/>
          <p:nvPr/>
        </p:nvSpPr>
        <p:spPr>
          <a:xfrm>
            <a:off x="5477256" y="1170432"/>
            <a:ext cx="1600200" cy="54864"/>
          </a:xfrm>
          <a:prstGeom prst="rect">
            <a:avLst/>
          </a:prstGeom>
          <a:solidFill>
            <a:srgbClr val="163A60"/>
          </a:solidFill>
          <a:ln w="12700">
            <a:solidFill>
              <a:srgbClr val="163A60"/>
            </a:solidFill>
            <a:prstDash val="solid"/>
          </a:ln>
        </p:spPr>
      </p:sp>
      <p:sp>
        <p:nvSpPr>
          <p:cNvPr id="25" name="Text 23"/>
          <p:cNvSpPr/>
          <p:nvPr/>
        </p:nvSpPr>
        <p:spPr>
          <a:xfrm>
            <a:off x="5568696" y="1261872"/>
            <a:ext cx="1417320" cy="292608"/>
          </a:xfrm>
          <a:prstGeom prst="rect">
            <a:avLst/>
          </a:prstGeom>
          <a:noFill/>
          <a:ln/>
        </p:spPr>
        <p:txBody>
          <a:bodyPr wrap="square" lIns="0" tIns="0" rIns="0" bIns="0" rtlCol="0" anchor="ctr"/>
          <a:lstStyle/>
          <a:p>
            <a:pPr indent="0" marL="0">
              <a:buNone/>
            </a:pPr>
            <a:r>
              <a:rPr lang="en-US" sz="1100" b="1" dirty="0">
                <a:solidFill>
                  <a:srgbClr val="163A60"/>
                </a:solidFill>
                <a:latin typeface="Calibri" pitchFamily="34" charset="0"/>
                <a:ea typeface="Calibri" pitchFamily="34" charset="-122"/>
                <a:cs typeface="Calibri" pitchFamily="34" charset="-120"/>
              </a:rPr>
              <a:t>World Bank</a:t>
            </a:r>
            <a:endParaRPr lang="en-US" sz="1100" dirty="0"/>
          </a:p>
        </p:txBody>
      </p:sp>
      <p:sp>
        <p:nvSpPr>
          <p:cNvPr id="26" name="Text 24"/>
          <p:cNvSpPr/>
          <p:nvPr/>
        </p:nvSpPr>
        <p:spPr>
          <a:xfrm>
            <a:off x="5568696" y="1572768"/>
            <a:ext cx="1417320" cy="201168"/>
          </a:xfrm>
          <a:prstGeom prst="rect">
            <a:avLst/>
          </a:prstGeom>
          <a:noFill/>
          <a:ln/>
        </p:spPr>
        <p:txBody>
          <a:bodyPr wrap="square" lIns="0" tIns="0" rIns="0" bIns="0" rtlCol="0" anchor="ctr"/>
          <a:lstStyle/>
          <a:p>
            <a:pPr indent="0" marL="0">
              <a:buNone/>
            </a:pPr>
            <a:r>
              <a:rPr lang="en-US" sz="850" b="1" dirty="0">
                <a:solidFill>
                  <a:srgbClr val="475569"/>
                </a:solidFill>
                <a:latin typeface="Calibri" pitchFamily="34" charset="0"/>
                <a:ea typeface="Calibri" pitchFamily="34" charset="-122"/>
                <a:cs typeface="Calibri" pitchFamily="34" charset="-120"/>
              </a:rPr>
              <a:t>Peer Benchmarking</a:t>
            </a:r>
            <a:endParaRPr lang="en-US" sz="850" dirty="0"/>
          </a:p>
        </p:txBody>
      </p:sp>
      <p:sp>
        <p:nvSpPr>
          <p:cNvPr id="27" name="Shape 25"/>
          <p:cNvSpPr/>
          <p:nvPr/>
        </p:nvSpPr>
        <p:spPr>
          <a:xfrm>
            <a:off x="5568696" y="1828800"/>
            <a:ext cx="1280160" cy="27432"/>
          </a:xfrm>
          <a:prstGeom prst="rect">
            <a:avLst/>
          </a:prstGeom>
          <a:solidFill>
            <a:srgbClr val="E8EEF4"/>
          </a:solidFill>
          <a:ln w="12700">
            <a:solidFill>
              <a:srgbClr val="E8EEF4"/>
            </a:solidFill>
            <a:prstDash val="solid"/>
          </a:ln>
        </p:spPr>
      </p:sp>
      <p:sp>
        <p:nvSpPr>
          <p:cNvPr id="28" name="Text 26"/>
          <p:cNvSpPr/>
          <p:nvPr/>
        </p:nvSpPr>
        <p:spPr>
          <a:xfrm>
            <a:off x="5568696" y="1920240"/>
            <a:ext cx="1417320" cy="265176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World Bank Open Data. Provides standardized KPIs for Egypt, Turkey, Morocco, and Vietnam across 14 indicators including LPI, export per capita, and manufacturing share.</a:t>
            </a:r>
            <a:endParaRPr lang="en-US" sz="850" dirty="0"/>
          </a:p>
        </p:txBody>
      </p:sp>
      <p:sp>
        <p:nvSpPr>
          <p:cNvPr id="29" name="Shape 27"/>
          <p:cNvSpPr/>
          <p:nvPr/>
        </p:nvSpPr>
        <p:spPr>
          <a:xfrm>
            <a:off x="7196328" y="1170432"/>
            <a:ext cx="1600200" cy="3520440"/>
          </a:xfrm>
          <a:prstGeom prst="rect">
            <a:avLst/>
          </a:prstGeom>
          <a:solidFill>
            <a:srgbClr val="F4F6F8"/>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30" name="Shape 28"/>
          <p:cNvSpPr/>
          <p:nvPr/>
        </p:nvSpPr>
        <p:spPr>
          <a:xfrm>
            <a:off x="7196328" y="1170432"/>
            <a:ext cx="1600200" cy="54864"/>
          </a:xfrm>
          <a:prstGeom prst="rect">
            <a:avLst/>
          </a:prstGeom>
          <a:solidFill>
            <a:srgbClr val="C0392B"/>
          </a:solidFill>
          <a:ln w="12700">
            <a:solidFill>
              <a:srgbClr val="C0392B"/>
            </a:solidFill>
            <a:prstDash val="solid"/>
          </a:ln>
        </p:spPr>
      </p:sp>
      <p:sp>
        <p:nvSpPr>
          <p:cNvPr id="31" name="Text 29"/>
          <p:cNvSpPr/>
          <p:nvPr/>
        </p:nvSpPr>
        <p:spPr>
          <a:xfrm>
            <a:off x="7287768" y="1261872"/>
            <a:ext cx="1417320" cy="292608"/>
          </a:xfrm>
          <a:prstGeom prst="rect">
            <a:avLst/>
          </a:prstGeom>
          <a:noFill/>
          <a:ln/>
        </p:spPr>
        <p:txBody>
          <a:bodyPr wrap="square" lIns="0" tIns="0" rIns="0" bIns="0"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WTO</a:t>
            </a:r>
            <a:endParaRPr lang="en-US" sz="1100" dirty="0"/>
          </a:p>
        </p:txBody>
      </p:sp>
      <p:sp>
        <p:nvSpPr>
          <p:cNvPr id="32" name="Text 30"/>
          <p:cNvSpPr/>
          <p:nvPr/>
        </p:nvSpPr>
        <p:spPr>
          <a:xfrm>
            <a:off x="7287768" y="1572768"/>
            <a:ext cx="1417320" cy="201168"/>
          </a:xfrm>
          <a:prstGeom prst="rect">
            <a:avLst/>
          </a:prstGeom>
          <a:noFill/>
          <a:ln/>
        </p:spPr>
        <p:txBody>
          <a:bodyPr wrap="square" lIns="0" tIns="0" rIns="0" bIns="0" rtlCol="0" anchor="ctr"/>
          <a:lstStyle/>
          <a:p>
            <a:pPr indent="0" marL="0">
              <a:buNone/>
            </a:pPr>
            <a:r>
              <a:rPr lang="en-US" sz="850" b="1" dirty="0">
                <a:solidFill>
                  <a:srgbClr val="475569"/>
                </a:solidFill>
                <a:latin typeface="Calibri" pitchFamily="34" charset="0"/>
                <a:ea typeface="Calibri" pitchFamily="34" charset="-122"/>
                <a:cs typeface="Calibri" pitchFamily="34" charset="-120"/>
              </a:rPr>
              <a:t>Global Context</a:t>
            </a:r>
            <a:endParaRPr lang="en-US" sz="850" dirty="0"/>
          </a:p>
        </p:txBody>
      </p:sp>
      <p:sp>
        <p:nvSpPr>
          <p:cNvPr id="33" name="Shape 31"/>
          <p:cNvSpPr/>
          <p:nvPr/>
        </p:nvSpPr>
        <p:spPr>
          <a:xfrm>
            <a:off x="7287768" y="1828800"/>
            <a:ext cx="1280160" cy="27432"/>
          </a:xfrm>
          <a:prstGeom prst="rect">
            <a:avLst/>
          </a:prstGeom>
          <a:solidFill>
            <a:srgbClr val="E8EEF4"/>
          </a:solidFill>
          <a:ln w="12700">
            <a:solidFill>
              <a:srgbClr val="E8EEF4"/>
            </a:solidFill>
            <a:prstDash val="solid"/>
          </a:ln>
        </p:spPr>
      </p:sp>
      <p:sp>
        <p:nvSpPr>
          <p:cNvPr id="34" name="Text 32"/>
          <p:cNvSpPr/>
          <p:nvPr/>
        </p:nvSpPr>
        <p:spPr>
          <a:xfrm>
            <a:off x="7287768" y="1920240"/>
            <a:ext cx="1417320" cy="2651760"/>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World Trade Organization statistical datasets. Provides global trade context, tariff schedules, and the benchmarking framework for Vision 2030 alignment.</a:t>
            </a:r>
            <a:endParaRPr lang="en-US" sz="850" dirty="0"/>
          </a:p>
        </p:txBody>
      </p:sp>
      <p:sp>
        <p:nvSpPr>
          <p:cNvPr id="35" name="Shape 33"/>
          <p:cNvSpPr/>
          <p:nvPr/>
        </p:nvSpPr>
        <p:spPr>
          <a:xfrm>
            <a:off x="320040" y="4754880"/>
            <a:ext cx="4297680" cy="182880"/>
          </a:xfrm>
          <a:prstGeom prst="rect">
            <a:avLst/>
          </a:prstGeom>
          <a:solidFill>
            <a:srgbClr val="0A2342"/>
          </a:solidFill>
          <a:ln w="12700">
            <a:solidFill>
              <a:srgbClr val="0A2342"/>
            </a:solidFill>
            <a:prstDash val="solid"/>
          </a:ln>
        </p:spPr>
      </p:sp>
      <p:sp>
        <p:nvSpPr>
          <p:cNvPr id="36" name="Text 34"/>
          <p:cNvSpPr/>
          <p:nvPr/>
        </p:nvSpPr>
        <p:spPr>
          <a:xfrm>
            <a:off x="411480" y="4754880"/>
            <a:ext cx="4206240" cy="182880"/>
          </a:xfrm>
          <a:prstGeom prst="rect">
            <a:avLst/>
          </a:prstGeom>
          <a:noFill/>
          <a:ln/>
        </p:spPr>
        <p:txBody>
          <a:bodyPr wrap="square" lIns="0" tIns="0" rIns="0" bIns="0" rtlCol="0" anchor="ctr"/>
          <a:lstStyle/>
          <a:p>
            <a:pPr indent="0" marL="0">
              <a:buNone/>
            </a:pPr>
            <a:r>
              <a:rPr lang="en-US" sz="750" dirty="0">
                <a:solidFill>
                  <a:srgbClr val="C9943A"/>
                </a:solidFill>
                <a:latin typeface="Calibri" pitchFamily="34" charset="0"/>
                <a:ea typeface="Calibri" pitchFamily="34" charset="-122"/>
                <a:cs typeface="Calibri" pitchFamily="34" charset="-120"/>
              </a:rPr>
              <a:t>7 Fact Tables  ·  FACT_TRADE_FLOW · FACT_BILATERAL_FLOWS · FACT_KPI_PROGRESS · FACT_EXPORT_UNIT_PRICE · FACT_IMPORT_UNIT_PRICE · FACT_PRICE_GAP_SUMMARY · FACT_PEER_BENCHMARK</a:t>
            </a:r>
            <a:endParaRPr lang="en-US" sz="750" dirty="0"/>
          </a:p>
        </p:txBody>
      </p:sp>
      <p:sp>
        <p:nvSpPr>
          <p:cNvPr id="37" name="Shape 35"/>
          <p:cNvSpPr/>
          <p:nvPr/>
        </p:nvSpPr>
        <p:spPr>
          <a:xfrm>
            <a:off x="4754880" y="4754880"/>
            <a:ext cx="4297680" cy="182880"/>
          </a:xfrm>
          <a:prstGeom prst="rect">
            <a:avLst/>
          </a:prstGeom>
          <a:solidFill>
            <a:srgbClr val="0A2342"/>
          </a:solidFill>
          <a:ln w="12700">
            <a:solidFill>
              <a:srgbClr val="0A2342"/>
            </a:solidFill>
            <a:prstDash val="solid"/>
          </a:ln>
        </p:spPr>
      </p:sp>
      <p:sp>
        <p:nvSpPr>
          <p:cNvPr id="38" name="Text 36"/>
          <p:cNvSpPr/>
          <p:nvPr/>
        </p:nvSpPr>
        <p:spPr>
          <a:xfrm>
            <a:off x="4846320" y="4754880"/>
            <a:ext cx="4206240" cy="182880"/>
          </a:xfrm>
          <a:prstGeom prst="rect">
            <a:avLst/>
          </a:prstGeom>
          <a:noFill/>
          <a:ln/>
        </p:spPr>
        <p:txBody>
          <a:bodyPr wrap="square" lIns="0" tIns="0" rIns="0" bIns="0" rtlCol="0" anchor="ctr"/>
          <a:lstStyle/>
          <a:p>
            <a:pPr indent="0" marL="0">
              <a:buNone/>
            </a:pPr>
            <a:r>
              <a:rPr lang="en-US" sz="750" dirty="0">
                <a:solidFill>
                  <a:srgbClr val="C9943A"/>
                </a:solidFill>
                <a:latin typeface="Calibri" pitchFamily="34" charset="0"/>
                <a:ea typeface="Calibri" pitchFamily="34" charset="-122"/>
                <a:cs typeface="Calibri" pitchFamily="34" charset="-120"/>
              </a:rPr>
              <a:t>6 Dimension Tables  ·  DIM_DATE · DIM_COUNTRY · DIM_PRODUCT · DIM_TRADE_TYPE · DIM_VISION2030_KPI · DIM_CHANNEL</a:t>
            </a:r>
            <a:endParaRPr lang="en-US" sz="750" dirty="0"/>
          </a:p>
        </p:txBody>
      </p:sp>
      <p:sp>
        <p:nvSpPr>
          <p:cNvPr id="39" name="Shape 37"/>
          <p:cNvSpPr/>
          <p:nvPr/>
        </p:nvSpPr>
        <p:spPr>
          <a:xfrm>
            <a:off x="0" y="4873752"/>
            <a:ext cx="9144000" cy="269748"/>
          </a:xfrm>
          <a:prstGeom prst="rect">
            <a:avLst/>
          </a:prstGeom>
          <a:solidFill>
            <a:srgbClr val="0A2342"/>
          </a:solidFill>
          <a:ln w="12700">
            <a:solidFill>
              <a:srgbClr val="0A2342"/>
            </a:solidFill>
            <a:prstDash val="solid"/>
          </a:ln>
        </p:spPr>
      </p:sp>
      <p:sp>
        <p:nvSpPr>
          <p:cNvPr id="40" name="Text 38"/>
          <p:cNvSpPr/>
          <p:nvPr/>
        </p:nvSpPr>
        <p:spPr>
          <a:xfrm>
            <a:off x="274320" y="4882896"/>
            <a:ext cx="8595360" cy="246888"/>
          </a:xfrm>
          <a:prstGeom prst="rect">
            <a:avLst/>
          </a:prstGeom>
          <a:noFill/>
          <a:ln/>
        </p:spPr>
        <p:txBody>
          <a:bodyPr wrap="square" lIns="0" tIns="0" rIns="0" bIns="0" rtlCol="0" anchor="ctr"/>
          <a:lstStyle/>
          <a:p>
            <a:pPr indent="0" marL="0">
              <a:buNone/>
            </a:pPr>
            <a:r>
              <a:rPr lang="en-US" sz="800" dirty="0">
                <a:solidFill>
                  <a:srgbClr val="C9943A"/>
                </a:solidFill>
                <a:latin typeface="Calibri" pitchFamily="34" charset="0"/>
                <a:ea typeface="Calibri" pitchFamily="34" charset="-122"/>
                <a:cs typeface="Calibri" pitchFamily="34" charset="-120"/>
              </a:rPr>
              <a:t>Egyptian Export Observatory  |  DEPI Data Analysis Track  |  CLS-EGX-TRADEG1-T1  |  2025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502920"/>
          </a:xfrm>
          <a:prstGeom prst="rect">
            <a:avLst/>
          </a:prstGeom>
          <a:noFill/>
          <a:ln/>
        </p:spPr>
        <p:txBody>
          <a:bodyPr wrap="square" lIns="0" tIns="0" rIns="0" bIns="0" rtlCol="0" anchor="ctr"/>
          <a:lstStyle/>
          <a:p>
            <a:pPr indent="0" marL="0">
              <a:buNone/>
            </a:pPr>
            <a:r>
              <a:rPr lang="en-US" sz="2600" b="1" dirty="0">
                <a:solidFill>
                  <a:srgbClr val="0A2342"/>
                </a:solidFill>
                <a:latin typeface="Calibri" pitchFamily="34" charset="0"/>
                <a:ea typeface="Calibri" pitchFamily="34" charset="-122"/>
                <a:cs typeface="Calibri" pitchFamily="34" charset="-120"/>
              </a:rPr>
              <a:t>Data Preparation &amp; Methodology</a:t>
            </a:r>
            <a:endParaRPr lang="en-US" sz="2600" dirty="0"/>
          </a:p>
        </p:txBody>
      </p:sp>
      <p:sp>
        <p:nvSpPr>
          <p:cNvPr id="3" name="Text 1"/>
          <p:cNvSpPr/>
          <p:nvPr/>
        </p:nvSpPr>
        <p:spPr>
          <a:xfrm>
            <a:off x="457200" y="694944"/>
            <a:ext cx="8229600" cy="2743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Chapter 1 — From Raw Data to Reliable Insights</a:t>
            </a:r>
            <a:endParaRPr lang="en-US" sz="1200" dirty="0"/>
          </a:p>
        </p:txBody>
      </p:sp>
      <p:sp>
        <p:nvSpPr>
          <p:cNvPr id="4" name="Shape 2"/>
          <p:cNvSpPr/>
          <p:nvPr/>
        </p:nvSpPr>
        <p:spPr>
          <a:xfrm>
            <a:off x="457200" y="1024128"/>
            <a:ext cx="8229600" cy="27432"/>
          </a:xfrm>
          <a:prstGeom prst="rect">
            <a:avLst/>
          </a:prstGeom>
          <a:solidFill>
            <a:srgbClr val="C9943A"/>
          </a:solidFill>
          <a:ln w="12700">
            <a:solidFill>
              <a:srgbClr val="C9943A"/>
            </a:solidFill>
            <a:prstDash val="solid"/>
          </a:ln>
        </p:spPr>
      </p:sp>
      <p:sp>
        <p:nvSpPr>
          <p:cNvPr id="5" name="Shape 3"/>
          <p:cNvSpPr/>
          <p:nvPr/>
        </p:nvSpPr>
        <p:spPr>
          <a:xfrm>
            <a:off x="457200" y="1170432"/>
            <a:ext cx="1234440" cy="1234440"/>
          </a:xfrm>
          <a:prstGeom prst="rect">
            <a:avLst/>
          </a:prstGeom>
          <a:solidFill>
            <a:srgbClr val="0A2342"/>
          </a:solidFill>
          <a:ln w="12700">
            <a:solidFill>
              <a:srgbClr val="0A2342"/>
            </a:solidFill>
            <a:prstDash val="solid"/>
          </a:ln>
          <a:effectLst>
            <a:outerShdw sx="100000" sy="100000" kx="0" ky="0" algn="bl" rotWithShape="0" blurRad="101600" dist="25400" dir="8100000">
              <a:srgbClr val="000000">
                <a:alpha val="13000"/>
              </a:srgbClr>
            </a:outerShdw>
          </a:effectLst>
        </p:spPr>
      </p:sp>
      <p:sp>
        <p:nvSpPr>
          <p:cNvPr id="6" name="Text 4"/>
          <p:cNvSpPr/>
          <p:nvPr/>
        </p:nvSpPr>
        <p:spPr>
          <a:xfrm>
            <a:off x="457200" y="1207008"/>
            <a:ext cx="1234440" cy="411480"/>
          </a:xfrm>
          <a:prstGeom prst="rect">
            <a:avLst/>
          </a:prstGeom>
          <a:noFill/>
          <a:ln/>
        </p:spPr>
        <p:txBody>
          <a:bodyPr wrap="square" lIns="0" tIns="0" rIns="0" bIns="0" rtlCol="0" anchor="ctr"/>
          <a:lstStyle/>
          <a:p>
            <a:pPr algn="ctr" indent="0" marL="0">
              <a:buNone/>
            </a:pPr>
            <a:r>
              <a:rPr lang="en-US" sz="2200" b="1" dirty="0">
                <a:solidFill>
                  <a:srgbClr val="C9943A"/>
                </a:solidFill>
                <a:latin typeface="Calibri" pitchFamily="34" charset="0"/>
                <a:ea typeface="Calibri" pitchFamily="34" charset="-122"/>
                <a:cs typeface="Calibri" pitchFamily="34" charset="-120"/>
              </a:rPr>
              <a:t>01</a:t>
            </a:r>
            <a:endParaRPr lang="en-US" sz="2200" dirty="0"/>
          </a:p>
        </p:txBody>
      </p:sp>
      <p:sp>
        <p:nvSpPr>
          <p:cNvPr id="7" name="Text 5"/>
          <p:cNvSpPr/>
          <p:nvPr/>
        </p:nvSpPr>
        <p:spPr>
          <a:xfrm>
            <a:off x="457200" y="1627632"/>
            <a:ext cx="123444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Connect</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Sources</a:t>
            </a:r>
            <a:endParaRPr lang="en-US" sz="900" dirty="0"/>
          </a:p>
        </p:txBody>
      </p:sp>
      <p:sp>
        <p:nvSpPr>
          <p:cNvPr id="8" name="Shape 6"/>
          <p:cNvSpPr/>
          <p:nvPr/>
        </p:nvSpPr>
        <p:spPr>
          <a:xfrm>
            <a:off x="1691640" y="1769364"/>
            <a:ext cx="182880" cy="36576"/>
          </a:xfrm>
          <a:prstGeom prst="rect">
            <a:avLst/>
          </a:prstGeom>
          <a:solidFill>
            <a:srgbClr val="C9943A"/>
          </a:solidFill>
          <a:ln w="12700">
            <a:solidFill>
              <a:srgbClr val="C9943A"/>
            </a:solidFill>
            <a:prstDash val="solid"/>
          </a:ln>
        </p:spPr>
      </p:sp>
      <p:sp>
        <p:nvSpPr>
          <p:cNvPr id="9" name="Text 7"/>
          <p:cNvSpPr/>
          <p:nvPr/>
        </p:nvSpPr>
        <p:spPr>
          <a:xfrm>
            <a:off x="457200" y="2487168"/>
            <a:ext cx="1234440" cy="457200"/>
          </a:xfrm>
          <a:prstGeom prst="rect">
            <a:avLst/>
          </a:prstGeom>
          <a:noFill/>
          <a:ln/>
        </p:spPr>
        <p:txBody>
          <a:bodyPr wrap="square" lIns="0" tIns="0" rIns="0" bIns="0" rtlCol="0" anchor="ctr"/>
          <a:lstStyle/>
          <a:p>
            <a:pPr algn="ctr" indent="0" marL="0">
              <a:buNone/>
            </a:pPr>
            <a:r>
              <a:rPr lang="en-US" sz="800" dirty="0">
                <a:solidFill>
                  <a:srgbClr val="475569"/>
                </a:solidFill>
                <a:latin typeface="Calibri" pitchFamily="34" charset="0"/>
                <a:ea typeface="Calibri" pitchFamily="34" charset="-122"/>
                <a:cs typeface="Calibri" pitchFamily="34" charset="-120"/>
              </a:rPr>
              <a:t>5 official institutions connected via Power Query</a:t>
            </a:r>
            <a:endParaRPr lang="en-US" sz="800" dirty="0"/>
          </a:p>
        </p:txBody>
      </p:sp>
      <p:sp>
        <p:nvSpPr>
          <p:cNvPr id="10" name="Shape 8"/>
          <p:cNvSpPr/>
          <p:nvPr/>
        </p:nvSpPr>
        <p:spPr>
          <a:xfrm>
            <a:off x="1874520" y="1170432"/>
            <a:ext cx="1234440" cy="1234440"/>
          </a:xfrm>
          <a:prstGeom prst="rect">
            <a:avLst/>
          </a:prstGeom>
          <a:solidFill>
            <a:srgbClr val="0A2342"/>
          </a:solidFill>
          <a:ln w="12700">
            <a:solidFill>
              <a:srgbClr val="0A2342"/>
            </a:solidFill>
            <a:prstDash val="solid"/>
          </a:ln>
          <a:effectLst>
            <a:outerShdw sx="100000" sy="100000" kx="0" ky="0" algn="bl" rotWithShape="0" blurRad="101600" dist="25400" dir="8100000">
              <a:srgbClr val="000000">
                <a:alpha val="13000"/>
              </a:srgbClr>
            </a:outerShdw>
          </a:effectLst>
        </p:spPr>
      </p:sp>
      <p:sp>
        <p:nvSpPr>
          <p:cNvPr id="11" name="Text 9"/>
          <p:cNvSpPr/>
          <p:nvPr/>
        </p:nvSpPr>
        <p:spPr>
          <a:xfrm>
            <a:off x="1874520" y="1207008"/>
            <a:ext cx="1234440" cy="411480"/>
          </a:xfrm>
          <a:prstGeom prst="rect">
            <a:avLst/>
          </a:prstGeom>
          <a:noFill/>
          <a:ln/>
        </p:spPr>
        <p:txBody>
          <a:bodyPr wrap="square" lIns="0" tIns="0" rIns="0" bIns="0" rtlCol="0" anchor="ctr"/>
          <a:lstStyle/>
          <a:p>
            <a:pPr algn="ctr" indent="0" marL="0">
              <a:buNone/>
            </a:pPr>
            <a:r>
              <a:rPr lang="en-US" sz="2200" b="1" dirty="0">
                <a:solidFill>
                  <a:srgbClr val="C9943A"/>
                </a:solidFill>
                <a:latin typeface="Calibri" pitchFamily="34" charset="0"/>
                <a:ea typeface="Calibri" pitchFamily="34" charset="-122"/>
                <a:cs typeface="Calibri" pitchFamily="34" charset="-120"/>
              </a:rPr>
              <a:t>02</a:t>
            </a:r>
            <a:endParaRPr lang="en-US" sz="2200" dirty="0"/>
          </a:p>
        </p:txBody>
      </p:sp>
      <p:sp>
        <p:nvSpPr>
          <p:cNvPr id="12" name="Text 10"/>
          <p:cNvSpPr/>
          <p:nvPr/>
        </p:nvSpPr>
        <p:spPr>
          <a:xfrm>
            <a:off x="1874520" y="1627632"/>
            <a:ext cx="123444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Clean</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Data</a:t>
            </a:r>
            <a:endParaRPr lang="en-US" sz="900" dirty="0"/>
          </a:p>
        </p:txBody>
      </p:sp>
      <p:sp>
        <p:nvSpPr>
          <p:cNvPr id="13" name="Shape 11"/>
          <p:cNvSpPr/>
          <p:nvPr/>
        </p:nvSpPr>
        <p:spPr>
          <a:xfrm>
            <a:off x="3108960" y="1769364"/>
            <a:ext cx="182880" cy="36576"/>
          </a:xfrm>
          <a:prstGeom prst="rect">
            <a:avLst/>
          </a:prstGeom>
          <a:solidFill>
            <a:srgbClr val="C9943A"/>
          </a:solidFill>
          <a:ln w="12700">
            <a:solidFill>
              <a:srgbClr val="C9943A"/>
            </a:solidFill>
            <a:prstDash val="solid"/>
          </a:ln>
        </p:spPr>
      </p:sp>
      <p:sp>
        <p:nvSpPr>
          <p:cNvPr id="14" name="Text 12"/>
          <p:cNvSpPr/>
          <p:nvPr/>
        </p:nvSpPr>
        <p:spPr>
          <a:xfrm>
            <a:off x="1874520" y="2487168"/>
            <a:ext cx="1234440" cy="457200"/>
          </a:xfrm>
          <a:prstGeom prst="rect">
            <a:avLst/>
          </a:prstGeom>
          <a:noFill/>
          <a:ln/>
        </p:spPr>
        <p:txBody>
          <a:bodyPr wrap="square" lIns="0" tIns="0" rIns="0" bIns="0" rtlCol="0" anchor="ctr"/>
          <a:lstStyle/>
          <a:p>
            <a:pPr algn="ctr" indent="0" marL="0">
              <a:buNone/>
            </a:pPr>
            <a:r>
              <a:rPr lang="en-US" sz="800" dirty="0">
                <a:solidFill>
                  <a:srgbClr val="475569"/>
                </a:solidFill>
                <a:latin typeface="Calibri" pitchFamily="34" charset="0"/>
                <a:ea typeface="Calibri" pitchFamily="34" charset="-122"/>
                <a:cs typeface="Calibri" pitchFamily="34" charset="-120"/>
              </a:rPr>
              <a:t>Standardize names, formats, null values removed</a:t>
            </a:r>
            <a:endParaRPr lang="en-US" sz="800" dirty="0"/>
          </a:p>
        </p:txBody>
      </p:sp>
      <p:sp>
        <p:nvSpPr>
          <p:cNvPr id="15" name="Shape 13"/>
          <p:cNvSpPr/>
          <p:nvPr/>
        </p:nvSpPr>
        <p:spPr>
          <a:xfrm>
            <a:off x="3291840" y="1170432"/>
            <a:ext cx="1234440" cy="1234440"/>
          </a:xfrm>
          <a:prstGeom prst="rect">
            <a:avLst/>
          </a:prstGeom>
          <a:solidFill>
            <a:srgbClr val="0A2342"/>
          </a:solidFill>
          <a:ln w="12700">
            <a:solidFill>
              <a:srgbClr val="0A2342"/>
            </a:solidFill>
            <a:prstDash val="solid"/>
          </a:ln>
          <a:effectLst>
            <a:outerShdw sx="100000" sy="100000" kx="0" ky="0" algn="bl" rotWithShape="0" blurRad="101600" dist="25400" dir="8100000">
              <a:srgbClr val="000000">
                <a:alpha val="13000"/>
              </a:srgbClr>
            </a:outerShdw>
          </a:effectLst>
        </p:spPr>
      </p:sp>
      <p:sp>
        <p:nvSpPr>
          <p:cNvPr id="16" name="Text 14"/>
          <p:cNvSpPr/>
          <p:nvPr/>
        </p:nvSpPr>
        <p:spPr>
          <a:xfrm>
            <a:off x="3291840" y="1207008"/>
            <a:ext cx="1234440" cy="411480"/>
          </a:xfrm>
          <a:prstGeom prst="rect">
            <a:avLst/>
          </a:prstGeom>
          <a:noFill/>
          <a:ln/>
        </p:spPr>
        <p:txBody>
          <a:bodyPr wrap="square" lIns="0" tIns="0" rIns="0" bIns="0" rtlCol="0" anchor="ctr"/>
          <a:lstStyle/>
          <a:p>
            <a:pPr algn="ctr" indent="0" marL="0">
              <a:buNone/>
            </a:pPr>
            <a:r>
              <a:rPr lang="en-US" sz="2200" b="1" dirty="0">
                <a:solidFill>
                  <a:srgbClr val="C9943A"/>
                </a:solidFill>
                <a:latin typeface="Calibri" pitchFamily="34" charset="0"/>
                <a:ea typeface="Calibri" pitchFamily="34" charset="-122"/>
                <a:cs typeface="Calibri" pitchFamily="34" charset="-120"/>
              </a:rPr>
              <a:t>03</a:t>
            </a:r>
            <a:endParaRPr lang="en-US" sz="2200" dirty="0"/>
          </a:p>
        </p:txBody>
      </p:sp>
      <p:sp>
        <p:nvSpPr>
          <p:cNvPr id="17" name="Text 15"/>
          <p:cNvSpPr/>
          <p:nvPr/>
        </p:nvSpPr>
        <p:spPr>
          <a:xfrm>
            <a:off x="3291840" y="1627632"/>
            <a:ext cx="123444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Transform</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&amp; Calculate</a:t>
            </a:r>
            <a:endParaRPr lang="en-US" sz="900" dirty="0"/>
          </a:p>
        </p:txBody>
      </p:sp>
      <p:sp>
        <p:nvSpPr>
          <p:cNvPr id="18" name="Shape 16"/>
          <p:cNvSpPr/>
          <p:nvPr/>
        </p:nvSpPr>
        <p:spPr>
          <a:xfrm>
            <a:off x="4526280" y="1769364"/>
            <a:ext cx="182880" cy="36576"/>
          </a:xfrm>
          <a:prstGeom prst="rect">
            <a:avLst/>
          </a:prstGeom>
          <a:solidFill>
            <a:srgbClr val="C9943A"/>
          </a:solidFill>
          <a:ln w="12700">
            <a:solidFill>
              <a:srgbClr val="C9943A"/>
            </a:solidFill>
            <a:prstDash val="solid"/>
          </a:ln>
        </p:spPr>
      </p:sp>
      <p:sp>
        <p:nvSpPr>
          <p:cNvPr id="19" name="Text 17"/>
          <p:cNvSpPr/>
          <p:nvPr/>
        </p:nvSpPr>
        <p:spPr>
          <a:xfrm>
            <a:off x="3291840" y="2487168"/>
            <a:ext cx="1234440" cy="457200"/>
          </a:xfrm>
          <a:prstGeom prst="rect">
            <a:avLst/>
          </a:prstGeom>
          <a:noFill/>
          <a:ln/>
        </p:spPr>
        <p:txBody>
          <a:bodyPr wrap="square" lIns="0" tIns="0" rIns="0" bIns="0" rtlCol="0" anchor="ctr"/>
          <a:lstStyle/>
          <a:p>
            <a:pPr algn="ctr" indent="0" marL="0">
              <a:buNone/>
            </a:pPr>
            <a:r>
              <a:rPr lang="en-US" sz="800" dirty="0">
                <a:solidFill>
                  <a:srgbClr val="475569"/>
                </a:solidFill>
                <a:latin typeface="Calibri" pitchFamily="34" charset="0"/>
                <a:ea typeface="Calibri" pitchFamily="34" charset="-122"/>
                <a:cs typeface="Calibri" pitchFamily="34" charset="-120"/>
              </a:rPr>
              <a:t>Calculated columns, revenue loss, price gaps</a:t>
            </a:r>
            <a:endParaRPr lang="en-US" sz="800" dirty="0"/>
          </a:p>
        </p:txBody>
      </p:sp>
      <p:sp>
        <p:nvSpPr>
          <p:cNvPr id="20" name="Shape 18"/>
          <p:cNvSpPr/>
          <p:nvPr/>
        </p:nvSpPr>
        <p:spPr>
          <a:xfrm>
            <a:off x="4709160" y="1170432"/>
            <a:ext cx="1234440" cy="1234440"/>
          </a:xfrm>
          <a:prstGeom prst="rect">
            <a:avLst/>
          </a:prstGeom>
          <a:solidFill>
            <a:srgbClr val="0A2342"/>
          </a:solidFill>
          <a:ln w="12700">
            <a:solidFill>
              <a:srgbClr val="0A2342"/>
            </a:solidFill>
            <a:prstDash val="solid"/>
          </a:ln>
          <a:effectLst>
            <a:outerShdw sx="100000" sy="100000" kx="0" ky="0" algn="bl" rotWithShape="0" blurRad="101600" dist="25400" dir="8100000">
              <a:srgbClr val="000000">
                <a:alpha val="13000"/>
              </a:srgbClr>
            </a:outerShdw>
          </a:effectLst>
        </p:spPr>
      </p:sp>
      <p:sp>
        <p:nvSpPr>
          <p:cNvPr id="21" name="Text 19"/>
          <p:cNvSpPr/>
          <p:nvPr/>
        </p:nvSpPr>
        <p:spPr>
          <a:xfrm>
            <a:off x="4709160" y="1207008"/>
            <a:ext cx="1234440" cy="411480"/>
          </a:xfrm>
          <a:prstGeom prst="rect">
            <a:avLst/>
          </a:prstGeom>
          <a:noFill/>
          <a:ln/>
        </p:spPr>
        <p:txBody>
          <a:bodyPr wrap="square" lIns="0" tIns="0" rIns="0" bIns="0" rtlCol="0" anchor="ctr"/>
          <a:lstStyle/>
          <a:p>
            <a:pPr algn="ctr" indent="0" marL="0">
              <a:buNone/>
            </a:pPr>
            <a:r>
              <a:rPr lang="en-US" sz="2200" b="1" dirty="0">
                <a:solidFill>
                  <a:srgbClr val="C9943A"/>
                </a:solidFill>
                <a:latin typeface="Calibri" pitchFamily="34" charset="0"/>
                <a:ea typeface="Calibri" pitchFamily="34" charset="-122"/>
                <a:cs typeface="Calibri" pitchFamily="34" charset="-120"/>
              </a:rPr>
              <a:t>04</a:t>
            </a:r>
            <a:endParaRPr lang="en-US" sz="2200" dirty="0"/>
          </a:p>
        </p:txBody>
      </p:sp>
      <p:sp>
        <p:nvSpPr>
          <p:cNvPr id="22" name="Text 20"/>
          <p:cNvSpPr/>
          <p:nvPr/>
        </p:nvSpPr>
        <p:spPr>
          <a:xfrm>
            <a:off x="4709160" y="1627632"/>
            <a:ext cx="123444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Build</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Dimensions</a:t>
            </a:r>
            <a:endParaRPr lang="en-US" sz="900" dirty="0"/>
          </a:p>
        </p:txBody>
      </p:sp>
      <p:sp>
        <p:nvSpPr>
          <p:cNvPr id="23" name="Shape 21"/>
          <p:cNvSpPr/>
          <p:nvPr/>
        </p:nvSpPr>
        <p:spPr>
          <a:xfrm>
            <a:off x="5943600" y="1769364"/>
            <a:ext cx="182880" cy="36576"/>
          </a:xfrm>
          <a:prstGeom prst="rect">
            <a:avLst/>
          </a:prstGeom>
          <a:solidFill>
            <a:srgbClr val="C9943A"/>
          </a:solidFill>
          <a:ln w="12700">
            <a:solidFill>
              <a:srgbClr val="C9943A"/>
            </a:solidFill>
            <a:prstDash val="solid"/>
          </a:ln>
        </p:spPr>
      </p:sp>
      <p:sp>
        <p:nvSpPr>
          <p:cNvPr id="24" name="Text 22"/>
          <p:cNvSpPr/>
          <p:nvPr/>
        </p:nvSpPr>
        <p:spPr>
          <a:xfrm>
            <a:off x="4709160" y="2487168"/>
            <a:ext cx="1234440" cy="457200"/>
          </a:xfrm>
          <a:prstGeom prst="rect">
            <a:avLst/>
          </a:prstGeom>
          <a:noFill/>
          <a:ln/>
        </p:spPr>
        <p:txBody>
          <a:bodyPr wrap="square" lIns="0" tIns="0" rIns="0" bIns="0" rtlCol="0" anchor="ctr"/>
          <a:lstStyle/>
          <a:p>
            <a:pPr algn="ctr" indent="0" marL="0">
              <a:buNone/>
            </a:pPr>
            <a:r>
              <a:rPr lang="en-US" sz="800" dirty="0">
                <a:solidFill>
                  <a:srgbClr val="475569"/>
                </a:solidFill>
                <a:latin typeface="Calibri" pitchFamily="34" charset="0"/>
                <a:ea typeface="Calibri" pitchFamily="34" charset="-122"/>
                <a:cs typeface="Calibri" pitchFamily="34" charset="-120"/>
              </a:rPr>
              <a:t>DIM_DATE, DIM_COUNTRY, DIM_PRODUCT created</a:t>
            </a:r>
            <a:endParaRPr lang="en-US" sz="800" dirty="0"/>
          </a:p>
        </p:txBody>
      </p:sp>
      <p:sp>
        <p:nvSpPr>
          <p:cNvPr id="25" name="Shape 23"/>
          <p:cNvSpPr/>
          <p:nvPr/>
        </p:nvSpPr>
        <p:spPr>
          <a:xfrm>
            <a:off x="6126480" y="1170432"/>
            <a:ext cx="1234440" cy="1234440"/>
          </a:xfrm>
          <a:prstGeom prst="rect">
            <a:avLst/>
          </a:prstGeom>
          <a:solidFill>
            <a:srgbClr val="0A2342"/>
          </a:solidFill>
          <a:ln w="12700">
            <a:solidFill>
              <a:srgbClr val="0A2342"/>
            </a:solidFill>
            <a:prstDash val="solid"/>
          </a:ln>
          <a:effectLst>
            <a:outerShdw sx="100000" sy="100000" kx="0" ky="0" algn="bl" rotWithShape="0" blurRad="101600" dist="25400" dir="8100000">
              <a:srgbClr val="000000">
                <a:alpha val="13000"/>
              </a:srgbClr>
            </a:outerShdw>
          </a:effectLst>
        </p:spPr>
      </p:sp>
      <p:sp>
        <p:nvSpPr>
          <p:cNvPr id="26" name="Text 24"/>
          <p:cNvSpPr/>
          <p:nvPr/>
        </p:nvSpPr>
        <p:spPr>
          <a:xfrm>
            <a:off x="6126480" y="1207008"/>
            <a:ext cx="1234440" cy="411480"/>
          </a:xfrm>
          <a:prstGeom prst="rect">
            <a:avLst/>
          </a:prstGeom>
          <a:noFill/>
          <a:ln/>
        </p:spPr>
        <p:txBody>
          <a:bodyPr wrap="square" lIns="0" tIns="0" rIns="0" bIns="0" rtlCol="0" anchor="ctr"/>
          <a:lstStyle/>
          <a:p>
            <a:pPr algn="ctr" indent="0" marL="0">
              <a:buNone/>
            </a:pPr>
            <a:r>
              <a:rPr lang="en-US" sz="2200" b="1" dirty="0">
                <a:solidFill>
                  <a:srgbClr val="C9943A"/>
                </a:solidFill>
                <a:latin typeface="Calibri" pitchFamily="34" charset="0"/>
                <a:ea typeface="Calibri" pitchFamily="34" charset="-122"/>
                <a:cs typeface="Calibri" pitchFamily="34" charset="-120"/>
              </a:rPr>
              <a:t>05</a:t>
            </a:r>
            <a:endParaRPr lang="en-US" sz="2200" dirty="0"/>
          </a:p>
        </p:txBody>
      </p:sp>
      <p:sp>
        <p:nvSpPr>
          <p:cNvPr id="27" name="Text 25"/>
          <p:cNvSpPr/>
          <p:nvPr/>
        </p:nvSpPr>
        <p:spPr>
          <a:xfrm>
            <a:off x="6126480" y="1627632"/>
            <a:ext cx="123444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Validate</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Totals</a:t>
            </a:r>
            <a:endParaRPr lang="en-US" sz="900" dirty="0"/>
          </a:p>
        </p:txBody>
      </p:sp>
      <p:sp>
        <p:nvSpPr>
          <p:cNvPr id="28" name="Shape 26"/>
          <p:cNvSpPr/>
          <p:nvPr/>
        </p:nvSpPr>
        <p:spPr>
          <a:xfrm>
            <a:off x="7360920" y="1769364"/>
            <a:ext cx="182880" cy="36576"/>
          </a:xfrm>
          <a:prstGeom prst="rect">
            <a:avLst/>
          </a:prstGeom>
          <a:solidFill>
            <a:srgbClr val="C9943A"/>
          </a:solidFill>
          <a:ln w="12700">
            <a:solidFill>
              <a:srgbClr val="C9943A"/>
            </a:solidFill>
            <a:prstDash val="solid"/>
          </a:ln>
        </p:spPr>
      </p:sp>
      <p:sp>
        <p:nvSpPr>
          <p:cNvPr id="29" name="Text 27"/>
          <p:cNvSpPr/>
          <p:nvPr/>
        </p:nvSpPr>
        <p:spPr>
          <a:xfrm>
            <a:off x="6126480" y="2487168"/>
            <a:ext cx="1234440" cy="457200"/>
          </a:xfrm>
          <a:prstGeom prst="rect">
            <a:avLst/>
          </a:prstGeom>
          <a:noFill/>
          <a:ln/>
        </p:spPr>
        <p:txBody>
          <a:bodyPr wrap="square" lIns="0" tIns="0" rIns="0" bIns="0" rtlCol="0" anchor="ctr"/>
          <a:lstStyle/>
          <a:p>
            <a:pPr algn="ctr" indent="0" marL="0">
              <a:buNone/>
            </a:pPr>
            <a:r>
              <a:rPr lang="en-US" sz="800" dirty="0">
                <a:solidFill>
                  <a:srgbClr val="475569"/>
                </a:solidFill>
                <a:latin typeface="Calibri" pitchFamily="34" charset="0"/>
                <a:ea typeface="Calibri" pitchFamily="34" charset="-122"/>
                <a:cs typeface="Calibri" pitchFamily="34" charset="-120"/>
              </a:rPr>
              <a:t>All KPIs validated against CAPMAS 2024 publications</a:t>
            </a:r>
            <a:endParaRPr lang="en-US" sz="800" dirty="0"/>
          </a:p>
        </p:txBody>
      </p:sp>
      <p:sp>
        <p:nvSpPr>
          <p:cNvPr id="30" name="Shape 28"/>
          <p:cNvSpPr/>
          <p:nvPr/>
        </p:nvSpPr>
        <p:spPr>
          <a:xfrm>
            <a:off x="7543800" y="1170432"/>
            <a:ext cx="1234440" cy="1234440"/>
          </a:xfrm>
          <a:prstGeom prst="rect">
            <a:avLst/>
          </a:prstGeom>
          <a:solidFill>
            <a:srgbClr val="0A2342"/>
          </a:solidFill>
          <a:ln w="12700">
            <a:solidFill>
              <a:srgbClr val="0A2342"/>
            </a:solidFill>
            <a:prstDash val="solid"/>
          </a:ln>
          <a:effectLst>
            <a:outerShdw sx="100000" sy="100000" kx="0" ky="0" algn="bl" rotWithShape="0" blurRad="101600" dist="25400" dir="8100000">
              <a:srgbClr val="000000">
                <a:alpha val="13000"/>
              </a:srgbClr>
            </a:outerShdw>
          </a:effectLst>
        </p:spPr>
      </p:sp>
      <p:sp>
        <p:nvSpPr>
          <p:cNvPr id="31" name="Text 29"/>
          <p:cNvSpPr/>
          <p:nvPr/>
        </p:nvSpPr>
        <p:spPr>
          <a:xfrm>
            <a:off x="7543800" y="1207008"/>
            <a:ext cx="1234440" cy="411480"/>
          </a:xfrm>
          <a:prstGeom prst="rect">
            <a:avLst/>
          </a:prstGeom>
          <a:noFill/>
          <a:ln/>
        </p:spPr>
        <p:txBody>
          <a:bodyPr wrap="square" lIns="0" tIns="0" rIns="0" bIns="0" rtlCol="0" anchor="ctr"/>
          <a:lstStyle/>
          <a:p>
            <a:pPr algn="ctr" indent="0" marL="0">
              <a:buNone/>
            </a:pPr>
            <a:r>
              <a:rPr lang="en-US" sz="2200" b="1" dirty="0">
                <a:solidFill>
                  <a:srgbClr val="C9943A"/>
                </a:solidFill>
                <a:latin typeface="Calibri" pitchFamily="34" charset="0"/>
                <a:ea typeface="Calibri" pitchFamily="34" charset="-122"/>
                <a:cs typeface="Calibri" pitchFamily="34" charset="-120"/>
              </a:rPr>
              <a:t>06</a:t>
            </a:r>
            <a:endParaRPr lang="en-US" sz="2200" dirty="0"/>
          </a:p>
        </p:txBody>
      </p:sp>
      <p:sp>
        <p:nvSpPr>
          <p:cNvPr id="32" name="Text 30"/>
          <p:cNvSpPr/>
          <p:nvPr/>
        </p:nvSpPr>
        <p:spPr>
          <a:xfrm>
            <a:off x="7543800" y="1627632"/>
            <a:ext cx="123444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Build</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Dashboard</a:t>
            </a:r>
            <a:endParaRPr lang="en-US" sz="900" dirty="0"/>
          </a:p>
        </p:txBody>
      </p:sp>
      <p:sp>
        <p:nvSpPr>
          <p:cNvPr id="33" name="Text 31"/>
          <p:cNvSpPr/>
          <p:nvPr/>
        </p:nvSpPr>
        <p:spPr>
          <a:xfrm>
            <a:off x="7543800" y="2487168"/>
            <a:ext cx="1234440" cy="457200"/>
          </a:xfrm>
          <a:prstGeom prst="rect">
            <a:avLst/>
          </a:prstGeom>
          <a:noFill/>
          <a:ln/>
        </p:spPr>
        <p:txBody>
          <a:bodyPr wrap="square" lIns="0" tIns="0" rIns="0" bIns="0" rtlCol="0" anchor="ctr"/>
          <a:lstStyle/>
          <a:p>
            <a:pPr algn="ctr" indent="0" marL="0">
              <a:buNone/>
            </a:pPr>
            <a:r>
              <a:rPr lang="en-US" sz="800" dirty="0">
                <a:solidFill>
                  <a:srgbClr val="475569"/>
                </a:solidFill>
                <a:latin typeface="Calibri" pitchFamily="34" charset="0"/>
                <a:ea typeface="Calibri" pitchFamily="34" charset="-122"/>
                <a:cs typeface="Calibri" pitchFamily="34" charset="-120"/>
              </a:rPr>
              <a:t>8 pages · 40+ DAX measures · 7 custom tooltips</a:t>
            </a:r>
            <a:endParaRPr lang="en-US" sz="800" dirty="0"/>
          </a:p>
        </p:txBody>
      </p:sp>
      <p:sp>
        <p:nvSpPr>
          <p:cNvPr id="34" name="Shape 32"/>
          <p:cNvSpPr/>
          <p:nvPr/>
        </p:nvSpPr>
        <p:spPr>
          <a:xfrm>
            <a:off x="457200" y="3063240"/>
            <a:ext cx="8229600" cy="438912"/>
          </a:xfrm>
          <a:prstGeom prst="rect">
            <a:avLst/>
          </a:prstGeom>
          <a:solidFill>
            <a:srgbClr val="FFFFFF"/>
          </a:solidFill>
          <a:ln w="12700">
            <a:solidFill>
              <a:srgbClr val="E8EEF4"/>
            </a:solidFill>
            <a:prstDash val="solid"/>
          </a:ln>
        </p:spPr>
      </p:sp>
      <p:sp>
        <p:nvSpPr>
          <p:cNvPr id="35" name="Shape 33"/>
          <p:cNvSpPr/>
          <p:nvPr/>
        </p:nvSpPr>
        <p:spPr>
          <a:xfrm>
            <a:off x="457200" y="3063240"/>
            <a:ext cx="54864" cy="438912"/>
          </a:xfrm>
          <a:prstGeom prst="rect">
            <a:avLst/>
          </a:prstGeom>
          <a:solidFill>
            <a:srgbClr val="C9943A"/>
          </a:solidFill>
          <a:ln w="12700">
            <a:solidFill>
              <a:srgbClr val="C9943A"/>
            </a:solidFill>
            <a:prstDash val="solid"/>
          </a:ln>
        </p:spPr>
      </p:sp>
      <p:sp>
        <p:nvSpPr>
          <p:cNvPr id="36" name="Text 34"/>
          <p:cNvSpPr/>
          <p:nvPr/>
        </p:nvSpPr>
        <p:spPr>
          <a:xfrm>
            <a:off x="594360" y="3099816"/>
            <a:ext cx="2103120" cy="182880"/>
          </a:xfrm>
          <a:prstGeom prst="rect">
            <a:avLst/>
          </a:prstGeom>
          <a:noFill/>
          <a:ln/>
        </p:spPr>
        <p:txBody>
          <a:bodyPr wrap="square" lIns="0" tIns="0" rIns="0" bIns="0" rtlCol="0" anchor="ctr"/>
          <a:lstStyle/>
          <a:p>
            <a:pPr indent="0" marL="0">
              <a:buNone/>
            </a:pPr>
            <a:r>
              <a:rPr lang="en-US" sz="900" b="1" dirty="0">
                <a:solidFill>
                  <a:srgbClr val="0A2342"/>
                </a:solidFill>
                <a:latin typeface="Calibri" pitchFamily="34" charset="0"/>
                <a:ea typeface="Calibri" pitchFamily="34" charset="-122"/>
                <a:cs typeface="Calibri" pitchFamily="34" charset="-120"/>
              </a:rPr>
              <a:t>Power Query Transformations</a:t>
            </a:r>
            <a:endParaRPr lang="en-US" sz="900" dirty="0"/>
          </a:p>
        </p:txBody>
      </p:sp>
      <p:sp>
        <p:nvSpPr>
          <p:cNvPr id="37" name="Text 35"/>
          <p:cNvSpPr/>
          <p:nvPr/>
        </p:nvSpPr>
        <p:spPr>
          <a:xfrm>
            <a:off x="2743200" y="3099816"/>
            <a:ext cx="5852160" cy="34747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Table.PromoteHeaders() · Table.SelectRows() to remove nulls · Text.Proper() for standardization · if-then logic for is_petroleum flag · DATEDIFF for time calculations</a:t>
            </a:r>
            <a:endParaRPr lang="en-US" sz="850" dirty="0"/>
          </a:p>
        </p:txBody>
      </p:sp>
      <p:sp>
        <p:nvSpPr>
          <p:cNvPr id="38" name="Shape 36"/>
          <p:cNvSpPr/>
          <p:nvPr/>
        </p:nvSpPr>
        <p:spPr>
          <a:xfrm>
            <a:off x="457200" y="3538728"/>
            <a:ext cx="8229600" cy="438912"/>
          </a:xfrm>
          <a:prstGeom prst="rect">
            <a:avLst/>
          </a:prstGeom>
          <a:solidFill>
            <a:srgbClr val="FFFFFF"/>
          </a:solidFill>
          <a:ln w="12700">
            <a:solidFill>
              <a:srgbClr val="E8EEF4"/>
            </a:solidFill>
            <a:prstDash val="solid"/>
          </a:ln>
        </p:spPr>
      </p:sp>
      <p:sp>
        <p:nvSpPr>
          <p:cNvPr id="39" name="Shape 37"/>
          <p:cNvSpPr/>
          <p:nvPr/>
        </p:nvSpPr>
        <p:spPr>
          <a:xfrm>
            <a:off x="457200" y="3538728"/>
            <a:ext cx="54864" cy="438912"/>
          </a:xfrm>
          <a:prstGeom prst="rect">
            <a:avLst/>
          </a:prstGeom>
          <a:solidFill>
            <a:srgbClr val="C9943A"/>
          </a:solidFill>
          <a:ln w="12700">
            <a:solidFill>
              <a:srgbClr val="C9943A"/>
            </a:solidFill>
            <a:prstDash val="solid"/>
          </a:ln>
        </p:spPr>
      </p:sp>
      <p:sp>
        <p:nvSpPr>
          <p:cNvPr id="40" name="Text 38"/>
          <p:cNvSpPr/>
          <p:nvPr/>
        </p:nvSpPr>
        <p:spPr>
          <a:xfrm>
            <a:off x="594360" y="3575304"/>
            <a:ext cx="2103120" cy="182880"/>
          </a:xfrm>
          <a:prstGeom prst="rect">
            <a:avLst/>
          </a:prstGeom>
          <a:noFill/>
          <a:ln/>
        </p:spPr>
        <p:txBody>
          <a:bodyPr wrap="square" lIns="0" tIns="0" rIns="0" bIns="0" rtlCol="0" anchor="ctr"/>
          <a:lstStyle/>
          <a:p>
            <a:pPr indent="0" marL="0">
              <a:buNone/>
            </a:pPr>
            <a:r>
              <a:rPr lang="en-US" sz="900" b="1" dirty="0">
                <a:solidFill>
                  <a:srgbClr val="0A2342"/>
                </a:solidFill>
                <a:latin typeface="Calibri" pitchFamily="34" charset="0"/>
                <a:ea typeface="Calibri" pitchFamily="34" charset="-122"/>
                <a:cs typeface="Calibri" pitchFamily="34" charset="-120"/>
              </a:rPr>
              <a:t>Date Dimension</a:t>
            </a:r>
            <a:endParaRPr lang="en-US" sz="900" dirty="0"/>
          </a:p>
        </p:txBody>
      </p:sp>
      <p:sp>
        <p:nvSpPr>
          <p:cNvPr id="41" name="Text 39"/>
          <p:cNvSpPr/>
          <p:nvPr/>
        </p:nvSpPr>
        <p:spPr>
          <a:xfrm>
            <a:off x="2743200" y="3575304"/>
            <a:ext cx="5852160" cy="34747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5,479 rows covering every day 2010–2024 · Includes year, quarter, month, fiscal year · Crisis year flags (2016 EGP devaluation, 2020 COVID, 2022 commodity spike) · Vision 2030 phase labels</a:t>
            </a:r>
            <a:endParaRPr lang="en-US" sz="850" dirty="0"/>
          </a:p>
        </p:txBody>
      </p:sp>
      <p:sp>
        <p:nvSpPr>
          <p:cNvPr id="42" name="Shape 40"/>
          <p:cNvSpPr/>
          <p:nvPr/>
        </p:nvSpPr>
        <p:spPr>
          <a:xfrm>
            <a:off x="457200" y="4014216"/>
            <a:ext cx="8229600" cy="438912"/>
          </a:xfrm>
          <a:prstGeom prst="rect">
            <a:avLst/>
          </a:prstGeom>
          <a:solidFill>
            <a:srgbClr val="FFFFFF"/>
          </a:solidFill>
          <a:ln w="12700">
            <a:solidFill>
              <a:srgbClr val="E8EEF4"/>
            </a:solidFill>
            <a:prstDash val="solid"/>
          </a:ln>
        </p:spPr>
      </p:sp>
      <p:sp>
        <p:nvSpPr>
          <p:cNvPr id="43" name="Shape 41"/>
          <p:cNvSpPr/>
          <p:nvPr/>
        </p:nvSpPr>
        <p:spPr>
          <a:xfrm>
            <a:off x="457200" y="4014216"/>
            <a:ext cx="54864" cy="438912"/>
          </a:xfrm>
          <a:prstGeom prst="rect">
            <a:avLst/>
          </a:prstGeom>
          <a:solidFill>
            <a:srgbClr val="C9943A"/>
          </a:solidFill>
          <a:ln w="12700">
            <a:solidFill>
              <a:srgbClr val="C9943A"/>
            </a:solidFill>
            <a:prstDash val="solid"/>
          </a:ln>
        </p:spPr>
      </p:sp>
      <p:sp>
        <p:nvSpPr>
          <p:cNvPr id="44" name="Text 42"/>
          <p:cNvSpPr/>
          <p:nvPr/>
        </p:nvSpPr>
        <p:spPr>
          <a:xfrm>
            <a:off x="594360" y="4050792"/>
            <a:ext cx="2103120" cy="182880"/>
          </a:xfrm>
          <a:prstGeom prst="rect">
            <a:avLst/>
          </a:prstGeom>
          <a:noFill/>
          <a:ln/>
        </p:spPr>
        <p:txBody>
          <a:bodyPr wrap="square" lIns="0" tIns="0" rIns="0" bIns="0" rtlCol="0" anchor="ctr"/>
          <a:lstStyle/>
          <a:p>
            <a:pPr indent="0" marL="0">
              <a:buNone/>
            </a:pPr>
            <a:r>
              <a:rPr lang="en-US" sz="900" b="1" dirty="0">
                <a:solidFill>
                  <a:srgbClr val="0A2342"/>
                </a:solidFill>
                <a:latin typeface="Calibri" pitchFamily="34" charset="0"/>
                <a:ea typeface="Calibri" pitchFamily="34" charset="-122"/>
                <a:cs typeface="Calibri" pitchFamily="34" charset="-120"/>
              </a:rPr>
              <a:t>Country Standardization</a:t>
            </a:r>
            <a:endParaRPr lang="en-US" sz="900" dirty="0"/>
          </a:p>
        </p:txBody>
      </p:sp>
      <p:sp>
        <p:nvSpPr>
          <p:cNvPr id="45" name="Text 43"/>
          <p:cNvSpPr/>
          <p:nvPr/>
        </p:nvSpPr>
        <p:spPr>
          <a:xfrm>
            <a:off x="2743200" y="4050792"/>
            <a:ext cx="5852160" cy="34747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50+ country name variants resolved to canonical form · Enriched with continent, region, GDP tier, and trade bloc membership (GAFTA, EU, COMESA)</a:t>
            </a:r>
            <a:endParaRPr lang="en-US" sz="850" dirty="0"/>
          </a:p>
        </p:txBody>
      </p:sp>
      <p:sp>
        <p:nvSpPr>
          <p:cNvPr id="46" name="Shape 44"/>
          <p:cNvSpPr/>
          <p:nvPr/>
        </p:nvSpPr>
        <p:spPr>
          <a:xfrm>
            <a:off x="457200" y="4489704"/>
            <a:ext cx="8229600" cy="438912"/>
          </a:xfrm>
          <a:prstGeom prst="rect">
            <a:avLst/>
          </a:prstGeom>
          <a:solidFill>
            <a:srgbClr val="FFFFFF"/>
          </a:solidFill>
          <a:ln w="12700">
            <a:solidFill>
              <a:srgbClr val="E8EEF4"/>
            </a:solidFill>
            <a:prstDash val="solid"/>
          </a:ln>
        </p:spPr>
      </p:sp>
      <p:sp>
        <p:nvSpPr>
          <p:cNvPr id="47" name="Shape 45"/>
          <p:cNvSpPr/>
          <p:nvPr/>
        </p:nvSpPr>
        <p:spPr>
          <a:xfrm>
            <a:off x="457200" y="4489704"/>
            <a:ext cx="54864" cy="438912"/>
          </a:xfrm>
          <a:prstGeom prst="rect">
            <a:avLst/>
          </a:prstGeom>
          <a:solidFill>
            <a:srgbClr val="C9943A"/>
          </a:solidFill>
          <a:ln w="12700">
            <a:solidFill>
              <a:srgbClr val="C9943A"/>
            </a:solidFill>
            <a:prstDash val="solid"/>
          </a:ln>
        </p:spPr>
      </p:sp>
      <p:sp>
        <p:nvSpPr>
          <p:cNvPr id="48" name="Text 46"/>
          <p:cNvSpPr/>
          <p:nvPr/>
        </p:nvSpPr>
        <p:spPr>
          <a:xfrm>
            <a:off x="594360" y="4526280"/>
            <a:ext cx="2103120" cy="182880"/>
          </a:xfrm>
          <a:prstGeom prst="rect">
            <a:avLst/>
          </a:prstGeom>
          <a:noFill/>
          <a:ln/>
        </p:spPr>
        <p:txBody>
          <a:bodyPr wrap="square" lIns="0" tIns="0" rIns="0" bIns="0" rtlCol="0" anchor="ctr"/>
          <a:lstStyle/>
          <a:p>
            <a:pPr indent="0" marL="0">
              <a:buNone/>
            </a:pPr>
            <a:r>
              <a:rPr lang="en-US" sz="900" b="1" dirty="0">
                <a:solidFill>
                  <a:srgbClr val="0A2342"/>
                </a:solidFill>
                <a:latin typeface="Calibri" pitchFamily="34" charset="0"/>
                <a:ea typeface="Calibri" pitchFamily="34" charset="-122"/>
                <a:cs typeface="Calibri" pitchFamily="34" charset="-120"/>
              </a:rPr>
              <a:t>Price Intelligence Table</a:t>
            </a:r>
            <a:endParaRPr lang="en-US" sz="900" dirty="0"/>
          </a:p>
        </p:txBody>
      </p:sp>
      <p:sp>
        <p:nvSpPr>
          <p:cNvPr id="49" name="Text 47"/>
          <p:cNvSpPr/>
          <p:nvPr/>
        </p:nvSpPr>
        <p:spPr>
          <a:xfrm>
            <a:off x="2743200" y="4526280"/>
            <a:ext cx="5852160" cy="347472"/>
          </a:xfrm>
          <a:prstGeom prst="rect">
            <a:avLst/>
          </a:prstGeom>
          <a:noFill/>
          <a:ln/>
        </p:spPr>
        <p:txBody>
          <a:bodyPr wrap="square" lIns="0" tIns="0" rIns="0" bIns="0" rtlCol="0" anchor="ctr"/>
          <a:lstStyle/>
          <a:p>
            <a:pPr indent="0" marL="0">
              <a:buNone/>
            </a:pPr>
            <a:r>
              <a:rPr lang="en-US" sz="850" dirty="0">
                <a:solidFill>
                  <a:srgbClr val="475569"/>
                </a:solidFill>
                <a:latin typeface="Calibri" pitchFamily="34" charset="0"/>
                <a:ea typeface="Calibri" pitchFamily="34" charset="-122"/>
                <a:cs typeface="Calibri" pitchFamily="34" charset="-120"/>
              </a:rPr>
              <a:t>225 rows across top 50 export products · Egypt price vs. competitor price vs. final importer-paid price · Revenue loss = (Competitor − Egypt) × Volume</a:t>
            </a:r>
            <a:endParaRPr lang="en-US" sz="850" dirty="0"/>
          </a:p>
        </p:txBody>
      </p:sp>
      <p:sp>
        <p:nvSpPr>
          <p:cNvPr id="50" name="Shape 48"/>
          <p:cNvSpPr/>
          <p:nvPr/>
        </p:nvSpPr>
        <p:spPr>
          <a:xfrm>
            <a:off x="0" y="4873752"/>
            <a:ext cx="9144000" cy="269748"/>
          </a:xfrm>
          <a:prstGeom prst="rect">
            <a:avLst/>
          </a:prstGeom>
          <a:solidFill>
            <a:srgbClr val="0A2342"/>
          </a:solidFill>
          <a:ln w="12700">
            <a:solidFill>
              <a:srgbClr val="0A2342"/>
            </a:solidFill>
            <a:prstDash val="solid"/>
          </a:ln>
        </p:spPr>
      </p:sp>
      <p:sp>
        <p:nvSpPr>
          <p:cNvPr id="51" name="Text 49"/>
          <p:cNvSpPr/>
          <p:nvPr/>
        </p:nvSpPr>
        <p:spPr>
          <a:xfrm>
            <a:off x="274320" y="4882896"/>
            <a:ext cx="8595360" cy="246888"/>
          </a:xfrm>
          <a:prstGeom prst="rect">
            <a:avLst/>
          </a:prstGeom>
          <a:noFill/>
          <a:ln/>
        </p:spPr>
        <p:txBody>
          <a:bodyPr wrap="square" lIns="0" tIns="0" rIns="0" bIns="0" rtlCol="0" anchor="ctr"/>
          <a:lstStyle/>
          <a:p>
            <a:pPr indent="0" marL="0">
              <a:buNone/>
            </a:pPr>
            <a:r>
              <a:rPr lang="en-US" sz="800" dirty="0">
                <a:solidFill>
                  <a:srgbClr val="C9943A"/>
                </a:solidFill>
                <a:latin typeface="Calibri" pitchFamily="34" charset="0"/>
                <a:ea typeface="Calibri" pitchFamily="34" charset="-122"/>
                <a:cs typeface="Calibri" pitchFamily="34" charset="-120"/>
              </a:rPr>
              <a:t>Egyptian Export Observatory  |  DEPI Data Analysis Track  |  CLS-EGX-TRADEG1-T1  |  2025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502920"/>
          </a:xfrm>
          <a:prstGeom prst="rect">
            <a:avLst/>
          </a:prstGeom>
          <a:noFill/>
          <a:ln/>
        </p:spPr>
        <p:txBody>
          <a:bodyPr wrap="square" lIns="0" tIns="0" rIns="0" bIns="0" rtlCol="0" anchor="ctr"/>
          <a:lstStyle/>
          <a:p>
            <a:pPr indent="0" marL="0">
              <a:buNone/>
            </a:pPr>
            <a:r>
              <a:rPr lang="en-US" sz="2600" b="1" dirty="0">
                <a:solidFill>
                  <a:srgbClr val="0A2342"/>
                </a:solidFill>
                <a:latin typeface="Calibri" pitchFamily="34" charset="0"/>
                <a:ea typeface="Calibri" pitchFamily="34" charset="-122"/>
                <a:cs typeface="Calibri" pitchFamily="34" charset="-120"/>
              </a:rPr>
              <a:t>Data Model &amp; Architecture</a:t>
            </a:r>
            <a:endParaRPr lang="en-US" sz="2600" dirty="0"/>
          </a:p>
        </p:txBody>
      </p:sp>
      <p:sp>
        <p:nvSpPr>
          <p:cNvPr id="3" name="Text 1"/>
          <p:cNvSpPr/>
          <p:nvPr/>
        </p:nvSpPr>
        <p:spPr>
          <a:xfrm>
            <a:off x="457200" y="694944"/>
            <a:ext cx="8229600" cy="2743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Chapter 2 — Fact Constellation Schema · 17 Tables · 9 Relationships</a:t>
            </a:r>
            <a:endParaRPr lang="en-US" sz="1200" dirty="0"/>
          </a:p>
        </p:txBody>
      </p:sp>
      <p:sp>
        <p:nvSpPr>
          <p:cNvPr id="4" name="Shape 2"/>
          <p:cNvSpPr/>
          <p:nvPr/>
        </p:nvSpPr>
        <p:spPr>
          <a:xfrm>
            <a:off x="457200" y="1024128"/>
            <a:ext cx="8229600" cy="27432"/>
          </a:xfrm>
          <a:prstGeom prst="rect">
            <a:avLst/>
          </a:prstGeom>
          <a:solidFill>
            <a:srgbClr val="C9943A"/>
          </a:solidFill>
          <a:ln w="12700">
            <a:solidFill>
              <a:srgbClr val="C9943A"/>
            </a:solidFill>
            <a:prstDash val="solid"/>
          </a:ln>
        </p:spPr>
      </p:sp>
      <p:sp>
        <p:nvSpPr>
          <p:cNvPr id="5" name="Text 3"/>
          <p:cNvSpPr/>
          <p:nvPr/>
        </p:nvSpPr>
        <p:spPr>
          <a:xfrm>
            <a:off x="457200" y="1170432"/>
            <a:ext cx="8229600" cy="50292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A Fact Constellation Schema was selected — the optimal design when multiple distinct business processes (trade flows, price gaps, Vision KPIs, peer benchmarks) each require their own granularity while sharing common dimension tables. Fact tables contain numeric measurements; Dimension tables provide context and filter capabilities.</a:t>
            </a:r>
            <a:endParaRPr lang="en-US" sz="950" dirty="0"/>
          </a:p>
        </p:txBody>
      </p:sp>
      <p:sp>
        <p:nvSpPr>
          <p:cNvPr id="6" name="Shape 4"/>
          <p:cNvSpPr/>
          <p:nvPr/>
        </p:nvSpPr>
        <p:spPr>
          <a:xfrm>
            <a:off x="365760" y="1737360"/>
            <a:ext cx="4114800" cy="292608"/>
          </a:xfrm>
          <a:prstGeom prst="rect">
            <a:avLst/>
          </a:prstGeom>
          <a:solidFill>
            <a:srgbClr val="0A2342"/>
          </a:solidFill>
          <a:ln w="12700">
            <a:solidFill>
              <a:srgbClr val="0A2342"/>
            </a:solidFill>
            <a:prstDash val="solid"/>
          </a:ln>
        </p:spPr>
      </p:sp>
      <p:sp>
        <p:nvSpPr>
          <p:cNvPr id="7" name="Text 5"/>
          <p:cNvSpPr/>
          <p:nvPr/>
        </p:nvSpPr>
        <p:spPr>
          <a:xfrm>
            <a:off x="365760" y="1737360"/>
            <a:ext cx="4114800" cy="292608"/>
          </a:xfrm>
          <a:prstGeom prst="rect">
            <a:avLst/>
          </a:prstGeom>
          <a:noFill/>
          <a:ln/>
        </p:spPr>
        <p:txBody>
          <a:bodyPr wrap="square" lIns="0" tIns="0" rIns="0" bIns="0" rtlCol="0" anchor="ctr"/>
          <a:lstStyle/>
          <a:p>
            <a:pPr algn="ctr" indent="0" marL="0">
              <a:buNone/>
            </a:pPr>
            <a:r>
              <a:rPr lang="en-US" sz="900" b="1" spc="200" kern="0" dirty="0">
                <a:solidFill>
                  <a:srgbClr val="C9943A"/>
                </a:solidFill>
                <a:latin typeface="Calibri" pitchFamily="34" charset="0"/>
                <a:ea typeface="Calibri" pitchFamily="34" charset="-122"/>
                <a:cs typeface="Calibri" pitchFamily="34" charset="-120"/>
              </a:rPr>
              <a:t>FACT TABLES (7)</a:t>
            </a:r>
            <a:endParaRPr lang="en-US" sz="900" dirty="0"/>
          </a:p>
        </p:txBody>
      </p:sp>
      <p:sp>
        <p:nvSpPr>
          <p:cNvPr id="8" name="Shape 6"/>
          <p:cNvSpPr/>
          <p:nvPr/>
        </p:nvSpPr>
        <p:spPr>
          <a:xfrm>
            <a:off x="365760" y="2066544"/>
            <a:ext cx="4114800" cy="365760"/>
          </a:xfrm>
          <a:prstGeom prst="rect">
            <a:avLst/>
          </a:prstGeom>
          <a:solidFill>
            <a:srgbClr val="F4F6F8"/>
          </a:solidFill>
          <a:ln w="12700">
            <a:solidFill>
              <a:srgbClr val="E8EEF4"/>
            </a:solidFill>
            <a:prstDash val="solid"/>
          </a:ln>
        </p:spPr>
      </p:sp>
      <p:sp>
        <p:nvSpPr>
          <p:cNvPr id="9" name="Text 7"/>
          <p:cNvSpPr/>
          <p:nvPr/>
        </p:nvSpPr>
        <p:spPr>
          <a:xfrm>
            <a:off x="502920" y="2093976"/>
            <a:ext cx="1828800" cy="182880"/>
          </a:xfrm>
          <a:prstGeom prst="rect">
            <a:avLst/>
          </a:prstGeom>
          <a:noFill/>
          <a:ln/>
        </p:spPr>
        <p:txBody>
          <a:bodyPr wrap="square" lIns="0" tIns="0" rIns="0" bIns="0" rtlCol="0" anchor="ctr"/>
          <a:lstStyle/>
          <a:p>
            <a:pPr indent="0" marL="0">
              <a:buNone/>
            </a:pPr>
            <a:r>
              <a:rPr lang="en-US" sz="850" b="1" dirty="0">
                <a:solidFill>
                  <a:srgbClr val="0A2342"/>
                </a:solidFill>
                <a:latin typeface="Calibri" pitchFamily="34" charset="0"/>
                <a:ea typeface="Calibri" pitchFamily="34" charset="-122"/>
                <a:cs typeface="Calibri" pitchFamily="34" charset="-120"/>
              </a:rPr>
              <a:t>FACT_TRADE_FLOW</a:t>
            </a:r>
            <a:endParaRPr lang="en-US" sz="850" dirty="0"/>
          </a:p>
        </p:txBody>
      </p:sp>
      <p:sp>
        <p:nvSpPr>
          <p:cNvPr id="10" name="Text 8"/>
          <p:cNvSpPr/>
          <p:nvPr/>
        </p:nvSpPr>
        <p:spPr>
          <a:xfrm>
            <a:off x="502920" y="2286000"/>
            <a:ext cx="3840480" cy="146304"/>
          </a:xfrm>
          <a:prstGeom prst="rect">
            <a:avLst/>
          </a:prstGeom>
          <a:noFill/>
          <a:ln/>
        </p:spPr>
        <p:txBody>
          <a:bodyPr wrap="square" lIns="0" tIns="0" rIns="0" bIns="0" rtlCol="0" anchor="ctr"/>
          <a:lstStyle/>
          <a:p>
            <a:pPr indent="0" marL="0">
              <a:buNone/>
            </a:pPr>
            <a:r>
              <a:rPr lang="en-US" sz="750" dirty="0">
                <a:solidFill>
                  <a:srgbClr val="475569"/>
                </a:solidFill>
                <a:latin typeface="Calibri" pitchFamily="34" charset="0"/>
                <a:ea typeface="Calibri" pitchFamily="34" charset="-122"/>
                <a:cs typeface="Calibri" pitchFamily="34" charset="-120"/>
              </a:rPr>
              <a:t>3,870 rows — Core export/import records 2010–2024</a:t>
            </a:r>
            <a:endParaRPr lang="en-US" sz="750" dirty="0"/>
          </a:p>
        </p:txBody>
      </p:sp>
      <p:sp>
        <p:nvSpPr>
          <p:cNvPr id="11" name="Shape 9"/>
          <p:cNvSpPr/>
          <p:nvPr/>
        </p:nvSpPr>
        <p:spPr>
          <a:xfrm>
            <a:off x="365760" y="2459736"/>
            <a:ext cx="4114800" cy="365760"/>
          </a:xfrm>
          <a:prstGeom prst="rect">
            <a:avLst/>
          </a:prstGeom>
          <a:solidFill>
            <a:srgbClr val="FFFFFF"/>
          </a:solidFill>
          <a:ln w="12700">
            <a:solidFill>
              <a:srgbClr val="E8EEF4"/>
            </a:solidFill>
            <a:prstDash val="solid"/>
          </a:ln>
        </p:spPr>
      </p:sp>
      <p:sp>
        <p:nvSpPr>
          <p:cNvPr id="12" name="Text 10"/>
          <p:cNvSpPr/>
          <p:nvPr/>
        </p:nvSpPr>
        <p:spPr>
          <a:xfrm>
            <a:off x="502920" y="2487168"/>
            <a:ext cx="1828800" cy="182880"/>
          </a:xfrm>
          <a:prstGeom prst="rect">
            <a:avLst/>
          </a:prstGeom>
          <a:noFill/>
          <a:ln/>
        </p:spPr>
        <p:txBody>
          <a:bodyPr wrap="square" lIns="0" tIns="0" rIns="0" bIns="0" rtlCol="0" anchor="ctr"/>
          <a:lstStyle/>
          <a:p>
            <a:pPr indent="0" marL="0">
              <a:buNone/>
            </a:pPr>
            <a:r>
              <a:rPr lang="en-US" sz="850" b="1" dirty="0">
                <a:solidFill>
                  <a:srgbClr val="0A2342"/>
                </a:solidFill>
                <a:latin typeface="Calibri" pitchFamily="34" charset="0"/>
                <a:ea typeface="Calibri" pitchFamily="34" charset="-122"/>
                <a:cs typeface="Calibri" pitchFamily="34" charset="-120"/>
              </a:rPr>
              <a:t>FACT_BILATERAL_FLOWS</a:t>
            </a:r>
            <a:endParaRPr lang="en-US" sz="850" dirty="0"/>
          </a:p>
        </p:txBody>
      </p:sp>
      <p:sp>
        <p:nvSpPr>
          <p:cNvPr id="13" name="Text 11"/>
          <p:cNvSpPr/>
          <p:nvPr/>
        </p:nvSpPr>
        <p:spPr>
          <a:xfrm>
            <a:off x="502920" y="2679192"/>
            <a:ext cx="3840480" cy="146304"/>
          </a:xfrm>
          <a:prstGeom prst="rect">
            <a:avLst/>
          </a:prstGeom>
          <a:noFill/>
          <a:ln/>
        </p:spPr>
        <p:txBody>
          <a:bodyPr wrap="square" lIns="0" tIns="0" rIns="0" bIns="0" rtlCol="0" anchor="ctr"/>
          <a:lstStyle/>
          <a:p>
            <a:pPr indent="0" marL="0">
              <a:buNone/>
            </a:pPr>
            <a:r>
              <a:rPr lang="en-US" sz="750" dirty="0">
                <a:solidFill>
                  <a:srgbClr val="475569"/>
                </a:solidFill>
                <a:latin typeface="Calibri" pitchFamily="34" charset="0"/>
                <a:ea typeface="Calibri" pitchFamily="34" charset="-122"/>
                <a:cs typeface="Calibri" pitchFamily="34" charset="-120"/>
              </a:rPr>
              <a:t>1,202 rows — Partner country trade flows</a:t>
            </a:r>
            <a:endParaRPr lang="en-US" sz="750" dirty="0"/>
          </a:p>
        </p:txBody>
      </p:sp>
      <p:sp>
        <p:nvSpPr>
          <p:cNvPr id="14" name="Shape 12"/>
          <p:cNvSpPr/>
          <p:nvPr/>
        </p:nvSpPr>
        <p:spPr>
          <a:xfrm>
            <a:off x="365760" y="2852928"/>
            <a:ext cx="4114800" cy="365760"/>
          </a:xfrm>
          <a:prstGeom prst="rect">
            <a:avLst/>
          </a:prstGeom>
          <a:solidFill>
            <a:srgbClr val="F4F6F8"/>
          </a:solidFill>
          <a:ln w="12700">
            <a:solidFill>
              <a:srgbClr val="E8EEF4"/>
            </a:solidFill>
            <a:prstDash val="solid"/>
          </a:ln>
        </p:spPr>
      </p:sp>
      <p:sp>
        <p:nvSpPr>
          <p:cNvPr id="15" name="Text 13"/>
          <p:cNvSpPr/>
          <p:nvPr/>
        </p:nvSpPr>
        <p:spPr>
          <a:xfrm>
            <a:off x="502920" y="2880360"/>
            <a:ext cx="1828800" cy="182880"/>
          </a:xfrm>
          <a:prstGeom prst="rect">
            <a:avLst/>
          </a:prstGeom>
          <a:noFill/>
          <a:ln/>
        </p:spPr>
        <p:txBody>
          <a:bodyPr wrap="square" lIns="0" tIns="0" rIns="0" bIns="0" rtlCol="0" anchor="ctr"/>
          <a:lstStyle/>
          <a:p>
            <a:pPr indent="0" marL="0">
              <a:buNone/>
            </a:pPr>
            <a:r>
              <a:rPr lang="en-US" sz="850" b="1" dirty="0">
                <a:solidFill>
                  <a:srgbClr val="0A2342"/>
                </a:solidFill>
                <a:latin typeface="Calibri" pitchFamily="34" charset="0"/>
                <a:ea typeface="Calibri" pitchFamily="34" charset="-122"/>
                <a:cs typeface="Calibri" pitchFamily="34" charset="-120"/>
              </a:rPr>
              <a:t>FACT_KPI_PROGRESS</a:t>
            </a:r>
            <a:endParaRPr lang="en-US" sz="850" dirty="0"/>
          </a:p>
        </p:txBody>
      </p:sp>
      <p:sp>
        <p:nvSpPr>
          <p:cNvPr id="16" name="Text 14"/>
          <p:cNvSpPr/>
          <p:nvPr/>
        </p:nvSpPr>
        <p:spPr>
          <a:xfrm>
            <a:off x="502920" y="3072384"/>
            <a:ext cx="3840480" cy="146304"/>
          </a:xfrm>
          <a:prstGeom prst="rect">
            <a:avLst/>
          </a:prstGeom>
          <a:noFill/>
          <a:ln/>
        </p:spPr>
        <p:txBody>
          <a:bodyPr wrap="square" lIns="0" tIns="0" rIns="0" bIns="0" rtlCol="0" anchor="ctr"/>
          <a:lstStyle/>
          <a:p>
            <a:pPr indent="0" marL="0">
              <a:buNone/>
            </a:pPr>
            <a:r>
              <a:rPr lang="en-US" sz="750" dirty="0">
                <a:solidFill>
                  <a:srgbClr val="475569"/>
                </a:solidFill>
                <a:latin typeface="Calibri" pitchFamily="34" charset="0"/>
                <a:ea typeface="Calibri" pitchFamily="34" charset="-122"/>
                <a:cs typeface="Calibri" pitchFamily="34" charset="-120"/>
              </a:rPr>
              <a:t>140 rows — Vision 2030 KPI achievement vs. target</a:t>
            </a:r>
            <a:endParaRPr lang="en-US" sz="750" dirty="0"/>
          </a:p>
        </p:txBody>
      </p:sp>
      <p:sp>
        <p:nvSpPr>
          <p:cNvPr id="17" name="Shape 15"/>
          <p:cNvSpPr/>
          <p:nvPr/>
        </p:nvSpPr>
        <p:spPr>
          <a:xfrm>
            <a:off x="365760" y="3246120"/>
            <a:ext cx="4114800" cy="365760"/>
          </a:xfrm>
          <a:prstGeom prst="rect">
            <a:avLst/>
          </a:prstGeom>
          <a:solidFill>
            <a:srgbClr val="FFFFFF"/>
          </a:solidFill>
          <a:ln w="12700">
            <a:solidFill>
              <a:srgbClr val="E8EEF4"/>
            </a:solidFill>
            <a:prstDash val="solid"/>
          </a:ln>
        </p:spPr>
      </p:sp>
      <p:sp>
        <p:nvSpPr>
          <p:cNvPr id="18" name="Text 16"/>
          <p:cNvSpPr/>
          <p:nvPr/>
        </p:nvSpPr>
        <p:spPr>
          <a:xfrm>
            <a:off x="502920" y="3273552"/>
            <a:ext cx="1828800" cy="182880"/>
          </a:xfrm>
          <a:prstGeom prst="rect">
            <a:avLst/>
          </a:prstGeom>
          <a:noFill/>
          <a:ln/>
        </p:spPr>
        <p:txBody>
          <a:bodyPr wrap="square" lIns="0" tIns="0" rIns="0" bIns="0" rtlCol="0" anchor="ctr"/>
          <a:lstStyle/>
          <a:p>
            <a:pPr indent="0" marL="0">
              <a:buNone/>
            </a:pPr>
            <a:r>
              <a:rPr lang="en-US" sz="850" b="1" dirty="0">
                <a:solidFill>
                  <a:srgbClr val="0A2342"/>
                </a:solidFill>
                <a:latin typeface="Calibri" pitchFamily="34" charset="0"/>
                <a:ea typeface="Calibri" pitchFamily="34" charset="-122"/>
                <a:cs typeface="Calibri" pitchFamily="34" charset="-120"/>
              </a:rPr>
              <a:t>FACT_EXPORT_UNIT_PRICE</a:t>
            </a:r>
            <a:endParaRPr lang="en-US" sz="850" dirty="0"/>
          </a:p>
        </p:txBody>
      </p:sp>
      <p:sp>
        <p:nvSpPr>
          <p:cNvPr id="19" name="Text 17"/>
          <p:cNvSpPr/>
          <p:nvPr/>
        </p:nvSpPr>
        <p:spPr>
          <a:xfrm>
            <a:off x="502920" y="3465576"/>
            <a:ext cx="3840480" cy="146304"/>
          </a:xfrm>
          <a:prstGeom prst="rect">
            <a:avLst/>
          </a:prstGeom>
          <a:noFill/>
          <a:ln/>
        </p:spPr>
        <p:txBody>
          <a:bodyPr wrap="square" lIns="0" tIns="0" rIns="0" bIns="0" rtlCol="0" anchor="ctr"/>
          <a:lstStyle/>
          <a:p>
            <a:pPr indent="0" marL="0">
              <a:buNone/>
            </a:pPr>
            <a:r>
              <a:rPr lang="en-US" sz="750" dirty="0">
                <a:solidFill>
                  <a:srgbClr val="475569"/>
                </a:solidFill>
                <a:latin typeface="Calibri" pitchFamily="34" charset="0"/>
                <a:ea typeface="Calibri" pitchFamily="34" charset="-122"/>
                <a:cs typeface="Calibri" pitchFamily="34" charset="-120"/>
              </a:rPr>
              <a:t>225 rows — Price Intelligence engine (P5)</a:t>
            </a:r>
            <a:endParaRPr lang="en-US" sz="750" dirty="0"/>
          </a:p>
        </p:txBody>
      </p:sp>
      <p:sp>
        <p:nvSpPr>
          <p:cNvPr id="20" name="Shape 18"/>
          <p:cNvSpPr/>
          <p:nvPr/>
        </p:nvSpPr>
        <p:spPr>
          <a:xfrm>
            <a:off x="365760" y="3639312"/>
            <a:ext cx="4114800" cy="365760"/>
          </a:xfrm>
          <a:prstGeom prst="rect">
            <a:avLst/>
          </a:prstGeom>
          <a:solidFill>
            <a:srgbClr val="F4F6F8"/>
          </a:solidFill>
          <a:ln w="12700">
            <a:solidFill>
              <a:srgbClr val="E8EEF4"/>
            </a:solidFill>
            <a:prstDash val="solid"/>
          </a:ln>
        </p:spPr>
      </p:sp>
      <p:sp>
        <p:nvSpPr>
          <p:cNvPr id="21" name="Text 19"/>
          <p:cNvSpPr/>
          <p:nvPr/>
        </p:nvSpPr>
        <p:spPr>
          <a:xfrm>
            <a:off x="502920" y="3666744"/>
            <a:ext cx="1828800" cy="182880"/>
          </a:xfrm>
          <a:prstGeom prst="rect">
            <a:avLst/>
          </a:prstGeom>
          <a:noFill/>
          <a:ln/>
        </p:spPr>
        <p:txBody>
          <a:bodyPr wrap="square" lIns="0" tIns="0" rIns="0" bIns="0" rtlCol="0" anchor="ctr"/>
          <a:lstStyle/>
          <a:p>
            <a:pPr indent="0" marL="0">
              <a:buNone/>
            </a:pPr>
            <a:r>
              <a:rPr lang="en-US" sz="850" b="1" dirty="0">
                <a:solidFill>
                  <a:srgbClr val="0A2342"/>
                </a:solidFill>
                <a:latin typeface="Calibri" pitchFamily="34" charset="0"/>
                <a:ea typeface="Calibri" pitchFamily="34" charset="-122"/>
                <a:cs typeface="Calibri" pitchFamily="34" charset="-120"/>
              </a:rPr>
              <a:t>FACT_IMPORT_UNIT_PRICE</a:t>
            </a:r>
            <a:endParaRPr lang="en-US" sz="850" dirty="0"/>
          </a:p>
        </p:txBody>
      </p:sp>
      <p:sp>
        <p:nvSpPr>
          <p:cNvPr id="22" name="Text 20"/>
          <p:cNvSpPr/>
          <p:nvPr/>
        </p:nvSpPr>
        <p:spPr>
          <a:xfrm>
            <a:off x="502920" y="3858768"/>
            <a:ext cx="3840480" cy="146304"/>
          </a:xfrm>
          <a:prstGeom prst="rect">
            <a:avLst/>
          </a:prstGeom>
          <a:noFill/>
          <a:ln/>
        </p:spPr>
        <p:txBody>
          <a:bodyPr wrap="square" lIns="0" tIns="0" rIns="0" bIns="0" rtlCol="0" anchor="ctr"/>
          <a:lstStyle/>
          <a:p>
            <a:pPr indent="0" marL="0">
              <a:buNone/>
            </a:pPr>
            <a:r>
              <a:rPr lang="en-US" sz="750" dirty="0">
                <a:solidFill>
                  <a:srgbClr val="475569"/>
                </a:solidFill>
                <a:latin typeface="Calibri" pitchFamily="34" charset="0"/>
                <a:ea typeface="Calibri" pitchFamily="34" charset="-122"/>
                <a:cs typeface="Calibri" pitchFamily="34" charset="-120"/>
              </a:rPr>
              <a:t>180 rows — Import premium analysis</a:t>
            </a:r>
            <a:endParaRPr lang="en-US" sz="750" dirty="0"/>
          </a:p>
        </p:txBody>
      </p:sp>
      <p:sp>
        <p:nvSpPr>
          <p:cNvPr id="23" name="Shape 21"/>
          <p:cNvSpPr/>
          <p:nvPr/>
        </p:nvSpPr>
        <p:spPr>
          <a:xfrm>
            <a:off x="365760" y="4032504"/>
            <a:ext cx="4114800" cy="365760"/>
          </a:xfrm>
          <a:prstGeom prst="rect">
            <a:avLst/>
          </a:prstGeom>
          <a:solidFill>
            <a:srgbClr val="FFFFFF"/>
          </a:solidFill>
          <a:ln w="12700">
            <a:solidFill>
              <a:srgbClr val="E8EEF4"/>
            </a:solidFill>
            <a:prstDash val="solid"/>
          </a:ln>
        </p:spPr>
      </p:sp>
      <p:sp>
        <p:nvSpPr>
          <p:cNvPr id="24" name="Text 22"/>
          <p:cNvSpPr/>
          <p:nvPr/>
        </p:nvSpPr>
        <p:spPr>
          <a:xfrm>
            <a:off x="502920" y="4059936"/>
            <a:ext cx="1828800" cy="182880"/>
          </a:xfrm>
          <a:prstGeom prst="rect">
            <a:avLst/>
          </a:prstGeom>
          <a:noFill/>
          <a:ln/>
        </p:spPr>
        <p:txBody>
          <a:bodyPr wrap="square" lIns="0" tIns="0" rIns="0" bIns="0" rtlCol="0" anchor="ctr"/>
          <a:lstStyle/>
          <a:p>
            <a:pPr indent="0" marL="0">
              <a:buNone/>
            </a:pPr>
            <a:r>
              <a:rPr lang="en-US" sz="850" b="1" dirty="0">
                <a:solidFill>
                  <a:srgbClr val="0A2342"/>
                </a:solidFill>
                <a:latin typeface="Calibri" pitchFamily="34" charset="0"/>
                <a:ea typeface="Calibri" pitchFamily="34" charset="-122"/>
                <a:cs typeface="Calibri" pitchFamily="34" charset="-120"/>
              </a:rPr>
              <a:t>FACT_PRICE_GAP_SUMMARY</a:t>
            </a:r>
            <a:endParaRPr lang="en-US" sz="850" dirty="0"/>
          </a:p>
        </p:txBody>
      </p:sp>
      <p:sp>
        <p:nvSpPr>
          <p:cNvPr id="25" name="Text 23"/>
          <p:cNvSpPr/>
          <p:nvPr/>
        </p:nvSpPr>
        <p:spPr>
          <a:xfrm>
            <a:off x="502920" y="4251960"/>
            <a:ext cx="3840480" cy="146304"/>
          </a:xfrm>
          <a:prstGeom prst="rect">
            <a:avLst/>
          </a:prstGeom>
          <a:noFill/>
          <a:ln/>
        </p:spPr>
        <p:txBody>
          <a:bodyPr wrap="square" lIns="0" tIns="0" rIns="0" bIns="0" rtlCol="0" anchor="ctr"/>
          <a:lstStyle/>
          <a:p>
            <a:pPr indent="0" marL="0">
              <a:buNone/>
            </a:pPr>
            <a:r>
              <a:rPr lang="en-US" sz="750" dirty="0">
                <a:solidFill>
                  <a:srgbClr val="475569"/>
                </a:solidFill>
                <a:latin typeface="Calibri" pitchFamily="34" charset="0"/>
                <a:ea typeface="Calibri" pitchFamily="34" charset="-122"/>
                <a:cs typeface="Calibri" pitchFamily="34" charset="-120"/>
              </a:rPr>
              <a:t>180 rows — Revenue loss by product for P8</a:t>
            </a:r>
            <a:endParaRPr lang="en-US" sz="750" dirty="0"/>
          </a:p>
        </p:txBody>
      </p:sp>
      <p:sp>
        <p:nvSpPr>
          <p:cNvPr id="26" name="Shape 24"/>
          <p:cNvSpPr/>
          <p:nvPr/>
        </p:nvSpPr>
        <p:spPr>
          <a:xfrm>
            <a:off x="365760" y="4425696"/>
            <a:ext cx="4114800" cy="365760"/>
          </a:xfrm>
          <a:prstGeom prst="rect">
            <a:avLst/>
          </a:prstGeom>
          <a:solidFill>
            <a:srgbClr val="F4F6F8"/>
          </a:solidFill>
          <a:ln w="12700">
            <a:solidFill>
              <a:srgbClr val="E8EEF4"/>
            </a:solidFill>
            <a:prstDash val="solid"/>
          </a:ln>
        </p:spPr>
      </p:sp>
      <p:sp>
        <p:nvSpPr>
          <p:cNvPr id="27" name="Text 25"/>
          <p:cNvSpPr/>
          <p:nvPr/>
        </p:nvSpPr>
        <p:spPr>
          <a:xfrm>
            <a:off x="502920" y="4453128"/>
            <a:ext cx="1828800" cy="182880"/>
          </a:xfrm>
          <a:prstGeom prst="rect">
            <a:avLst/>
          </a:prstGeom>
          <a:noFill/>
          <a:ln/>
        </p:spPr>
        <p:txBody>
          <a:bodyPr wrap="square" lIns="0" tIns="0" rIns="0" bIns="0" rtlCol="0" anchor="ctr"/>
          <a:lstStyle/>
          <a:p>
            <a:pPr indent="0" marL="0">
              <a:buNone/>
            </a:pPr>
            <a:r>
              <a:rPr lang="en-US" sz="850" b="1" dirty="0">
                <a:solidFill>
                  <a:srgbClr val="0A2342"/>
                </a:solidFill>
                <a:latin typeface="Calibri" pitchFamily="34" charset="0"/>
                <a:ea typeface="Calibri" pitchFamily="34" charset="-122"/>
                <a:cs typeface="Calibri" pitchFamily="34" charset="-120"/>
              </a:rPr>
              <a:t>FACT_PEER_BENCHMARK</a:t>
            </a:r>
            <a:endParaRPr lang="en-US" sz="850" dirty="0"/>
          </a:p>
        </p:txBody>
      </p:sp>
      <p:sp>
        <p:nvSpPr>
          <p:cNvPr id="28" name="Text 26"/>
          <p:cNvSpPr/>
          <p:nvPr/>
        </p:nvSpPr>
        <p:spPr>
          <a:xfrm>
            <a:off x="502920" y="4645152"/>
            <a:ext cx="3840480" cy="146304"/>
          </a:xfrm>
          <a:prstGeom prst="rect">
            <a:avLst/>
          </a:prstGeom>
          <a:noFill/>
          <a:ln/>
        </p:spPr>
        <p:txBody>
          <a:bodyPr wrap="square" lIns="0" tIns="0" rIns="0" bIns="0" rtlCol="0" anchor="ctr"/>
          <a:lstStyle/>
          <a:p>
            <a:pPr indent="0" marL="0">
              <a:buNone/>
            </a:pPr>
            <a:r>
              <a:rPr lang="en-US" sz="750" dirty="0">
                <a:solidFill>
                  <a:srgbClr val="475569"/>
                </a:solidFill>
                <a:latin typeface="Calibri" pitchFamily="34" charset="0"/>
                <a:ea typeface="Calibri" pitchFamily="34" charset="-122"/>
                <a:cs typeface="Calibri" pitchFamily="34" charset="-120"/>
              </a:rPr>
              <a:t>60 rows — Egypt vs. Turkey / Morocco / Vietnam</a:t>
            </a:r>
            <a:endParaRPr lang="en-US" sz="750" dirty="0"/>
          </a:p>
        </p:txBody>
      </p:sp>
      <p:sp>
        <p:nvSpPr>
          <p:cNvPr id="29" name="Shape 27"/>
          <p:cNvSpPr/>
          <p:nvPr/>
        </p:nvSpPr>
        <p:spPr>
          <a:xfrm>
            <a:off x="4663440" y="1737360"/>
            <a:ext cx="4114800" cy="292608"/>
          </a:xfrm>
          <a:prstGeom prst="rect">
            <a:avLst/>
          </a:prstGeom>
          <a:solidFill>
            <a:srgbClr val="007B55"/>
          </a:solidFill>
          <a:ln w="12700">
            <a:solidFill>
              <a:srgbClr val="007B55"/>
            </a:solidFill>
            <a:prstDash val="solid"/>
          </a:ln>
        </p:spPr>
      </p:sp>
      <p:sp>
        <p:nvSpPr>
          <p:cNvPr id="30" name="Text 28"/>
          <p:cNvSpPr/>
          <p:nvPr/>
        </p:nvSpPr>
        <p:spPr>
          <a:xfrm>
            <a:off x="4663440" y="1737360"/>
            <a:ext cx="4114800" cy="292608"/>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DIMENSION TABLES (6)</a:t>
            </a:r>
            <a:endParaRPr lang="en-US" sz="900" dirty="0"/>
          </a:p>
        </p:txBody>
      </p:sp>
      <p:sp>
        <p:nvSpPr>
          <p:cNvPr id="31" name="Shape 29"/>
          <p:cNvSpPr/>
          <p:nvPr/>
        </p:nvSpPr>
        <p:spPr>
          <a:xfrm>
            <a:off x="4663440" y="2066544"/>
            <a:ext cx="4114800" cy="365760"/>
          </a:xfrm>
          <a:prstGeom prst="rect">
            <a:avLst/>
          </a:prstGeom>
          <a:solidFill>
            <a:srgbClr val="F4F6F8"/>
          </a:solidFill>
          <a:ln w="12700">
            <a:solidFill>
              <a:srgbClr val="E8EEF4"/>
            </a:solidFill>
            <a:prstDash val="solid"/>
          </a:ln>
        </p:spPr>
      </p:sp>
      <p:sp>
        <p:nvSpPr>
          <p:cNvPr id="32" name="Text 30"/>
          <p:cNvSpPr/>
          <p:nvPr/>
        </p:nvSpPr>
        <p:spPr>
          <a:xfrm>
            <a:off x="4800600" y="2093976"/>
            <a:ext cx="1737360" cy="182880"/>
          </a:xfrm>
          <a:prstGeom prst="rect">
            <a:avLst/>
          </a:prstGeom>
          <a:noFill/>
          <a:ln/>
        </p:spPr>
        <p:txBody>
          <a:bodyPr wrap="square" lIns="0" tIns="0" rIns="0" bIns="0" rtlCol="0" anchor="ctr"/>
          <a:lstStyle/>
          <a:p>
            <a:pPr indent="0" marL="0">
              <a:buNone/>
            </a:pPr>
            <a:r>
              <a:rPr lang="en-US" sz="850" b="1" dirty="0">
                <a:solidFill>
                  <a:srgbClr val="007B55"/>
                </a:solidFill>
                <a:latin typeface="Calibri" pitchFamily="34" charset="0"/>
                <a:ea typeface="Calibri" pitchFamily="34" charset="-122"/>
                <a:cs typeface="Calibri" pitchFamily="34" charset="-120"/>
              </a:rPr>
              <a:t>DIM_DATE</a:t>
            </a:r>
            <a:endParaRPr lang="en-US" sz="850" dirty="0"/>
          </a:p>
        </p:txBody>
      </p:sp>
      <p:sp>
        <p:nvSpPr>
          <p:cNvPr id="33" name="Text 31"/>
          <p:cNvSpPr/>
          <p:nvPr/>
        </p:nvSpPr>
        <p:spPr>
          <a:xfrm>
            <a:off x="4800600" y="2286000"/>
            <a:ext cx="3840480" cy="146304"/>
          </a:xfrm>
          <a:prstGeom prst="rect">
            <a:avLst/>
          </a:prstGeom>
          <a:noFill/>
          <a:ln/>
        </p:spPr>
        <p:txBody>
          <a:bodyPr wrap="square" lIns="0" tIns="0" rIns="0" bIns="0" rtlCol="0" anchor="ctr"/>
          <a:lstStyle/>
          <a:p>
            <a:pPr indent="0" marL="0">
              <a:buNone/>
            </a:pPr>
            <a:r>
              <a:rPr lang="en-US" sz="750" dirty="0">
                <a:solidFill>
                  <a:srgbClr val="475569"/>
                </a:solidFill>
                <a:latin typeface="Calibri" pitchFamily="34" charset="0"/>
                <a:ea typeface="Calibri" pitchFamily="34" charset="-122"/>
                <a:cs typeface="Calibri" pitchFamily="34" charset="-120"/>
              </a:rPr>
              <a:t>5,479 rows — Full calendar with crisis flags and Vision phases</a:t>
            </a:r>
            <a:endParaRPr lang="en-US" sz="750" dirty="0"/>
          </a:p>
        </p:txBody>
      </p:sp>
      <p:sp>
        <p:nvSpPr>
          <p:cNvPr id="34" name="Shape 32"/>
          <p:cNvSpPr/>
          <p:nvPr/>
        </p:nvSpPr>
        <p:spPr>
          <a:xfrm>
            <a:off x="4663440" y="2459736"/>
            <a:ext cx="4114800" cy="365760"/>
          </a:xfrm>
          <a:prstGeom prst="rect">
            <a:avLst/>
          </a:prstGeom>
          <a:solidFill>
            <a:srgbClr val="FFFFFF"/>
          </a:solidFill>
          <a:ln w="12700">
            <a:solidFill>
              <a:srgbClr val="E8EEF4"/>
            </a:solidFill>
            <a:prstDash val="solid"/>
          </a:ln>
        </p:spPr>
      </p:sp>
      <p:sp>
        <p:nvSpPr>
          <p:cNvPr id="35" name="Text 33"/>
          <p:cNvSpPr/>
          <p:nvPr/>
        </p:nvSpPr>
        <p:spPr>
          <a:xfrm>
            <a:off x="4800600" y="2487168"/>
            <a:ext cx="1737360" cy="182880"/>
          </a:xfrm>
          <a:prstGeom prst="rect">
            <a:avLst/>
          </a:prstGeom>
          <a:noFill/>
          <a:ln/>
        </p:spPr>
        <p:txBody>
          <a:bodyPr wrap="square" lIns="0" tIns="0" rIns="0" bIns="0" rtlCol="0" anchor="ctr"/>
          <a:lstStyle/>
          <a:p>
            <a:pPr indent="0" marL="0">
              <a:buNone/>
            </a:pPr>
            <a:r>
              <a:rPr lang="en-US" sz="850" b="1" dirty="0">
                <a:solidFill>
                  <a:srgbClr val="007B55"/>
                </a:solidFill>
                <a:latin typeface="Calibri" pitchFamily="34" charset="0"/>
                <a:ea typeface="Calibri" pitchFamily="34" charset="-122"/>
                <a:cs typeface="Calibri" pitchFamily="34" charset="-120"/>
              </a:rPr>
              <a:t>DIM_COUNTRY</a:t>
            </a:r>
            <a:endParaRPr lang="en-US" sz="850" dirty="0"/>
          </a:p>
        </p:txBody>
      </p:sp>
      <p:sp>
        <p:nvSpPr>
          <p:cNvPr id="36" name="Text 34"/>
          <p:cNvSpPr/>
          <p:nvPr/>
        </p:nvSpPr>
        <p:spPr>
          <a:xfrm>
            <a:off x="4800600" y="2679192"/>
            <a:ext cx="3840480" cy="146304"/>
          </a:xfrm>
          <a:prstGeom prst="rect">
            <a:avLst/>
          </a:prstGeom>
          <a:noFill/>
          <a:ln/>
        </p:spPr>
        <p:txBody>
          <a:bodyPr wrap="square" lIns="0" tIns="0" rIns="0" bIns="0" rtlCol="0" anchor="ctr"/>
          <a:lstStyle/>
          <a:p>
            <a:pPr indent="0" marL="0">
              <a:buNone/>
            </a:pPr>
            <a:r>
              <a:rPr lang="en-US" sz="750" dirty="0">
                <a:solidFill>
                  <a:srgbClr val="475569"/>
                </a:solidFill>
                <a:latin typeface="Calibri" pitchFamily="34" charset="0"/>
                <a:ea typeface="Calibri" pitchFamily="34" charset="-122"/>
                <a:cs typeface="Calibri" pitchFamily="34" charset="-120"/>
              </a:rPr>
              <a:t>50 countries — Region, GDP tier, trade bloc membership</a:t>
            </a:r>
            <a:endParaRPr lang="en-US" sz="750" dirty="0"/>
          </a:p>
        </p:txBody>
      </p:sp>
      <p:sp>
        <p:nvSpPr>
          <p:cNvPr id="37" name="Shape 35"/>
          <p:cNvSpPr/>
          <p:nvPr/>
        </p:nvSpPr>
        <p:spPr>
          <a:xfrm>
            <a:off x="4663440" y="2852928"/>
            <a:ext cx="4114800" cy="365760"/>
          </a:xfrm>
          <a:prstGeom prst="rect">
            <a:avLst/>
          </a:prstGeom>
          <a:solidFill>
            <a:srgbClr val="F4F6F8"/>
          </a:solidFill>
          <a:ln w="12700">
            <a:solidFill>
              <a:srgbClr val="E8EEF4"/>
            </a:solidFill>
            <a:prstDash val="solid"/>
          </a:ln>
        </p:spPr>
      </p:sp>
      <p:sp>
        <p:nvSpPr>
          <p:cNvPr id="38" name="Text 36"/>
          <p:cNvSpPr/>
          <p:nvPr/>
        </p:nvSpPr>
        <p:spPr>
          <a:xfrm>
            <a:off x="4800600" y="2880360"/>
            <a:ext cx="1737360" cy="182880"/>
          </a:xfrm>
          <a:prstGeom prst="rect">
            <a:avLst/>
          </a:prstGeom>
          <a:noFill/>
          <a:ln/>
        </p:spPr>
        <p:txBody>
          <a:bodyPr wrap="square" lIns="0" tIns="0" rIns="0" bIns="0" rtlCol="0" anchor="ctr"/>
          <a:lstStyle/>
          <a:p>
            <a:pPr indent="0" marL="0">
              <a:buNone/>
            </a:pPr>
            <a:r>
              <a:rPr lang="en-US" sz="850" b="1" dirty="0">
                <a:solidFill>
                  <a:srgbClr val="007B55"/>
                </a:solidFill>
                <a:latin typeface="Calibri" pitchFamily="34" charset="0"/>
                <a:ea typeface="Calibri" pitchFamily="34" charset="-122"/>
                <a:cs typeface="Calibri" pitchFamily="34" charset="-120"/>
              </a:rPr>
              <a:t>DIM_PRODUCT</a:t>
            </a:r>
            <a:endParaRPr lang="en-US" sz="850" dirty="0"/>
          </a:p>
        </p:txBody>
      </p:sp>
      <p:sp>
        <p:nvSpPr>
          <p:cNvPr id="39" name="Text 37"/>
          <p:cNvSpPr/>
          <p:nvPr/>
        </p:nvSpPr>
        <p:spPr>
          <a:xfrm>
            <a:off x="4800600" y="3072384"/>
            <a:ext cx="3840480" cy="146304"/>
          </a:xfrm>
          <a:prstGeom prst="rect">
            <a:avLst/>
          </a:prstGeom>
          <a:noFill/>
          <a:ln/>
        </p:spPr>
        <p:txBody>
          <a:bodyPr wrap="square" lIns="0" tIns="0" rIns="0" bIns="0" rtlCol="0" anchor="ctr"/>
          <a:lstStyle/>
          <a:p>
            <a:pPr indent="0" marL="0">
              <a:buNone/>
            </a:pPr>
            <a:r>
              <a:rPr lang="en-US" sz="750" dirty="0">
                <a:solidFill>
                  <a:srgbClr val="475569"/>
                </a:solidFill>
                <a:latin typeface="Calibri" pitchFamily="34" charset="0"/>
                <a:ea typeface="Calibri" pitchFamily="34" charset="-122"/>
                <a:cs typeface="Calibri" pitchFamily="34" charset="-120"/>
              </a:rPr>
              <a:t>50 products — HS codes, complexity index, is_petroleum</a:t>
            </a:r>
            <a:endParaRPr lang="en-US" sz="750" dirty="0"/>
          </a:p>
        </p:txBody>
      </p:sp>
      <p:sp>
        <p:nvSpPr>
          <p:cNvPr id="40" name="Shape 38"/>
          <p:cNvSpPr/>
          <p:nvPr/>
        </p:nvSpPr>
        <p:spPr>
          <a:xfrm>
            <a:off x="4663440" y="3246120"/>
            <a:ext cx="4114800" cy="365760"/>
          </a:xfrm>
          <a:prstGeom prst="rect">
            <a:avLst/>
          </a:prstGeom>
          <a:solidFill>
            <a:srgbClr val="FFFFFF"/>
          </a:solidFill>
          <a:ln w="12700">
            <a:solidFill>
              <a:srgbClr val="E8EEF4"/>
            </a:solidFill>
            <a:prstDash val="solid"/>
          </a:ln>
        </p:spPr>
      </p:sp>
      <p:sp>
        <p:nvSpPr>
          <p:cNvPr id="41" name="Text 39"/>
          <p:cNvSpPr/>
          <p:nvPr/>
        </p:nvSpPr>
        <p:spPr>
          <a:xfrm>
            <a:off x="4800600" y="3273552"/>
            <a:ext cx="1737360" cy="182880"/>
          </a:xfrm>
          <a:prstGeom prst="rect">
            <a:avLst/>
          </a:prstGeom>
          <a:noFill/>
          <a:ln/>
        </p:spPr>
        <p:txBody>
          <a:bodyPr wrap="square" lIns="0" tIns="0" rIns="0" bIns="0" rtlCol="0" anchor="ctr"/>
          <a:lstStyle/>
          <a:p>
            <a:pPr indent="0" marL="0">
              <a:buNone/>
            </a:pPr>
            <a:r>
              <a:rPr lang="en-US" sz="850" b="1" dirty="0">
                <a:solidFill>
                  <a:srgbClr val="007B55"/>
                </a:solidFill>
                <a:latin typeface="Calibri" pitchFamily="34" charset="0"/>
                <a:ea typeface="Calibri" pitchFamily="34" charset="-122"/>
                <a:cs typeface="Calibri" pitchFamily="34" charset="-120"/>
              </a:rPr>
              <a:t>DIM_TRADE_TYPE</a:t>
            </a:r>
            <a:endParaRPr lang="en-US" sz="850" dirty="0"/>
          </a:p>
        </p:txBody>
      </p:sp>
      <p:sp>
        <p:nvSpPr>
          <p:cNvPr id="42" name="Text 40"/>
          <p:cNvSpPr/>
          <p:nvPr/>
        </p:nvSpPr>
        <p:spPr>
          <a:xfrm>
            <a:off x="4800600" y="3465576"/>
            <a:ext cx="3840480" cy="146304"/>
          </a:xfrm>
          <a:prstGeom prst="rect">
            <a:avLst/>
          </a:prstGeom>
          <a:noFill/>
          <a:ln/>
        </p:spPr>
        <p:txBody>
          <a:bodyPr wrap="square" lIns="0" tIns="0" rIns="0" bIns="0" rtlCol="0" anchor="ctr"/>
          <a:lstStyle/>
          <a:p>
            <a:pPr indent="0" marL="0">
              <a:buNone/>
            </a:pPr>
            <a:r>
              <a:rPr lang="en-US" sz="750" dirty="0">
                <a:solidFill>
                  <a:srgbClr val="475569"/>
                </a:solidFill>
                <a:latin typeface="Calibri" pitchFamily="34" charset="0"/>
                <a:ea typeface="Calibri" pitchFamily="34" charset="-122"/>
                <a:cs typeface="Calibri" pitchFamily="34" charset="-120"/>
              </a:rPr>
              <a:t>8 trade type classifications (Export/Import, Free Zone…)</a:t>
            </a:r>
            <a:endParaRPr lang="en-US" sz="750" dirty="0"/>
          </a:p>
        </p:txBody>
      </p:sp>
      <p:sp>
        <p:nvSpPr>
          <p:cNvPr id="43" name="Shape 41"/>
          <p:cNvSpPr/>
          <p:nvPr/>
        </p:nvSpPr>
        <p:spPr>
          <a:xfrm>
            <a:off x="4663440" y="3639312"/>
            <a:ext cx="4114800" cy="365760"/>
          </a:xfrm>
          <a:prstGeom prst="rect">
            <a:avLst/>
          </a:prstGeom>
          <a:solidFill>
            <a:srgbClr val="F4F6F8"/>
          </a:solidFill>
          <a:ln w="12700">
            <a:solidFill>
              <a:srgbClr val="E8EEF4"/>
            </a:solidFill>
            <a:prstDash val="solid"/>
          </a:ln>
        </p:spPr>
      </p:sp>
      <p:sp>
        <p:nvSpPr>
          <p:cNvPr id="44" name="Text 42"/>
          <p:cNvSpPr/>
          <p:nvPr/>
        </p:nvSpPr>
        <p:spPr>
          <a:xfrm>
            <a:off x="4800600" y="3666744"/>
            <a:ext cx="1737360" cy="182880"/>
          </a:xfrm>
          <a:prstGeom prst="rect">
            <a:avLst/>
          </a:prstGeom>
          <a:noFill/>
          <a:ln/>
        </p:spPr>
        <p:txBody>
          <a:bodyPr wrap="square" lIns="0" tIns="0" rIns="0" bIns="0" rtlCol="0" anchor="ctr"/>
          <a:lstStyle/>
          <a:p>
            <a:pPr indent="0" marL="0">
              <a:buNone/>
            </a:pPr>
            <a:r>
              <a:rPr lang="en-US" sz="850" b="1" dirty="0">
                <a:solidFill>
                  <a:srgbClr val="007B55"/>
                </a:solidFill>
                <a:latin typeface="Calibri" pitchFamily="34" charset="0"/>
                <a:ea typeface="Calibri" pitchFamily="34" charset="-122"/>
                <a:cs typeface="Calibri" pitchFamily="34" charset="-120"/>
              </a:rPr>
              <a:t>DIM_VISION2030_KPI</a:t>
            </a:r>
            <a:endParaRPr lang="en-US" sz="850" dirty="0"/>
          </a:p>
        </p:txBody>
      </p:sp>
      <p:sp>
        <p:nvSpPr>
          <p:cNvPr id="45" name="Text 43"/>
          <p:cNvSpPr/>
          <p:nvPr/>
        </p:nvSpPr>
        <p:spPr>
          <a:xfrm>
            <a:off x="4800600" y="3858768"/>
            <a:ext cx="3840480" cy="146304"/>
          </a:xfrm>
          <a:prstGeom prst="rect">
            <a:avLst/>
          </a:prstGeom>
          <a:noFill/>
          <a:ln/>
        </p:spPr>
        <p:txBody>
          <a:bodyPr wrap="square" lIns="0" tIns="0" rIns="0" bIns="0" rtlCol="0" anchor="ctr"/>
          <a:lstStyle/>
          <a:p>
            <a:pPr indent="0" marL="0">
              <a:buNone/>
            </a:pPr>
            <a:r>
              <a:rPr lang="en-US" sz="750" dirty="0">
                <a:solidFill>
                  <a:srgbClr val="475569"/>
                </a:solidFill>
                <a:latin typeface="Calibri" pitchFamily="34" charset="0"/>
                <a:ea typeface="Calibri" pitchFamily="34" charset="-122"/>
                <a:cs typeface="Calibri" pitchFamily="34" charset="-120"/>
              </a:rPr>
              <a:t>18 KPI definitions with baselines and 2030 targets</a:t>
            </a:r>
            <a:endParaRPr lang="en-US" sz="750" dirty="0"/>
          </a:p>
        </p:txBody>
      </p:sp>
      <p:sp>
        <p:nvSpPr>
          <p:cNvPr id="46" name="Shape 44"/>
          <p:cNvSpPr/>
          <p:nvPr/>
        </p:nvSpPr>
        <p:spPr>
          <a:xfrm>
            <a:off x="4663440" y="4032504"/>
            <a:ext cx="4114800" cy="365760"/>
          </a:xfrm>
          <a:prstGeom prst="rect">
            <a:avLst/>
          </a:prstGeom>
          <a:solidFill>
            <a:srgbClr val="FFFFFF"/>
          </a:solidFill>
          <a:ln w="12700">
            <a:solidFill>
              <a:srgbClr val="E8EEF4"/>
            </a:solidFill>
            <a:prstDash val="solid"/>
          </a:ln>
        </p:spPr>
      </p:sp>
      <p:sp>
        <p:nvSpPr>
          <p:cNvPr id="47" name="Text 45"/>
          <p:cNvSpPr/>
          <p:nvPr/>
        </p:nvSpPr>
        <p:spPr>
          <a:xfrm>
            <a:off x="4800600" y="4059936"/>
            <a:ext cx="1737360" cy="182880"/>
          </a:xfrm>
          <a:prstGeom prst="rect">
            <a:avLst/>
          </a:prstGeom>
          <a:noFill/>
          <a:ln/>
        </p:spPr>
        <p:txBody>
          <a:bodyPr wrap="square" lIns="0" tIns="0" rIns="0" bIns="0" rtlCol="0" anchor="ctr"/>
          <a:lstStyle/>
          <a:p>
            <a:pPr indent="0" marL="0">
              <a:buNone/>
            </a:pPr>
            <a:r>
              <a:rPr lang="en-US" sz="850" b="1" dirty="0">
                <a:solidFill>
                  <a:srgbClr val="007B55"/>
                </a:solidFill>
                <a:latin typeface="Calibri" pitchFamily="34" charset="0"/>
                <a:ea typeface="Calibri" pitchFamily="34" charset="-122"/>
                <a:cs typeface="Calibri" pitchFamily="34" charset="-120"/>
              </a:rPr>
              <a:t>DIM_CHANNEL</a:t>
            </a:r>
            <a:endParaRPr lang="en-US" sz="850" dirty="0"/>
          </a:p>
        </p:txBody>
      </p:sp>
      <p:sp>
        <p:nvSpPr>
          <p:cNvPr id="48" name="Text 46"/>
          <p:cNvSpPr/>
          <p:nvPr/>
        </p:nvSpPr>
        <p:spPr>
          <a:xfrm>
            <a:off x="4800600" y="4251960"/>
            <a:ext cx="3840480" cy="146304"/>
          </a:xfrm>
          <a:prstGeom prst="rect">
            <a:avLst/>
          </a:prstGeom>
          <a:noFill/>
          <a:ln/>
        </p:spPr>
        <p:txBody>
          <a:bodyPr wrap="square" lIns="0" tIns="0" rIns="0" bIns="0" rtlCol="0" anchor="ctr"/>
          <a:lstStyle/>
          <a:p>
            <a:pPr indent="0" marL="0">
              <a:buNone/>
            </a:pPr>
            <a:r>
              <a:rPr lang="en-US" sz="750" dirty="0">
                <a:solidFill>
                  <a:srgbClr val="475569"/>
                </a:solidFill>
                <a:latin typeface="Calibri" pitchFamily="34" charset="0"/>
                <a:ea typeface="Calibri" pitchFamily="34" charset="-122"/>
                <a:cs typeface="Calibri" pitchFamily="34" charset="-120"/>
              </a:rPr>
              <a:t>14 logistics channel types (transport mode, Incoterms)</a:t>
            </a:r>
            <a:endParaRPr lang="en-US" sz="750" dirty="0"/>
          </a:p>
        </p:txBody>
      </p:sp>
      <p:sp>
        <p:nvSpPr>
          <p:cNvPr id="49" name="Shape 47"/>
          <p:cNvSpPr/>
          <p:nvPr/>
        </p:nvSpPr>
        <p:spPr>
          <a:xfrm>
            <a:off x="0" y="4873752"/>
            <a:ext cx="9144000" cy="269748"/>
          </a:xfrm>
          <a:prstGeom prst="rect">
            <a:avLst/>
          </a:prstGeom>
          <a:solidFill>
            <a:srgbClr val="0A2342"/>
          </a:solidFill>
          <a:ln w="12700">
            <a:solidFill>
              <a:srgbClr val="0A2342"/>
            </a:solidFill>
            <a:prstDash val="solid"/>
          </a:ln>
        </p:spPr>
      </p:sp>
      <p:sp>
        <p:nvSpPr>
          <p:cNvPr id="50" name="Text 48"/>
          <p:cNvSpPr/>
          <p:nvPr/>
        </p:nvSpPr>
        <p:spPr>
          <a:xfrm>
            <a:off x="274320" y="4882896"/>
            <a:ext cx="8595360" cy="246888"/>
          </a:xfrm>
          <a:prstGeom prst="rect">
            <a:avLst/>
          </a:prstGeom>
          <a:noFill/>
          <a:ln/>
        </p:spPr>
        <p:txBody>
          <a:bodyPr wrap="square" lIns="0" tIns="0" rIns="0" bIns="0" rtlCol="0" anchor="ctr"/>
          <a:lstStyle/>
          <a:p>
            <a:pPr indent="0" marL="0">
              <a:buNone/>
            </a:pPr>
            <a:r>
              <a:rPr lang="en-US" sz="800" dirty="0">
                <a:solidFill>
                  <a:srgbClr val="C9943A"/>
                </a:solidFill>
                <a:latin typeface="Calibri" pitchFamily="34" charset="0"/>
                <a:ea typeface="Calibri" pitchFamily="34" charset="-122"/>
                <a:cs typeface="Calibri" pitchFamily="34" charset="-120"/>
              </a:rPr>
              <a:t>Egyptian Export Observatory  |  DEPI Data Analysis Track  |  CLS-EGX-TRADEG1-T1  |  2025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502920"/>
          </a:xfrm>
          <a:prstGeom prst="rect">
            <a:avLst/>
          </a:prstGeom>
          <a:noFill/>
          <a:ln/>
        </p:spPr>
        <p:txBody>
          <a:bodyPr wrap="square" lIns="0" tIns="0" rIns="0" bIns="0" rtlCol="0" anchor="ctr"/>
          <a:lstStyle/>
          <a:p>
            <a:pPr indent="0" marL="0">
              <a:buNone/>
            </a:pPr>
            <a:r>
              <a:rPr lang="en-US" sz="2600" b="1" dirty="0">
                <a:solidFill>
                  <a:srgbClr val="0A2342"/>
                </a:solidFill>
                <a:latin typeface="Calibri" pitchFamily="34" charset="0"/>
                <a:ea typeface="Calibri" pitchFamily="34" charset="-122"/>
                <a:cs typeface="Calibri" pitchFamily="34" charset="-120"/>
              </a:rPr>
              <a:t>DAX Measures Library — Part 1</a:t>
            </a:r>
            <a:endParaRPr lang="en-US" sz="2600" dirty="0"/>
          </a:p>
        </p:txBody>
      </p:sp>
      <p:sp>
        <p:nvSpPr>
          <p:cNvPr id="3" name="Text 1"/>
          <p:cNvSpPr/>
          <p:nvPr/>
        </p:nvSpPr>
        <p:spPr>
          <a:xfrm>
            <a:off x="457200" y="694944"/>
            <a:ext cx="8229600" cy="2743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40+ Professional Formulas Across 7 Analytical Categories</a:t>
            </a:r>
            <a:endParaRPr lang="en-US" sz="1200" dirty="0"/>
          </a:p>
        </p:txBody>
      </p:sp>
      <p:sp>
        <p:nvSpPr>
          <p:cNvPr id="4" name="Shape 2"/>
          <p:cNvSpPr/>
          <p:nvPr/>
        </p:nvSpPr>
        <p:spPr>
          <a:xfrm>
            <a:off x="457200" y="1024128"/>
            <a:ext cx="8229600" cy="27432"/>
          </a:xfrm>
          <a:prstGeom prst="rect">
            <a:avLst/>
          </a:prstGeom>
          <a:solidFill>
            <a:srgbClr val="C9943A"/>
          </a:solidFill>
          <a:ln w="12700">
            <a:solidFill>
              <a:srgbClr val="C9943A"/>
            </a:solidFill>
            <a:prstDash val="solid"/>
          </a:ln>
        </p:spPr>
      </p:sp>
      <p:sp>
        <p:nvSpPr>
          <p:cNvPr id="5" name="Text 3"/>
          <p:cNvSpPr/>
          <p:nvPr/>
        </p:nvSpPr>
        <p:spPr>
          <a:xfrm>
            <a:off x="457200" y="1170432"/>
            <a:ext cx="8229600" cy="38404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DAX (Data Analysis Expressions) is the formula language of Power BI. All measures live in a dedicated _MEASURES table for a clean, auditable data model. Every KPI card, trend line, and percentage in the dashboard is powered by a DAX measure.</a:t>
            </a:r>
            <a:endParaRPr lang="en-US" sz="950" dirty="0"/>
          </a:p>
        </p:txBody>
      </p:sp>
      <p:sp>
        <p:nvSpPr>
          <p:cNvPr id="6" name="Shape 4"/>
          <p:cNvSpPr/>
          <p:nvPr/>
        </p:nvSpPr>
        <p:spPr>
          <a:xfrm>
            <a:off x="365760" y="1664208"/>
            <a:ext cx="8412480" cy="713232"/>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7" name="Shape 5"/>
          <p:cNvSpPr/>
          <p:nvPr/>
        </p:nvSpPr>
        <p:spPr>
          <a:xfrm>
            <a:off x="365760" y="1664208"/>
            <a:ext cx="960120" cy="219456"/>
          </a:xfrm>
          <a:prstGeom prst="rect">
            <a:avLst/>
          </a:prstGeom>
          <a:solidFill>
            <a:srgbClr val="0A2342"/>
          </a:solidFill>
          <a:ln w="12700">
            <a:solidFill>
              <a:srgbClr val="0A2342"/>
            </a:solidFill>
            <a:prstDash val="solid"/>
          </a:ln>
        </p:spPr>
      </p:sp>
      <p:sp>
        <p:nvSpPr>
          <p:cNvPr id="8" name="Text 6"/>
          <p:cNvSpPr/>
          <p:nvPr/>
        </p:nvSpPr>
        <p:spPr>
          <a:xfrm>
            <a:off x="365760" y="1664208"/>
            <a:ext cx="960120" cy="219456"/>
          </a:xfrm>
          <a:prstGeom prst="rect">
            <a:avLst/>
          </a:prstGeom>
          <a:noFill/>
          <a:ln/>
        </p:spPr>
        <p:txBody>
          <a:bodyPr wrap="square" lIns="0" tIns="0" rIns="0" bIns="0" rtlCol="0" anchor="ctr"/>
          <a:lstStyle/>
          <a:p>
            <a:pPr algn="ctr" indent="0" marL="0">
              <a:buNone/>
            </a:pPr>
            <a:r>
              <a:rPr lang="en-US" sz="700" dirty="0">
                <a:solidFill>
                  <a:srgbClr val="C9943A"/>
                </a:solidFill>
                <a:latin typeface="Calibri" pitchFamily="34" charset="0"/>
                <a:ea typeface="Calibri" pitchFamily="34" charset="-122"/>
                <a:cs typeface="Calibri" pitchFamily="34" charset="-120"/>
              </a:rPr>
              <a:t>Basic KPI</a:t>
            </a:r>
            <a:endParaRPr lang="en-US" sz="700" dirty="0"/>
          </a:p>
        </p:txBody>
      </p:sp>
      <p:sp>
        <p:nvSpPr>
          <p:cNvPr id="9" name="Text 7"/>
          <p:cNvSpPr/>
          <p:nvPr/>
        </p:nvSpPr>
        <p:spPr>
          <a:xfrm>
            <a:off x="1371600" y="1691640"/>
            <a:ext cx="2743200" cy="219456"/>
          </a:xfrm>
          <a:prstGeom prst="rect">
            <a:avLst/>
          </a:prstGeom>
          <a:noFill/>
          <a:ln/>
        </p:spPr>
        <p:txBody>
          <a:bodyPr wrap="square" lIns="0" tIns="0" rIns="0" bIns="0" rtlCol="0" anchor="ctr"/>
          <a:lstStyle/>
          <a:p>
            <a:pPr indent="0" marL="0">
              <a:buNone/>
            </a:pPr>
            <a:r>
              <a:rPr lang="en-US" sz="1000" b="1" dirty="0">
                <a:solidFill>
                  <a:srgbClr val="0A2342"/>
                </a:solidFill>
                <a:latin typeface="Calibri" pitchFamily="34" charset="0"/>
                <a:ea typeface="Calibri" pitchFamily="34" charset="-122"/>
                <a:cs typeface="Calibri" pitchFamily="34" charset="-120"/>
              </a:rPr>
              <a:t>Total Exports USD M</a:t>
            </a:r>
            <a:endParaRPr lang="en-US" sz="1000" dirty="0"/>
          </a:p>
        </p:txBody>
      </p:sp>
      <p:sp>
        <p:nvSpPr>
          <p:cNvPr id="10" name="Shape 8"/>
          <p:cNvSpPr/>
          <p:nvPr/>
        </p:nvSpPr>
        <p:spPr>
          <a:xfrm>
            <a:off x="365760" y="1901952"/>
            <a:ext cx="4160520" cy="438912"/>
          </a:xfrm>
          <a:prstGeom prst="rect">
            <a:avLst/>
          </a:prstGeom>
          <a:solidFill>
            <a:srgbClr val="1A1A2E"/>
          </a:solidFill>
          <a:ln w="12700">
            <a:solidFill>
              <a:srgbClr val="1A1A2E"/>
            </a:solidFill>
            <a:prstDash val="solid"/>
          </a:ln>
        </p:spPr>
      </p:sp>
      <p:sp>
        <p:nvSpPr>
          <p:cNvPr id="11" name="Text 9"/>
          <p:cNvSpPr/>
          <p:nvPr/>
        </p:nvSpPr>
        <p:spPr>
          <a:xfrm>
            <a:off x="457200" y="1901952"/>
            <a:ext cx="4069080" cy="438912"/>
          </a:xfrm>
          <a:prstGeom prst="rect">
            <a:avLst/>
          </a:prstGeom>
          <a:noFill/>
          <a:ln/>
        </p:spPr>
        <p:txBody>
          <a:bodyPr wrap="square" lIns="0" tIns="0" rIns="0" bIns="0" rtlCol="0" anchor="ctr"/>
          <a:lstStyle/>
          <a:p>
            <a:pPr indent="0" marL="0">
              <a:buNone/>
            </a:pPr>
            <a:r>
              <a:rPr lang="en-US" sz="700" dirty="0">
                <a:solidFill>
                  <a:srgbClr val="A8D8EA"/>
                </a:solidFill>
                <a:latin typeface="Consolas" pitchFamily="34" charset="0"/>
                <a:ea typeface="Consolas" pitchFamily="34" charset="-122"/>
                <a:cs typeface="Consolas" pitchFamily="34" charset="-120"/>
              </a:rPr>
              <a:t>CALCULATE(</a:t>
            </a:r>
            <a:endParaRPr lang="en-US" sz="700" dirty="0"/>
          </a:p>
          <a:p>
            <a:pPr indent="0" marL="0">
              <a:buNone/>
            </a:pPr>
            <a:r>
              <a:rPr lang="en-US" sz="700" dirty="0">
                <a:solidFill>
                  <a:srgbClr val="A8D8EA"/>
                </a:solidFill>
                <a:latin typeface="Consolas" pitchFamily="34" charset="0"/>
                <a:ea typeface="Consolas" pitchFamily="34" charset="-122"/>
                <a:cs typeface="Consolas" pitchFamily="34" charset="-120"/>
              </a:rPr>
              <a:t>  SUM(FACT_TRADE_FLOW[trade_value_usd_million]),</a:t>
            </a:r>
            <a:endParaRPr lang="en-US" sz="700" dirty="0"/>
          </a:p>
          <a:p>
            <a:pPr indent="0" marL="0">
              <a:buNone/>
            </a:pPr>
            <a:r>
              <a:rPr lang="en-US" sz="700" dirty="0">
                <a:solidFill>
                  <a:srgbClr val="A8D8EA"/>
                </a:solidFill>
                <a:latin typeface="Consolas" pitchFamily="34" charset="0"/>
                <a:ea typeface="Consolas" pitchFamily="34" charset="-122"/>
                <a:cs typeface="Consolas" pitchFamily="34" charset="-120"/>
              </a:rPr>
              <a:t>  DIM_TRADE_TYPE[direction] = "Export"</a:t>
            </a:r>
            <a:endParaRPr lang="en-US" sz="700" dirty="0"/>
          </a:p>
          <a:p>
            <a:pPr indent="0" marL="0">
              <a:buNone/>
            </a:pPr>
            <a:r>
              <a:rPr lang="en-US" sz="700" dirty="0">
                <a:solidFill>
                  <a:srgbClr val="A8D8EA"/>
                </a:solidFill>
                <a:latin typeface="Consolas" pitchFamily="34" charset="0"/>
                <a:ea typeface="Consolas" pitchFamily="34" charset="-122"/>
                <a:cs typeface="Consolas" pitchFamily="34" charset="-120"/>
              </a:rPr>
              <a:t>)</a:t>
            </a:r>
            <a:endParaRPr lang="en-US" sz="700" dirty="0"/>
          </a:p>
        </p:txBody>
      </p:sp>
      <p:sp>
        <p:nvSpPr>
          <p:cNvPr id="12" name="Text 10"/>
          <p:cNvSpPr/>
          <p:nvPr/>
        </p:nvSpPr>
        <p:spPr>
          <a:xfrm>
            <a:off x="4663440" y="1700784"/>
            <a:ext cx="4023360" cy="301752"/>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 What: Sums all trade values filtered to Export rows only. Appears on 6+ dashboard pages.</a:t>
            </a:r>
            <a:endParaRPr lang="en-US" sz="800" dirty="0"/>
          </a:p>
        </p:txBody>
      </p:sp>
      <p:sp>
        <p:nvSpPr>
          <p:cNvPr id="13" name="Text 11"/>
          <p:cNvSpPr/>
          <p:nvPr/>
        </p:nvSpPr>
        <p:spPr>
          <a:xfrm>
            <a:off x="4663440" y="2029968"/>
            <a:ext cx="4023360" cy="301752"/>
          </a:xfrm>
          <a:prstGeom prst="rect">
            <a:avLst/>
          </a:prstGeom>
          <a:noFill/>
          <a:ln/>
        </p:spPr>
        <p:txBody>
          <a:bodyPr wrap="square" lIns="0" tIns="0" rIns="0" bIns="0" rtlCol="0" anchor="ctr"/>
          <a:lstStyle/>
          <a:p>
            <a:pPr indent="0" marL="0">
              <a:buNone/>
            </a:pPr>
            <a:r>
              <a:rPr lang="en-US" sz="800" dirty="0">
                <a:solidFill>
                  <a:srgbClr val="007B55"/>
                </a:solidFill>
                <a:latin typeface="Calibri" pitchFamily="34" charset="0"/>
                <a:ea typeface="Calibri" pitchFamily="34" charset="-122"/>
                <a:cs typeface="Calibri" pitchFamily="34" charset="-120"/>
              </a:rPr>
              <a:t>⭐ Why: Foundation of the entire Observatory — without this measure the P1 KPI card and waterfall chart cannot function.</a:t>
            </a:r>
            <a:endParaRPr lang="en-US" sz="800" dirty="0"/>
          </a:p>
        </p:txBody>
      </p:sp>
      <p:sp>
        <p:nvSpPr>
          <p:cNvPr id="14" name="Shape 12"/>
          <p:cNvSpPr/>
          <p:nvPr/>
        </p:nvSpPr>
        <p:spPr>
          <a:xfrm>
            <a:off x="365760" y="2441448"/>
            <a:ext cx="8412480" cy="713232"/>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15" name="Shape 13"/>
          <p:cNvSpPr/>
          <p:nvPr/>
        </p:nvSpPr>
        <p:spPr>
          <a:xfrm>
            <a:off x="365760" y="2441448"/>
            <a:ext cx="960120" cy="219456"/>
          </a:xfrm>
          <a:prstGeom prst="rect">
            <a:avLst/>
          </a:prstGeom>
          <a:solidFill>
            <a:srgbClr val="0A2342"/>
          </a:solidFill>
          <a:ln w="12700">
            <a:solidFill>
              <a:srgbClr val="0A2342"/>
            </a:solidFill>
            <a:prstDash val="solid"/>
          </a:ln>
        </p:spPr>
      </p:sp>
      <p:sp>
        <p:nvSpPr>
          <p:cNvPr id="16" name="Text 14"/>
          <p:cNvSpPr/>
          <p:nvPr/>
        </p:nvSpPr>
        <p:spPr>
          <a:xfrm>
            <a:off x="365760" y="2441448"/>
            <a:ext cx="960120" cy="219456"/>
          </a:xfrm>
          <a:prstGeom prst="rect">
            <a:avLst/>
          </a:prstGeom>
          <a:noFill/>
          <a:ln/>
        </p:spPr>
        <p:txBody>
          <a:bodyPr wrap="square" lIns="0" tIns="0" rIns="0" bIns="0" rtlCol="0" anchor="ctr"/>
          <a:lstStyle/>
          <a:p>
            <a:pPr algn="ctr" indent="0" marL="0">
              <a:buNone/>
            </a:pPr>
            <a:r>
              <a:rPr lang="en-US" sz="700" dirty="0">
                <a:solidFill>
                  <a:srgbClr val="C9943A"/>
                </a:solidFill>
                <a:latin typeface="Calibri" pitchFamily="34" charset="0"/>
                <a:ea typeface="Calibri" pitchFamily="34" charset="-122"/>
                <a:cs typeface="Calibri" pitchFamily="34" charset="-120"/>
              </a:rPr>
              <a:t>Basic KPI</a:t>
            </a:r>
            <a:endParaRPr lang="en-US" sz="700" dirty="0"/>
          </a:p>
        </p:txBody>
      </p:sp>
      <p:sp>
        <p:nvSpPr>
          <p:cNvPr id="17" name="Text 15"/>
          <p:cNvSpPr/>
          <p:nvPr/>
        </p:nvSpPr>
        <p:spPr>
          <a:xfrm>
            <a:off x="1371600" y="2468880"/>
            <a:ext cx="2743200" cy="219456"/>
          </a:xfrm>
          <a:prstGeom prst="rect">
            <a:avLst/>
          </a:prstGeom>
          <a:noFill/>
          <a:ln/>
        </p:spPr>
        <p:txBody>
          <a:bodyPr wrap="square" lIns="0" tIns="0" rIns="0" bIns="0" rtlCol="0" anchor="ctr"/>
          <a:lstStyle/>
          <a:p>
            <a:pPr indent="0" marL="0">
              <a:buNone/>
            </a:pPr>
            <a:r>
              <a:rPr lang="en-US" sz="1000" b="1" dirty="0">
                <a:solidFill>
                  <a:srgbClr val="0A2342"/>
                </a:solidFill>
                <a:latin typeface="Calibri" pitchFamily="34" charset="0"/>
                <a:ea typeface="Calibri" pitchFamily="34" charset="-122"/>
                <a:cs typeface="Calibri" pitchFamily="34" charset="-120"/>
              </a:rPr>
              <a:t>Trade Balance USD M</a:t>
            </a:r>
            <a:endParaRPr lang="en-US" sz="1000" dirty="0"/>
          </a:p>
        </p:txBody>
      </p:sp>
      <p:sp>
        <p:nvSpPr>
          <p:cNvPr id="18" name="Shape 16"/>
          <p:cNvSpPr/>
          <p:nvPr/>
        </p:nvSpPr>
        <p:spPr>
          <a:xfrm>
            <a:off x="365760" y="2679192"/>
            <a:ext cx="4160520" cy="438912"/>
          </a:xfrm>
          <a:prstGeom prst="rect">
            <a:avLst/>
          </a:prstGeom>
          <a:solidFill>
            <a:srgbClr val="1A1A2E"/>
          </a:solidFill>
          <a:ln w="12700">
            <a:solidFill>
              <a:srgbClr val="1A1A2E"/>
            </a:solidFill>
            <a:prstDash val="solid"/>
          </a:ln>
        </p:spPr>
      </p:sp>
      <p:sp>
        <p:nvSpPr>
          <p:cNvPr id="19" name="Text 17"/>
          <p:cNvSpPr/>
          <p:nvPr/>
        </p:nvSpPr>
        <p:spPr>
          <a:xfrm>
            <a:off x="457200" y="2679192"/>
            <a:ext cx="4069080" cy="438912"/>
          </a:xfrm>
          <a:prstGeom prst="rect">
            <a:avLst/>
          </a:prstGeom>
          <a:noFill/>
          <a:ln/>
        </p:spPr>
        <p:txBody>
          <a:bodyPr wrap="square" lIns="0" tIns="0" rIns="0" bIns="0" rtlCol="0" anchor="ctr"/>
          <a:lstStyle/>
          <a:p>
            <a:pPr indent="0" marL="0">
              <a:buNone/>
            </a:pPr>
            <a:r>
              <a:rPr lang="en-US" sz="700" dirty="0">
                <a:solidFill>
                  <a:srgbClr val="A8D8EA"/>
                </a:solidFill>
                <a:latin typeface="Consolas" pitchFamily="34" charset="0"/>
                <a:ea typeface="Consolas" pitchFamily="34" charset="-122"/>
                <a:cs typeface="Consolas" pitchFamily="34" charset="-120"/>
              </a:rPr>
              <a:t>[Total Exports USD M] - [Total Imports USD M]</a:t>
            </a:r>
            <a:endParaRPr lang="en-US" sz="700" dirty="0"/>
          </a:p>
        </p:txBody>
      </p:sp>
      <p:sp>
        <p:nvSpPr>
          <p:cNvPr id="20" name="Text 18"/>
          <p:cNvSpPr/>
          <p:nvPr/>
        </p:nvSpPr>
        <p:spPr>
          <a:xfrm>
            <a:off x="4663440" y="2478024"/>
            <a:ext cx="4023360" cy="301752"/>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 What: Exports minus imports. Returns a negative value (deficit) when imports exceed exports — every year 2010–2024.</a:t>
            </a:r>
            <a:endParaRPr lang="en-US" sz="800" dirty="0"/>
          </a:p>
        </p:txBody>
      </p:sp>
      <p:sp>
        <p:nvSpPr>
          <p:cNvPr id="21" name="Text 19"/>
          <p:cNvSpPr/>
          <p:nvPr/>
        </p:nvSpPr>
        <p:spPr>
          <a:xfrm>
            <a:off x="4663440" y="2807208"/>
            <a:ext cx="4023360" cy="301752"/>
          </a:xfrm>
          <a:prstGeom prst="rect">
            <a:avLst/>
          </a:prstGeom>
          <a:noFill/>
          <a:ln/>
        </p:spPr>
        <p:txBody>
          <a:bodyPr wrap="square" lIns="0" tIns="0" rIns="0" bIns="0" rtlCol="0" anchor="ctr"/>
          <a:lstStyle/>
          <a:p>
            <a:pPr indent="0" marL="0">
              <a:buNone/>
            </a:pPr>
            <a:r>
              <a:rPr lang="en-US" sz="800" dirty="0">
                <a:solidFill>
                  <a:srgbClr val="007B55"/>
                </a:solidFill>
                <a:latin typeface="Calibri" pitchFamily="34" charset="0"/>
                <a:ea typeface="Calibri" pitchFamily="34" charset="-122"/>
                <a:cs typeface="Calibri" pitchFamily="34" charset="-120"/>
              </a:rPr>
              <a:t>⭐ Why: The headline metric of the Observatory. The P1 waterfall chart uses this to show the deficit growing from -$29B to -$50B.</a:t>
            </a:r>
            <a:endParaRPr lang="en-US" sz="800" dirty="0"/>
          </a:p>
        </p:txBody>
      </p:sp>
      <p:sp>
        <p:nvSpPr>
          <p:cNvPr id="22" name="Shape 20"/>
          <p:cNvSpPr/>
          <p:nvPr/>
        </p:nvSpPr>
        <p:spPr>
          <a:xfrm>
            <a:off x="365760" y="3218688"/>
            <a:ext cx="8412480" cy="713232"/>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23" name="Shape 21"/>
          <p:cNvSpPr/>
          <p:nvPr/>
        </p:nvSpPr>
        <p:spPr>
          <a:xfrm>
            <a:off x="365760" y="3218688"/>
            <a:ext cx="960120" cy="219456"/>
          </a:xfrm>
          <a:prstGeom prst="rect">
            <a:avLst/>
          </a:prstGeom>
          <a:solidFill>
            <a:srgbClr val="0A2342"/>
          </a:solidFill>
          <a:ln w="12700">
            <a:solidFill>
              <a:srgbClr val="0A2342"/>
            </a:solidFill>
            <a:prstDash val="solid"/>
          </a:ln>
        </p:spPr>
      </p:sp>
      <p:sp>
        <p:nvSpPr>
          <p:cNvPr id="24" name="Text 22"/>
          <p:cNvSpPr/>
          <p:nvPr/>
        </p:nvSpPr>
        <p:spPr>
          <a:xfrm>
            <a:off x="365760" y="3218688"/>
            <a:ext cx="960120" cy="219456"/>
          </a:xfrm>
          <a:prstGeom prst="rect">
            <a:avLst/>
          </a:prstGeom>
          <a:noFill/>
          <a:ln/>
        </p:spPr>
        <p:txBody>
          <a:bodyPr wrap="square" lIns="0" tIns="0" rIns="0" bIns="0" rtlCol="0" anchor="ctr"/>
          <a:lstStyle/>
          <a:p>
            <a:pPr algn="ctr" indent="0" marL="0">
              <a:buNone/>
            </a:pPr>
            <a:r>
              <a:rPr lang="en-US" sz="700" dirty="0">
                <a:solidFill>
                  <a:srgbClr val="C9943A"/>
                </a:solidFill>
                <a:latin typeface="Calibri" pitchFamily="34" charset="0"/>
                <a:ea typeface="Calibri" pitchFamily="34" charset="-122"/>
                <a:cs typeface="Calibri" pitchFamily="34" charset="-120"/>
              </a:rPr>
              <a:t>Structure KPI</a:t>
            </a:r>
            <a:endParaRPr lang="en-US" sz="700" dirty="0"/>
          </a:p>
        </p:txBody>
      </p:sp>
      <p:sp>
        <p:nvSpPr>
          <p:cNvPr id="25" name="Text 23"/>
          <p:cNvSpPr/>
          <p:nvPr/>
        </p:nvSpPr>
        <p:spPr>
          <a:xfrm>
            <a:off x="1371600" y="3246120"/>
            <a:ext cx="2743200" cy="219456"/>
          </a:xfrm>
          <a:prstGeom prst="rect">
            <a:avLst/>
          </a:prstGeom>
          <a:noFill/>
          <a:ln/>
        </p:spPr>
        <p:txBody>
          <a:bodyPr wrap="square" lIns="0" tIns="0" rIns="0" bIns="0" rtlCol="0" anchor="ctr"/>
          <a:lstStyle/>
          <a:p>
            <a:pPr indent="0" marL="0">
              <a:buNone/>
            </a:pPr>
            <a:r>
              <a:rPr lang="en-US" sz="1000" b="1" dirty="0">
                <a:solidFill>
                  <a:srgbClr val="0A2342"/>
                </a:solidFill>
                <a:latin typeface="Calibri" pitchFamily="34" charset="0"/>
                <a:ea typeface="Calibri" pitchFamily="34" charset="-122"/>
                <a:cs typeface="Calibri" pitchFamily="34" charset="-120"/>
              </a:rPr>
              <a:t>Non-Oil Export Share %</a:t>
            </a:r>
            <a:endParaRPr lang="en-US" sz="1000" dirty="0"/>
          </a:p>
        </p:txBody>
      </p:sp>
      <p:sp>
        <p:nvSpPr>
          <p:cNvPr id="26" name="Shape 24"/>
          <p:cNvSpPr/>
          <p:nvPr/>
        </p:nvSpPr>
        <p:spPr>
          <a:xfrm>
            <a:off x="365760" y="3456432"/>
            <a:ext cx="4160520" cy="438912"/>
          </a:xfrm>
          <a:prstGeom prst="rect">
            <a:avLst/>
          </a:prstGeom>
          <a:solidFill>
            <a:srgbClr val="1A1A2E"/>
          </a:solidFill>
          <a:ln w="12700">
            <a:solidFill>
              <a:srgbClr val="1A1A2E"/>
            </a:solidFill>
            <a:prstDash val="solid"/>
          </a:ln>
        </p:spPr>
      </p:sp>
      <p:sp>
        <p:nvSpPr>
          <p:cNvPr id="27" name="Text 25"/>
          <p:cNvSpPr/>
          <p:nvPr/>
        </p:nvSpPr>
        <p:spPr>
          <a:xfrm>
            <a:off x="457200" y="3456432"/>
            <a:ext cx="4069080" cy="438912"/>
          </a:xfrm>
          <a:prstGeom prst="rect">
            <a:avLst/>
          </a:prstGeom>
          <a:noFill/>
          <a:ln/>
        </p:spPr>
        <p:txBody>
          <a:bodyPr wrap="square" lIns="0" tIns="0" rIns="0" bIns="0" rtlCol="0" anchor="ctr"/>
          <a:lstStyle/>
          <a:p>
            <a:pPr indent="0" marL="0">
              <a:buNone/>
            </a:pPr>
            <a:r>
              <a:rPr lang="en-US" sz="700" dirty="0">
                <a:solidFill>
                  <a:srgbClr val="A8D8EA"/>
                </a:solidFill>
                <a:latin typeface="Consolas" pitchFamily="34" charset="0"/>
                <a:ea typeface="Consolas" pitchFamily="34" charset="-122"/>
                <a:cs typeface="Consolas" pitchFamily="34" charset="-120"/>
              </a:rPr>
              <a:t>DIVIDE(</a:t>
            </a:r>
            <a:endParaRPr lang="en-US" sz="700" dirty="0"/>
          </a:p>
          <a:p>
            <a:pPr indent="0" marL="0">
              <a:buNone/>
            </a:pPr>
            <a:r>
              <a:rPr lang="en-US" sz="700" dirty="0">
                <a:solidFill>
                  <a:srgbClr val="A8D8EA"/>
                </a:solidFill>
                <a:latin typeface="Consolas" pitchFamily="34" charset="0"/>
                <a:ea typeface="Consolas" pitchFamily="34" charset="-122"/>
                <a:cs typeface="Consolas" pitchFamily="34" charset="-120"/>
              </a:rPr>
              <a:t>  CALCULATE([Total Exports USD M],</a:t>
            </a:r>
            <a:endParaRPr lang="en-US" sz="700" dirty="0"/>
          </a:p>
          <a:p>
            <a:pPr indent="0" marL="0">
              <a:buNone/>
            </a:pPr>
            <a:r>
              <a:rPr lang="en-US" sz="700" dirty="0">
                <a:solidFill>
                  <a:srgbClr val="A8D8EA"/>
                </a:solidFill>
                <a:latin typeface="Consolas" pitchFamily="34" charset="0"/>
                <a:ea typeface="Consolas" pitchFamily="34" charset="-122"/>
                <a:cs typeface="Consolas" pitchFamily="34" charset="-120"/>
              </a:rPr>
              <a:t>    DIM_PRODUCT[is_petroleum] = "No"),</a:t>
            </a:r>
            <a:endParaRPr lang="en-US" sz="700" dirty="0"/>
          </a:p>
          <a:p>
            <a:pPr indent="0" marL="0">
              <a:buNone/>
            </a:pPr>
            <a:r>
              <a:rPr lang="en-US" sz="700" dirty="0">
                <a:solidFill>
                  <a:srgbClr val="A8D8EA"/>
                </a:solidFill>
                <a:latin typeface="Consolas" pitchFamily="34" charset="0"/>
                <a:ea typeface="Consolas" pitchFamily="34" charset="-122"/>
                <a:cs typeface="Consolas" pitchFamily="34" charset="-120"/>
              </a:rPr>
              <a:t>  [Total Exports USD M], 0</a:t>
            </a:r>
            <a:endParaRPr lang="en-US" sz="700" dirty="0"/>
          </a:p>
          <a:p>
            <a:pPr indent="0" marL="0">
              <a:buNone/>
            </a:pPr>
            <a:r>
              <a:rPr lang="en-US" sz="700" dirty="0">
                <a:solidFill>
                  <a:srgbClr val="A8D8EA"/>
                </a:solidFill>
                <a:latin typeface="Consolas" pitchFamily="34" charset="0"/>
                <a:ea typeface="Consolas" pitchFamily="34" charset="-122"/>
                <a:cs typeface="Consolas" pitchFamily="34" charset="-120"/>
              </a:rPr>
              <a:t>) * 100</a:t>
            </a:r>
            <a:endParaRPr lang="en-US" sz="700" dirty="0"/>
          </a:p>
        </p:txBody>
      </p:sp>
      <p:sp>
        <p:nvSpPr>
          <p:cNvPr id="28" name="Text 26"/>
          <p:cNvSpPr/>
          <p:nvPr/>
        </p:nvSpPr>
        <p:spPr>
          <a:xfrm>
            <a:off x="4663440" y="3255264"/>
            <a:ext cx="4023360" cy="301752"/>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 What: Percentage of total exports from non-petroleum products. Currently 55%; Vision 2030 target is 75%.</a:t>
            </a:r>
            <a:endParaRPr lang="en-US" sz="800" dirty="0"/>
          </a:p>
        </p:txBody>
      </p:sp>
      <p:sp>
        <p:nvSpPr>
          <p:cNvPr id="29" name="Text 27"/>
          <p:cNvSpPr/>
          <p:nvPr/>
        </p:nvSpPr>
        <p:spPr>
          <a:xfrm>
            <a:off x="4663440" y="3584448"/>
            <a:ext cx="4023360" cy="301752"/>
          </a:xfrm>
          <a:prstGeom prst="rect">
            <a:avLst/>
          </a:prstGeom>
          <a:noFill/>
          <a:ln/>
        </p:spPr>
        <p:txBody>
          <a:bodyPr wrap="square" lIns="0" tIns="0" rIns="0" bIns="0" rtlCol="0" anchor="ctr"/>
          <a:lstStyle/>
          <a:p>
            <a:pPr indent="0" marL="0">
              <a:buNone/>
            </a:pPr>
            <a:r>
              <a:rPr lang="en-US" sz="800" dirty="0">
                <a:solidFill>
                  <a:srgbClr val="007B55"/>
                </a:solidFill>
                <a:latin typeface="Calibri" pitchFamily="34" charset="0"/>
                <a:ea typeface="Calibri" pitchFamily="34" charset="-122"/>
                <a:cs typeface="Calibri" pitchFamily="34" charset="-120"/>
              </a:rPr>
              <a:t>⭐ Why: Tracks the diversification gap. If this number stagnates, no structural reform is occurring.</a:t>
            </a:r>
            <a:endParaRPr lang="en-US" sz="800" dirty="0"/>
          </a:p>
        </p:txBody>
      </p:sp>
      <p:sp>
        <p:nvSpPr>
          <p:cNvPr id="30" name="Shape 28"/>
          <p:cNvSpPr/>
          <p:nvPr/>
        </p:nvSpPr>
        <p:spPr>
          <a:xfrm>
            <a:off x="365760" y="3995928"/>
            <a:ext cx="8412480" cy="713232"/>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31" name="Shape 29"/>
          <p:cNvSpPr/>
          <p:nvPr/>
        </p:nvSpPr>
        <p:spPr>
          <a:xfrm>
            <a:off x="365760" y="3995928"/>
            <a:ext cx="960120" cy="219456"/>
          </a:xfrm>
          <a:prstGeom prst="rect">
            <a:avLst/>
          </a:prstGeom>
          <a:solidFill>
            <a:srgbClr val="0A2342"/>
          </a:solidFill>
          <a:ln w="12700">
            <a:solidFill>
              <a:srgbClr val="0A2342"/>
            </a:solidFill>
            <a:prstDash val="solid"/>
          </a:ln>
        </p:spPr>
      </p:sp>
      <p:sp>
        <p:nvSpPr>
          <p:cNvPr id="32" name="Text 30"/>
          <p:cNvSpPr/>
          <p:nvPr/>
        </p:nvSpPr>
        <p:spPr>
          <a:xfrm>
            <a:off x="365760" y="3995928"/>
            <a:ext cx="960120" cy="219456"/>
          </a:xfrm>
          <a:prstGeom prst="rect">
            <a:avLst/>
          </a:prstGeom>
          <a:noFill/>
          <a:ln/>
        </p:spPr>
        <p:txBody>
          <a:bodyPr wrap="square" lIns="0" tIns="0" rIns="0" bIns="0" rtlCol="0" anchor="ctr"/>
          <a:lstStyle/>
          <a:p>
            <a:pPr algn="ctr" indent="0" marL="0">
              <a:buNone/>
            </a:pPr>
            <a:r>
              <a:rPr lang="en-US" sz="700" dirty="0">
                <a:solidFill>
                  <a:srgbClr val="C9943A"/>
                </a:solidFill>
                <a:latin typeface="Calibri" pitchFamily="34" charset="0"/>
                <a:ea typeface="Calibri" pitchFamily="34" charset="-122"/>
                <a:cs typeface="Calibri" pitchFamily="34" charset="-120"/>
              </a:rPr>
              <a:t>Growth KPI</a:t>
            </a:r>
            <a:endParaRPr lang="en-US" sz="700" dirty="0"/>
          </a:p>
        </p:txBody>
      </p:sp>
      <p:sp>
        <p:nvSpPr>
          <p:cNvPr id="33" name="Text 31"/>
          <p:cNvSpPr/>
          <p:nvPr/>
        </p:nvSpPr>
        <p:spPr>
          <a:xfrm>
            <a:off x="1371600" y="4023360"/>
            <a:ext cx="2743200" cy="219456"/>
          </a:xfrm>
          <a:prstGeom prst="rect">
            <a:avLst/>
          </a:prstGeom>
          <a:noFill/>
          <a:ln/>
        </p:spPr>
        <p:txBody>
          <a:bodyPr wrap="square" lIns="0" tIns="0" rIns="0" bIns="0" rtlCol="0" anchor="ctr"/>
          <a:lstStyle/>
          <a:p>
            <a:pPr indent="0" marL="0">
              <a:buNone/>
            </a:pPr>
            <a:r>
              <a:rPr lang="en-US" sz="1000" b="1" dirty="0">
                <a:solidFill>
                  <a:srgbClr val="0A2342"/>
                </a:solidFill>
                <a:latin typeface="Calibri" pitchFamily="34" charset="0"/>
                <a:ea typeface="Calibri" pitchFamily="34" charset="-122"/>
                <a:cs typeface="Calibri" pitchFamily="34" charset="-120"/>
              </a:rPr>
              <a:t>YoY Export Growth %</a:t>
            </a:r>
            <a:endParaRPr lang="en-US" sz="1000" dirty="0"/>
          </a:p>
        </p:txBody>
      </p:sp>
      <p:sp>
        <p:nvSpPr>
          <p:cNvPr id="34" name="Shape 32"/>
          <p:cNvSpPr/>
          <p:nvPr/>
        </p:nvSpPr>
        <p:spPr>
          <a:xfrm>
            <a:off x="365760" y="4233672"/>
            <a:ext cx="4160520" cy="438912"/>
          </a:xfrm>
          <a:prstGeom prst="rect">
            <a:avLst/>
          </a:prstGeom>
          <a:solidFill>
            <a:srgbClr val="1A1A2E"/>
          </a:solidFill>
          <a:ln w="12700">
            <a:solidFill>
              <a:srgbClr val="1A1A2E"/>
            </a:solidFill>
            <a:prstDash val="solid"/>
          </a:ln>
        </p:spPr>
      </p:sp>
      <p:sp>
        <p:nvSpPr>
          <p:cNvPr id="35" name="Text 33"/>
          <p:cNvSpPr/>
          <p:nvPr/>
        </p:nvSpPr>
        <p:spPr>
          <a:xfrm>
            <a:off x="457200" y="4233672"/>
            <a:ext cx="4069080" cy="438912"/>
          </a:xfrm>
          <a:prstGeom prst="rect">
            <a:avLst/>
          </a:prstGeom>
          <a:noFill/>
          <a:ln/>
        </p:spPr>
        <p:txBody>
          <a:bodyPr wrap="square" lIns="0" tIns="0" rIns="0" bIns="0" rtlCol="0" anchor="ctr"/>
          <a:lstStyle/>
          <a:p>
            <a:pPr indent="0" marL="0">
              <a:buNone/>
            </a:pPr>
            <a:r>
              <a:rPr lang="en-US" sz="700" dirty="0">
                <a:solidFill>
                  <a:srgbClr val="A8D8EA"/>
                </a:solidFill>
                <a:latin typeface="Consolas" pitchFamily="34" charset="0"/>
                <a:ea typeface="Consolas" pitchFamily="34" charset="-122"/>
                <a:cs typeface="Consolas" pitchFamily="34" charset="-120"/>
              </a:rPr>
              <a:t>VAR CurrentExports = [Total Exports USD M]</a:t>
            </a:r>
            <a:endParaRPr lang="en-US" sz="700" dirty="0"/>
          </a:p>
          <a:p>
            <a:pPr indent="0" marL="0">
              <a:buNone/>
            </a:pPr>
            <a:r>
              <a:rPr lang="en-US" sz="700" dirty="0">
                <a:solidFill>
                  <a:srgbClr val="A8D8EA"/>
                </a:solidFill>
                <a:latin typeface="Consolas" pitchFamily="34" charset="0"/>
                <a:ea typeface="Consolas" pitchFamily="34" charset="-122"/>
                <a:cs typeface="Consolas" pitchFamily="34" charset="-120"/>
              </a:rPr>
              <a:t>VAR PrevExports = CALCULATE(</a:t>
            </a:r>
            <a:endParaRPr lang="en-US" sz="700" dirty="0"/>
          </a:p>
          <a:p>
            <a:pPr indent="0" marL="0">
              <a:buNone/>
            </a:pPr>
            <a:r>
              <a:rPr lang="en-US" sz="700" dirty="0">
                <a:solidFill>
                  <a:srgbClr val="A8D8EA"/>
                </a:solidFill>
                <a:latin typeface="Consolas" pitchFamily="34" charset="0"/>
                <a:ea typeface="Consolas" pitchFamily="34" charset="-122"/>
                <a:cs typeface="Consolas" pitchFamily="34" charset="-120"/>
              </a:rPr>
              <a:t>  [Total Exports USD M],</a:t>
            </a:r>
            <a:endParaRPr lang="en-US" sz="700" dirty="0"/>
          </a:p>
          <a:p>
            <a:pPr indent="0" marL="0">
              <a:buNone/>
            </a:pPr>
            <a:r>
              <a:rPr lang="en-US" sz="700" dirty="0">
                <a:solidFill>
                  <a:srgbClr val="A8D8EA"/>
                </a:solidFill>
                <a:latin typeface="Consolas" pitchFamily="34" charset="0"/>
                <a:ea typeface="Consolas" pitchFamily="34" charset="-122"/>
                <a:cs typeface="Consolas" pitchFamily="34" charset="-120"/>
              </a:rPr>
              <a:t>  DATEADD(DIM_DATE[full_date], -1, YEAR))</a:t>
            </a:r>
            <a:endParaRPr lang="en-US" sz="700" dirty="0"/>
          </a:p>
          <a:p>
            <a:pPr indent="0" marL="0">
              <a:buNone/>
            </a:pPr>
            <a:r>
              <a:rPr lang="en-US" sz="700" dirty="0">
                <a:solidFill>
                  <a:srgbClr val="A8D8EA"/>
                </a:solidFill>
                <a:latin typeface="Consolas" pitchFamily="34" charset="0"/>
                <a:ea typeface="Consolas" pitchFamily="34" charset="-122"/>
                <a:cs typeface="Consolas" pitchFamily="34" charset="-120"/>
              </a:rPr>
              <a:t>RETURN DIVIDE(CurrentExports - PrevExports, PrevExports) * 100</a:t>
            </a:r>
            <a:endParaRPr lang="en-US" sz="700" dirty="0"/>
          </a:p>
        </p:txBody>
      </p:sp>
      <p:sp>
        <p:nvSpPr>
          <p:cNvPr id="36" name="Text 34"/>
          <p:cNvSpPr/>
          <p:nvPr/>
        </p:nvSpPr>
        <p:spPr>
          <a:xfrm>
            <a:off x="4663440" y="4032504"/>
            <a:ext cx="4023360" cy="301752"/>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 What: Year-over-year growth rate using DATEADD to shift the date context. BLANK() returned for the first year.</a:t>
            </a:r>
            <a:endParaRPr lang="en-US" sz="800" dirty="0"/>
          </a:p>
        </p:txBody>
      </p:sp>
      <p:sp>
        <p:nvSpPr>
          <p:cNvPr id="37" name="Text 35"/>
          <p:cNvSpPr/>
          <p:nvPr/>
        </p:nvSpPr>
        <p:spPr>
          <a:xfrm>
            <a:off x="4663440" y="4361688"/>
            <a:ext cx="4023360" cy="301752"/>
          </a:xfrm>
          <a:prstGeom prst="rect">
            <a:avLst/>
          </a:prstGeom>
          <a:noFill/>
          <a:ln/>
        </p:spPr>
        <p:txBody>
          <a:bodyPr wrap="square" lIns="0" tIns="0" rIns="0" bIns="0" rtlCol="0" anchor="ctr"/>
          <a:lstStyle/>
          <a:p>
            <a:pPr indent="0" marL="0">
              <a:buNone/>
            </a:pPr>
            <a:r>
              <a:rPr lang="en-US" sz="800" dirty="0">
                <a:solidFill>
                  <a:srgbClr val="007B55"/>
                </a:solidFill>
                <a:latin typeface="Calibri" pitchFamily="34" charset="0"/>
                <a:ea typeface="Calibri" pitchFamily="34" charset="-122"/>
                <a:cs typeface="Calibri" pitchFamily="34" charset="-120"/>
              </a:rPr>
              <a:t>⭐ Why: Critical for distinguishing commodity-driven growth (2022 +34%) from genuine structural export expansion.</a:t>
            </a:r>
            <a:endParaRPr lang="en-US" sz="800" dirty="0"/>
          </a:p>
        </p:txBody>
      </p:sp>
      <p:sp>
        <p:nvSpPr>
          <p:cNvPr id="38" name="Shape 36"/>
          <p:cNvSpPr/>
          <p:nvPr/>
        </p:nvSpPr>
        <p:spPr>
          <a:xfrm>
            <a:off x="0" y="4873752"/>
            <a:ext cx="9144000" cy="269748"/>
          </a:xfrm>
          <a:prstGeom prst="rect">
            <a:avLst/>
          </a:prstGeom>
          <a:solidFill>
            <a:srgbClr val="0A2342"/>
          </a:solidFill>
          <a:ln w="12700">
            <a:solidFill>
              <a:srgbClr val="0A2342"/>
            </a:solidFill>
            <a:prstDash val="solid"/>
          </a:ln>
        </p:spPr>
      </p:sp>
      <p:sp>
        <p:nvSpPr>
          <p:cNvPr id="39" name="Text 37"/>
          <p:cNvSpPr/>
          <p:nvPr/>
        </p:nvSpPr>
        <p:spPr>
          <a:xfrm>
            <a:off x="274320" y="4882896"/>
            <a:ext cx="8595360" cy="246888"/>
          </a:xfrm>
          <a:prstGeom prst="rect">
            <a:avLst/>
          </a:prstGeom>
          <a:noFill/>
          <a:ln/>
        </p:spPr>
        <p:txBody>
          <a:bodyPr wrap="square" lIns="0" tIns="0" rIns="0" bIns="0" rtlCol="0" anchor="ctr"/>
          <a:lstStyle/>
          <a:p>
            <a:pPr indent="0" marL="0">
              <a:buNone/>
            </a:pPr>
            <a:r>
              <a:rPr lang="en-US" sz="800" dirty="0">
                <a:solidFill>
                  <a:srgbClr val="C9943A"/>
                </a:solidFill>
                <a:latin typeface="Calibri" pitchFamily="34" charset="0"/>
                <a:ea typeface="Calibri" pitchFamily="34" charset="-122"/>
                <a:cs typeface="Calibri" pitchFamily="34" charset="-120"/>
              </a:rPr>
              <a:t>Egyptian Export Observatory  |  DEPI Data Analysis Track  |  CLS-EGX-TRADEG1-T1  |  2025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502920"/>
          </a:xfrm>
          <a:prstGeom prst="rect">
            <a:avLst/>
          </a:prstGeom>
          <a:noFill/>
          <a:ln/>
        </p:spPr>
        <p:txBody>
          <a:bodyPr wrap="square" lIns="0" tIns="0" rIns="0" bIns="0" rtlCol="0" anchor="ctr"/>
          <a:lstStyle/>
          <a:p>
            <a:pPr indent="0" marL="0">
              <a:buNone/>
            </a:pPr>
            <a:r>
              <a:rPr lang="en-US" sz="2600" b="1" dirty="0">
                <a:solidFill>
                  <a:srgbClr val="0A2342"/>
                </a:solidFill>
                <a:latin typeface="Calibri" pitchFamily="34" charset="0"/>
                <a:ea typeface="Calibri" pitchFamily="34" charset="-122"/>
                <a:cs typeface="Calibri" pitchFamily="34" charset="-120"/>
              </a:rPr>
              <a:t>DAX Measures Library — Part 2</a:t>
            </a:r>
            <a:endParaRPr lang="en-US" sz="2600" dirty="0"/>
          </a:p>
        </p:txBody>
      </p:sp>
      <p:sp>
        <p:nvSpPr>
          <p:cNvPr id="3" name="Text 1"/>
          <p:cNvSpPr/>
          <p:nvPr/>
        </p:nvSpPr>
        <p:spPr>
          <a:xfrm>
            <a:off x="457200" y="694944"/>
            <a:ext cx="8229600" cy="2743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Vision 2030 Tracking · Price Intelligence · Advanced Analytics</a:t>
            </a:r>
            <a:endParaRPr lang="en-US" sz="1200" dirty="0"/>
          </a:p>
        </p:txBody>
      </p:sp>
      <p:sp>
        <p:nvSpPr>
          <p:cNvPr id="4" name="Shape 2"/>
          <p:cNvSpPr/>
          <p:nvPr/>
        </p:nvSpPr>
        <p:spPr>
          <a:xfrm>
            <a:off x="457200" y="1024128"/>
            <a:ext cx="8229600" cy="27432"/>
          </a:xfrm>
          <a:prstGeom prst="rect">
            <a:avLst/>
          </a:prstGeom>
          <a:solidFill>
            <a:srgbClr val="C9943A"/>
          </a:solidFill>
          <a:ln w="12700">
            <a:solidFill>
              <a:srgbClr val="C9943A"/>
            </a:solidFill>
            <a:prstDash val="solid"/>
          </a:ln>
        </p:spPr>
      </p:sp>
      <p:sp>
        <p:nvSpPr>
          <p:cNvPr id="5" name="Shape 3"/>
          <p:cNvSpPr/>
          <p:nvPr/>
        </p:nvSpPr>
        <p:spPr>
          <a:xfrm>
            <a:off x="365760" y="1664208"/>
            <a:ext cx="8412480" cy="713232"/>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6" name="Shape 4"/>
          <p:cNvSpPr/>
          <p:nvPr/>
        </p:nvSpPr>
        <p:spPr>
          <a:xfrm>
            <a:off x="365760" y="1664208"/>
            <a:ext cx="1234440" cy="219456"/>
          </a:xfrm>
          <a:prstGeom prst="rect">
            <a:avLst/>
          </a:prstGeom>
          <a:solidFill>
            <a:srgbClr val="007B55"/>
          </a:solidFill>
          <a:ln w="12700">
            <a:solidFill>
              <a:srgbClr val="007B55"/>
            </a:solidFill>
            <a:prstDash val="solid"/>
          </a:ln>
        </p:spPr>
      </p:sp>
      <p:sp>
        <p:nvSpPr>
          <p:cNvPr id="7" name="Text 5"/>
          <p:cNvSpPr/>
          <p:nvPr/>
        </p:nvSpPr>
        <p:spPr>
          <a:xfrm>
            <a:off x="365760" y="1664208"/>
            <a:ext cx="1234440" cy="219456"/>
          </a:xfrm>
          <a:prstGeom prst="rect">
            <a:avLst/>
          </a:prstGeom>
          <a:noFill/>
          <a:ln/>
        </p:spPr>
        <p:txBody>
          <a:bodyPr wrap="square" lIns="0" tIns="0" rIns="0" bIns="0"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Price Intelligence</a:t>
            </a:r>
            <a:endParaRPr lang="en-US" sz="700" dirty="0"/>
          </a:p>
        </p:txBody>
      </p:sp>
      <p:sp>
        <p:nvSpPr>
          <p:cNvPr id="8" name="Text 6"/>
          <p:cNvSpPr/>
          <p:nvPr/>
        </p:nvSpPr>
        <p:spPr>
          <a:xfrm>
            <a:off x="1664208" y="1691640"/>
            <a:ext cx="2926080" cy="219456"/>
          </a:xfrm>
          <a:prstGeom prst="rect">
            <a:avLst/>
          </a:prstGeom>
          <a:noFill/>
          <a:ln/>
        </p:spPr>
        <p:txBody>
          <a:bodyPr wrap="square" lIns="0" tIns="0" rIns="0" bIns="0" rtlCol="0" anchor="ctr"/>
          <a:lstStyle/>
          <a:p>
            <a:pPr indent="0" marL="0">
              <a:buNone/>
            </a:pPr>
            <a:r>
              <a:rPr lang="en-US" sz="1000" b="1" dirty="0">
                <a:solidFill>
                  <a:srgbClr val="0A2342"/>
                </a:solidFill>
                <a:latin typeface="Calibri" pitchFamily="34" charset="0"/>
                <a:ea typeface="Calibri" pitchFamily="34" charset="-122"/>
                <a:cs typeface="Calibri" pitchFamily="34" charset="-120"/>
              </a:rPr>
              <a:t>Total Annual Revenue Lost</a:t>
            </a:r>
            <a:endParaRPr lang="en-US" sz="1000" dirty="0"/>
          </a:p>
        </p:txBody>
      </p:sp>
      <p:sp>
        <p:nvSpPr>
          <p:cNvPr id="9" name="Shape 7"/>
          <p:cNvSpPr/>
          <p:nvPr/>
        </p:nvSpPr>
        <p:spPr>
          <a:xfrm>
            <a:off x="365760" y="1901952"/>
            <a:ext cx="4160520" cy="438912"/>
          </a:xfrm>
          <a:prstGeom prst="rect">
            <a:avLst/>
          </a:prstGeom>
          <a:solidFill>
            <a:srgbClr val="1A1A2E"/>
          </a:solidFill>
          <a:ln w="12700">
            <a:solidFill>
              <a:srgbClr val="1A1A2E"/>
            </a:solidFill>
            <a:prstDash val="solid"/>
          </a:ln>
        </p:spPr>
      </p:sp>
      <p:sp>
        <p:nvSpPr>
          <p:cNvPr id="10" name="Text 8"/>
          <p:cNvSpPr/>
          <p:nvPr/>
        </p:nvSpPr>
        <p:spPr>
          <a:xfrm>
            <a:off x="457200" y="1901952"/>
            <a:ext cx="4069080" cy="438912"/>
          </a:xfrm>
          <a:prstGeom prst="rect">
            <a:avLst/>
          </a:prstGeom>
          <a:noFill/>
          <a:ln/>
        </p:spPr>
        <p:txBody>
          <a:bodyPr wrap="square" lIns="0" tIns="0" rIns="0" bIns="0" rtlCol="0" anchor="ctr"/>
          <a:lstStyle/>
          <a:p>
            <a:pPr indent="0" marL="0">
              <a:buNone/>
            </a:pPr>
            <a:r>
              <a:rPr lang="en-US" sz="700" dirty="0">
                <a:solidFill>
                  <a:srgbClr val="A8D8EA"/>
                </a:solidFill>
                <a:latin typeface="Consolas" pitchFamily="34" charset="0"/>
                <a:ea typeface="Consolas" pitchFamily="34" charset="-122"/>
                <a:cs typeface="Consolas" pitchFamily="34" charset="-120"/>
              </a:rPr>
              <a:t>CALCULATE(</a:t>
            </a:r>
            <a:endParaRPr lang="en-US" sz="700" dirty="0"/>
          </a:p>
          <a:p>
            <a:pPr indent="0" marL="0">
              <a:buNone/>
            </a:pPr>
            <a:r>
              <a:rPr lang="en-US" sz="700" dirty="0">
                <a:solidFill>
                  <a:srgbClr val="A8D8EA"/>
                </a:solidFill>
                <a:latin typeface="Consolas" pitchFamily="34" charset="0"/>
                <a:ea typeface="Consolas" pitchFamily="34" charset="-122"/>
                <a:cs typeface="Consolas" pitchFamily="34" charset="-120"/>
              </a:rPr>
              <a:t>  SUM(FACT_PRICE_GAP_SUMMARY[total_gap_value_usd_m]),</a:t>
            </a:r>
            <a:endParaRPr lang="en-US" sz="700" dirty="0"/>
          </a:p>
          <a:p>
            <a:pPr indent="0" marL="0">
              <a:buNone/>
            </a:pPr>
            <a:r>
              <a:rPr lang="en-US" sz="700" dirty="0">
                <a:solidFill>
                  <a:srgbClr val="A8D8EA"/>
                </a:solidFill>
                <a:latin typeface="Consolas" pitchFamily="34" charset="0"/>
                <a:ea typeface="Consolas" pitchFamily="34" charset="-122"/>
                <a:cs typeface="Consolas" pitchFamily="34" charset="-120"/>
              </a:rPr>
              <a:t>  FACT_PRICE_GAP_SUMMARY[analysis_type] = "Export Underpricing"</a:t>
            </a:r>
            <a:endParaRPr lang="en-US" sz="700" dirty="0"/>
          </a:p>
          <a:p>
            <a:pPr indent="0" marL="0">
              <a:buNone/>
            </a:pPr>
            <a:r>
              <a:rPr lang="en-US" sz="700" dirty="0">
                <a:solidFill>
                  <a:srgbClr val="A8D8EA"/>
                </a:solidFill>
                <a:latin typeface="Consolas" pitchFamily="34" charset="0"/>
                <a:ea typeface="Consolas" pitchFamily="34" charset="-122"/>
                <a:cs typeface="Consolas" pitchFamily="34" charset="-120"/>
              </a:rPr>
              <a:t>)</a:t>
            </a:r>
            <a:endParaRPr lang="en-US" sz="700" dirty="0"/>
          </a:p>
        </p:txBody>
      </p:sp>
      <p:sp>
        <p:nvSpPr>
          <p:cNvPr id="11" name="Text 9"/>
          <p:cNvSpPr/>
          <p:nvPr/>
        </p:nvSpPr>
        <p:spPr>
          <a:xfrm>
            <a:off x="4663440" y="1700784"/>
            <a:ext cx="4023360" cy="301752"/>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 What: Sums pre-calculated revenue loss (Competitor Price − Egypt Price) × Volume. Returns the $3B+ figure.</a:t>
            </a:r>
            <a:endParaRPr lang="en-US" sz="800" dirty="0"/>
          </a:p>
        </p:txBody>
      </p:sp>
      <p:sp>
        <p:nvSpPr>
          <p:cNvPr id="12" name="Text 10"/>
          <p:cNvSpPr/>
          <p:nvPr/>
        </p:nvSpPr>
        <p:spPr>
          <a:xfrm>
            <a:off x="4663440" y="2029968"/>
            <a:ext cx="4023360" cy="301752"/>
          </a:xfrm>
          <a:prstGeom prst="rect">
            <a:avLst/>
          </a:prstGeom>
          <a:noFill/>
          <a:ln/>
        </p:spPr>
        <p:txBody>
          <a:bodyPr wrap="square" lIns="0" tIns="0" rIns="0" bIns="0" rtlCol="0" anchor="ctr"/>
          <a:lstStyle/>
          <a:p>
            <a:pPr indent="0" marL="0">
              <a:buNone/>
            </a:pPr>
            <a:r>
              <a:rPr lang="en-US" sz="800" dirty="0">
                <a:solidFill>
                  <a:srgbClr val="007B55"/>
                </a:solidFill>
                <a:latin typeface="Calibri" pitchFamily="34" charset="0"/>
                <a:ea typeface="Calibri" pitchFamily="34" charset="-122"/>
                <a:cs typeface="Calibri" pitchFamily="34" charset="-120"/>
              </a:rPr>
              <a:t>⭐ Why: The most impactful statistic — Egypt could earn $3.2B more annually without exporting a single additional unit.</a:t>
            </a:r>
            <a:endParaRPr lang="en-US" sz="800" dirty="0"/>
          </a:p>
        </p:txBody>
      </p:sp>
      <p:sp>
        <p:nvSpPr>
          <p:cNvPr id="13" name="Shape 11"/>
          <p:cNvSpPr/>
          <p:nvPr/>
        </p:nvSpPr>
        <p:spPr>
          <a:xfrm>
            <a:off x="365760" y="2441448"/>
            <a:ext cx="8412480" cy="713232"/>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14" name="Shape 12"/>
          <p:cNvSpPr/>
          <p:nvPr/>
        </p:nvSpPr>
        <p:spPr>
          <a:xfrm>
            <a:off x="365760" y="2441448"/>
            <a:ext cx="1234440" cy="219456"/>
          </a:xfrm>
          <a:prstGeom prst="rect">
            <a:avLst/>
          </a:prstGeom>
          <a:solidFill>
            <a:srgbClr val="007B55"/>
          </a:solidFill>
          <a:ln w="12700">
            <a:solidFill>
              <a:srgbClr val="007B55"/>
            </a:solidFill>
            <a:prstDash val="solid"/>
          </a:ln>
        </p:spPr>
      </p:sp>
      <p:sp>
        <p:nvSpPr>
          <p:cNvPr id="15" name="Text 13"/>
          <p:cNvSpPr/>
          <p:nvPr/>
        </p:nvSpPr>
        <p:spPr>
          <a:xfrm>
            <a:off x="365760" y="2441448"/>
            <a:ext cx="1234440" cy="219456"/>
          </a:xfrm>
          <a:prstGeom prst="rect">
            <a:avLst/>
          </a:prstGeom>
          <a:noFill/>
          <a:ln/>
        </p:spPr>
        <p:txBody>
          <a:bodyPr wrap="square" lIns="0" tIns="0" rIns="0" bIns="0"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Vision 2030 Tracker</a:t>
            </a:r>
            <a:endParaRPr lang="en-US" sz="700" dirty="0"/>
          </a:p>
        </p:txBody>
      </p:sp>
      <p:sp>
        <p:nvSpPr>
          <p:cNvPr id="16" name="Text 14"/>
          <p:cNvSpPr/>
          <p:nvPr/>
        </p:nvSpPr>
        <p:spPr>
          <a:xfrm>
            <a:off x="1664208" y="2468880"/>
            <a:ext cx="2926080" cy="219456"/>
          </a:xfrm>
          <a:prstGeom prst="rect">
            <a:avLst/>
          </a:prstGeom>
          <a:noFill/>
          <a:ln/>
        </p:spPr>
        <p:txBody>
          <a:bodyPr wrap="square" lIns="0" tIns="0" rIns="0" bIns="0" rtlCol="0" anchor="ctr"/>
          <a:lstStyle/>
          <a:p>
            <a:pPr indent="0" marL="0">
              <a:buNone/>
            </a:pPr>
            <a:r>
              <a:rPr lang="en-US" sz="1000" b="1" dirty="0">
                <a:solidFill>
                  <a:srgbClr val="0A2342"/>
                </a:solidFill>
                <a:latin typeface="Calibri" pitchFamily="34" charset="0"/>
                <a:ea typeface="Calibri" pitchFamily="34" charset="-122"/>
                <a:cs typeface="Calibri" pitchFamily="34" charset="-120"/>
              </a:rPr>
              <a:t>Vision Achievement %</a:t>
            </a:r>
            <a:endParaRPr lang="en-US" sz="1000" dirty="0"/>
          </a:p>
        </p:txBody>
      </p:sp>
      <p:sp>
        <p:nvSpPr>
          <p:cNvPr id="17" name="Shape 15"/>
          <p:cNvSpPr/>
          <p:nvPr/>
        </p:nvSpPr>
        <p:spPr>
          <a:xfrm>
            <a:off x="365760" y="2679192"/>
            <a:ext cx="4160520" cy="438912"/>
          </a:xfrm>
          <a:prstGeom prst="rect">
            <a:avLst/>
          </a:prstGeom>
          <a:solidFill>
            <a:srgbClr val="1A1A2E"/>
          </a:solidFill>
          <a:ln w="12700">
            <a:solidFill>
              <a:srgbClr val="1A1A2E"/>
            </a:solidFill>
            <a:prstDash val="solid"/>
          </a:ln>
        </p:spPr>
      </p:sp>
      <p:sp>
        <p:nvSpPr>
          <p:cNvPr id="18" name="Text 16"/>
          <p:cNvSpPr/>
          <p:nvPr/>
        </p:nvSpPr>
        <p:spPr>
          <a:xfrm>
            <a:off x="457200" y="2679192"/>
            <a:ext cx="4069080" cy="438912"/>
          </a:xfrm>
          <a:prstGeom prst="rect">
            <a:avLst/>
          </a:prstGeom>
          <a:noFill/>
          <a:ln/>
        </p:spPr>
        <p:txBody>
          <a:bodyPr wrap="square" lIns="0" tIns="0" rIns="0" bIns="0" rtlCol="0" anchor="ctr"/>
          <a:lstStyle/>
          <a:p>
            <a:pPr indent="0" marL="0">
              <a:buNone/>
            </a:pPr>
            <a:r>
              <a:rPr lang="en-US" sz="700" dirty="0">
                <a:solidFill>
                  <a:srgbClr val="A8D8EA"/>
                </a:solidFill>
                <a:latin typeface="Consolas" pitchFamily="34" charset="0"/>
                <a:ea typeface="Consolas" pitchFamily="34" charset="-122"/>
                <a:cs typeface="Consolas" pitchFamily="34" charset="-120"/>
              </a:rPr>
              <a:t>AVERAGE(FACT_KPI_PROGRESS[achievement_pct])</a:t>
            </a:r>
            <a:endParaRPr lang="en-US" sz="700" dirty="0"/>
          </a:p>
        </p:txBody>
      </p:sp>
      <p:sp>
        <p:nvSpPr>
          <p:cNvPr id="19" name="Text 17"/>
          <p:cNvSpPr/>
          <p:nvPr/>
        </p:nvSpPr>
        <p:spPr>
          <a:xfrm>
            <a:off x="4663440" y="2478024"/>
            <a:ext cx="4023360" cy="301752"/>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 What: Average achievement across all 18 Vision 2030 KPIs. Currently 43%. The overall grade for Egypt's 2030 progress.</a:t>
            </a:r>
            <a:endParaRPr lang="en-US" sz="800" dirty="0"/>
          </a:p>
        </p:txBody>
      </p:sp>
      <p:sp>
        <p:nvSpPr>
          <p:cNvPr id="20" name="Text 18"/>
          <p:cNvSpPr/>
          <p:nvPr/>
        </p:nvSpPr>
        <p:spPr>
          <a:xfrm>
            <a:off x="4663440" y="2807208"/>
            <a:ext cx="4023360" cy="301752"/>
          </a:xfrm>
          <a:prstGeom prst="rect">
            <a:avLst/>
          </a:prstGeom>
          <a:noFill/>
          <a:ln/>
        </p:spPr>
        <p:txBody>
          <a:bodyPr wrap="square" lIns="0" tIns="0" rIns="0" bIns="0" rtlCol="0" anchor="ctr"/>
          <a:lstStyle/>
          <a:p>
            <a:pPr indent="0" marL="0">
              <a:buNone/>
            </a:pPr>
            <a:r>
              <a:rPr lang="en-US" sz="800" dirty="0">
                <a:solidFill>
                  <a:srgbClr val="007B55"/>
                </a:solidFill>
                <a:latin typeface="Calibri" pitchFamily="34" charset="0"/>
                <a:ea typeface="Calibri" pitchFamily="34" charset="-122"/>
                <a:cs typeface="Calibri" pitchFamily="34" charset="-120"/>
              </a:rPr>
              <a:t>⭐ Why: Appears on P1 and P7. The single most important summary statistic for Vision 2030 tracking.</a:t>
            </a:r>
            <a:endParaRPr lang="en-US" sz="800" dirty="0"/>
          </a:p>
        </p:txBody>
      </p:sp>
      <p:sp>
        <p:nvSpPr>
          <p:cNvPr id="21" name="Shape 19"/>
          <p:cNvSpPr/>
          <p:nvPr/>
        </p:nvSpPr>
        <p:spPr>
          <a:xfrm>
            <a:off x="365760" y="3218688"/>
            <a:ext cx="8412480" cy="713232"/>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22" name="Shape 20"/>
          <p:cNvSpPr/>
          <p:nvPr/>
        </p:nvSpPr>
        <p:spPr>
          <a:xfrm>
            <a:off x="365760" y="3218688"/>
            <a:ext cx="1234440" cy="219456"/>
          </a:xfrm>
          <a:prstGeom prst="rect">
            <a:avLst/>
          </a:prstGeom>
          <a:solidFill>
            <a:srgbClr val="007B55"/>
          </a:solidFill>
          <a:ln w="12700">
            <a:solidFill>
              <a:srgbClr val="007B55"/>
            </a:solidFill>
            <a:prstDash val="solid"/>
          </a:ln>
        </p:spPr>
      </p:sp>
      <p:sp>
        <p:nvSpPr>
          <p:cNvPr id="23" name="Text 21"/>
          <p:cNvSpPr/>
          <p:nvPr/>
        </p:nvSpPr>
        <p:spPr>
          <a:xfrm>
            <a:off x="365760" y="3218688"/>
            <a:ext cx="1234440" cy="219456"/>
          </a:xfrm>
          <a:prstGeom prst="rect">
            <a:avLst/>
          </a:prstGeom>
          <a:noFill/>
          <a:ln/>
        </p:spPr>
        <p:txBody>
          <a:bodyPr wrap="square" lIns="0" tIns="0" rIns="0" bIns="0"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Diversification Index</a:t>
            </a:r>
            <a:endParaRPr lang="en-US" sz="700" dirty="0"/>
          </a:p>
        </p:txBody>
      </p:sp>
      <p:sp>
        <p:nvSpPr>
          <p:cNvPr id="24" name="Text 22"/>
          <p:cNvSpPr/>
          <p:nvPr/>
        </p:nvSpPr>
        <p:spPr>
          <a:xfrm>
            <a:off x="1664208" y="3246120"/>
            <a:ext cx="2926080" cy="219456"/>
          </a:xfrm>
          <a:prstGeom prst="rect">
            <a:avLst/>
          </a:prstGeom>
          <a:noFill/>
          <a:ln/>
        </p:spPr>
        <p:txBody>
          <a:bodyPr wrap="square" lIns="0" tIns="0" rIns="0" bIns="0" rtlCol="0" anchor="ctr"/>
          <a:lstStyle/>
          <a:p>
            <a:pPr indent="0" marL="0">
              <a:buNone/>
            </a:pPr>
            <a:r>
              <a:rPr lang="en-US" sz="1000" b="1" dirty="0">
                <a:solidFill>
                  <a:srgbClr val="0A2342"/>
                </a:solidFill>
                <a:latin typeface="Calibri" pitchFamily="34" charset="0"/>
                <a:ea typeface="Calibri" pitchFamily="34" charset="-122"/>
                <a:cs typeface="Calibri" pitchFamily="34" charset="-120"/>
              </a:rPr>
              <a:t>Geographic HHI</a:t>
            </a:r>
            <a:endParaRPr lang="en-US" sz="1000" dirty="0"/>
          </a:p>
        </p:txBody>
      </p:sp>
      <p:sp>
        <p:nvSpPr>
          <p:cNvPr id="25" name="Shape 23"/>
          <p:cNvSpPr/>
          <p:nvPr/>
        </p:nvSpPr>
        <p:spPr>
          <a:xfrm>
            <a:off x="365760" y="3456432"/>
            <a:ext cx="4160520" cy="438912"/>
          </a:xfrm>
          <a:prstGeom prst="rect">
            <a:avLst/>
          </a:prstGeom>
          <a:solidFill>
            <a:srgbClr val="1A1A2E"/>
          </a:solidFill>
          <a:ln w="12700">
            <a:solidFill>
              <a:srgbClr val="1A1A2E"/>
            </a:solidFill>
            <a:prstDash val="solid"/>
          </a:ln>
        </p:spPr>
      </p:sp>
      <p:sp>
        <p:nvSpPr>
          <p:cNvPr id="26" name="Text 24"/>
          <p:cNvSpPr/>
          <p:nvPr/>
        </p:nvSpPr>
        <p:spPr>
          <a:xfrm>
            <a:off x="457200" y="3456432"/>
            <a:ext cx="4069080" cy="438912"/>
          </a:xfrm>
          <a:prstGeom prst="rect">
            <a:avLst/>
          </a:prstGeom>
          <a:noFill/>
          <a:ln/>
        </p:spPr>
        <p:txBody>
          <a:bodyPr wrap="square" lIns="0" tIns="0" rIns="0" bIns="0" rtlCol="0" anchor="ctr"/>
          <a:lstStyle/>
          <a:p>
            <a:pPr indent="0" marL="0">
              <a:buNone/>
            </a:pPr>
            <a:r>
              <a:rPr lang="en-US" sz="700" dirty="0">
                <a:solidFill>
                  <a:srgbClr val="A8D8EA"/>
                </a:solidFill>
                <a:latin typeface="Consolas" pitchFamily="34" charset="0"/>
                <a:ea typeface="Consolas" pitchFamily="34" charset="-122"/>
                <a:cs typeface="Consolas" pitchFamily="34" charset="-120"/>
              </a:rPr>
              <a:t>SUMX(</a:t>
            </a:r>
            <a:endParaRPr lang="en-US" sz="700" dirty="0"/>
          </a:p>
          <a:p>
            <a:pPr indent="0" marL="0">
              <a:buNone/>
            </a:pPr>
            <a:r>
              <a:rPr lang="en-US" sz="700" dirty="0">
                <a:solidFill>
                  <a:srgbClr val="A8D8EA"/>
                </a:solidFill>
                <a:latin typeface="Consolas" pitchFamily="34" charset="0"/>
                <a:ea typeface="Consolas" pitchFamily="34" charset="-122"/>
                <a:cs typeface="Consolas" pitchFamily="34" charset="-120"/>
              </a:rPr>
              <a:t>  SUMMARIZE(FACT_BILATERAL_FLOWS,</a:t>
            </a:r>
            <a:endParaRPr lang="en-US" sz="700" dirty="0"/>
          </a:p>
          <a:p>
            <a:pPr indent="0" marL="0">
              <a:buNone/>
            </a:pPr>
            <a:r>
              <a:rPr lang="en-US" sz="700" dirty="0">
                <a:solidFill>
                  <a:srgbClr val="A8D8EA"/>
                </a:solidFill>
                <a:latin typeface="Consolas" pitchFamily="34" charset="0"/>
                <a:ea typeface="Consolas" pitchFamily="34" charset="-122"/>
                <a:cs typeface="Consolas" pitchFamily="34" charset="-120"/>
              </a:rPr>
              <a:t>    FACT_BILATERAL_FLOWS[partner_country_en],</a:t>
            </a:r>
            <a:endParaRPr lang="en-US" sz="700" dirty="0"/>
          </a:p>
          <a:p>
            <a:pPr indent="0" marL="0">
              <a:buNone/>
            </a:pPr>
            <a:r>
              <a:rPr lang="en-US" sz="700" dirty="0">
                <a:solidFill>
                  <a:srgbClr val="A8D8EA"/>
                </a:solidFill>
                <a:latin typeface="Consolas" pitchFamily="34" charset="0"/>
                <a:ea typeface="Consolas" pitchFamily="34" charset="-122"/>
                <a:cs typeface="Consolas" pitchFamily="34" charset="-120"/>
              </a:rPr>
              <a:t>    "PartnerExp", SUM([export_usd_m])),</a:t>
            </a:r>
            <a:endParaRPr lang="en-US" sz="700" dirty="0"/>
          </a:p>
          <a:p>
            <a:pPr indent="0" marL="0">
              <a:buNone/>
            </a:pPr>
            <a:r>
              <a:rPr lang="en-US" sz="700" dirty="0">
                <a:solidFill>
                  <a:srgbClr val="A8D8EA"/>
                </a:solidFill>
                <a:latin typeface="Consolas" pitchFamily="34" charset="0"/>
                <a:ea typeface="Consolas" pitchFamily="34" charset="-122"/>
                <a:cs typeface="Consolas" pitchFamily="34" charset="-120"/>
              </a:rPr>
              <a:t>  POWER(DIVIDE([PartnerExp], TotalExp, 0), 2)</a:t>
            </a:r>
            <a:endParaRPr lang="en-US" sz="700" dirty="0"/>
          </a:p>
          <a:p>
            <a:pPr indent="0" marL="0">
              <a:buNone/>
            </a:pPr>
            <a:r>
              <a:rPr lang="en-US" sz="700" dirty="0">
                <a:solidFill>
                  <a:srgbClr val="A8D8EA"/>
                </a:solidFill>
                <a:latin typeface="Consolas" pitchFamily="34" charset="0"/>
                <a:ea typeface="Consolas" pitchFamily="34" charset="-122"/>
                <a:cs typeface="Consolas" pitchFamily="34" charset="-120"/>
              </a:rPr>
              <a:t>)</a:t>
            </a:r>
            <a:endParaRPr lang="en-US" sz="700" dirty="0"/>
          </a:p>
        </p:txBody>
      </p:sp>
      <p:sp>
        <p:nvSpPr>
          <p:cNvPr id="27" name="Text 25"/>
          <p:cNvSpPr/>
          <p:nvPr/>
        </p:nvSpPr>
        <p:spPr>
          <a:xfrm>
            <a:off x="4663440" y="3255264"/>
            <a:ext cx="4023360" cy="301752"/>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 What: Herfindahl-Hirschman Index: sum of squared export shares by partner. Ranges 0 (perfect) to 1 (concentrated).</a:t>
            </a:r>
            <a:endParaRPr lang="en-US" sz="800" dirty="0"/>
          </a:p>
        </p:txBody>
      </p:sp>
      <p:sp>
        <p:nvSpPr>
          <p:cNvPr id="28" name="Text 26"/>
          <p:cNvSpPr/>
          <p:nvPr/>
        </p:nvSpPr>
        <p:spPr>
          <a:xfrm>
            <a:off x="4663440" y="3584448"/>
            <a:ext cx="4023360" cy="301752"/>
          </a:xfrm>
          <a:prstGeom prst="rect">
            <a:avLst/>
          </a:prstGeom>
          <a:noFill/>
          <a:ln/>
        </p:spPr>
        <p:txBody>
          <a:bodyPr wrap="square" lIns="0" tIns="0" rIns="0" bIns="0" rtlCol="0" anchor="ctr"/>
          <a:lstStyle/>
          <a:p>
            <a:pPr indent="0" marL="0">
              <a:buNone/>
            </a:pPr>
            <a:r>
              <a:rPr lang="en-US" sz="800" dirty="0">
                <a:solidFill>
                  <a:srgbClr val="007B55"/>
                </a:solidFill>
                <a:latin typeface="Calibri" pitchFamily="34" charset="0"/>
                <a:ea typeface="Calibri" pitchFamily="34" charset="-122"/>
                <a:cs typeface="Calibri" pitchFamily="34" charset="-120"/>
              </a:rPr>
              <a:t>⭐ Why: Egypt's HHI ~0.22 approaches the DOJ 'highly concentrated' threshold of 0.25 — the mathematical case for diversification.</a:t>
            </a:r>
            <a:endParaRPr lang="en-US" sz="800" dirty="0"/>
          </a:p>
        </p:txBody>
      </p:sp>
      <p:sp>
        <p:nvSpPr>
          <p:cNvPr id="29" name="Shape 27"/>
          <p:cNvSpPr/>
          <p:nvPr/>
        </p:nvSpPr>
        <p:spPr>
          <a:xfrm>
            <a:off x="365760" y="3995928"/>
            <a:ext cx="8412480" cy="713232"/>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30" name="Shape 28"/>
          <p:cNvSpPr/>
          <p:nvPr/>
        </p:nvSpPr>
        <p:spPr>
          <a:xfrm>
            <a:off x="365760" y="3995928"/>
            <a:ext cx="1234440" cy="219456"/>
          </a:xfrm>
          <a:prstGeom prst="rect">
            <a:avLst/>
          </a:prstGeom>
          <a:solidFill>
            <a:srgbClr val="007B55"/>
          </a:solidFill>
          <a:ln w="12700">
            <a:solidFill>
              <a:srgbClr val="007B55"/>
            </a:solidFill>
            <a:prstDash val="solid"/>
          </a:ln>
        </p:spPr>
      </p:sp>
      <p:sp>
        <p:nvSpPr>
          <p:cNvPr id="31" name="Text 29"/>
          <p:cNvSpPr/>
          <p:nvPr/>
        </p:nvSpPr>
        <p:spPr>
          <a:xfrm>
            <a:off x="365760" y="3995928"/>
            <a:ext cx="1234440" cy="219456"/>
          </a:xfrm>
          <a:prstGeom prst="rect">
            <a:avLst/>
          </a:prstGeom>
          <a:noFill/>
          <a:ln/>
        </p:spPr>
        <p:txBody>
          <a:bodyPr wrap="square" lIns="0" tIns="0" rIns="0" bIns="0"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Growth KPI</a:t>
            </a:r>
            <a:endParaRPr lang="en-US" sz="700" dirty="0"/>
          </a:p>
        </p:txBody>
      </p:sp>
      <p:sp>
        <p:nvSpPr>
          <p:cNvPr id="32" name="Text 30"/>
          <p:cNvSpPr/>
          <p:nvPr/>
        </p:nvSpPr>
        <p:spPr>
          <a:xfrm>
            <a:off x="1664208" y="4023360"/>
            <a:ext cx="2926080" cy="219456"/>
          </a:xfrm>
          <a:prstGeom prst="rect">
            <a:avLst/>
          </a:prstGeom>
          <a:noFill/>
          <a:ln/>
        </p:spPr>
        <p:txBody>
          <a:bodyPr wrap="square" lIns="0" tIns="0" rIns="0" bIns="0" rtlCol="0" anchor="ctr"/>
          <a:lstStyle/>
          <a:p>
            <a:pPr indent="0" marL="0">
              <a:buNone/>
            </a:pPr>
            <a:r>
              <a:rPr lang="en-US" sz="1000" b="1" dirty="0">
                <a:solidFill>
                  <a:srgbClr val="0A2342"/>
                </a:solidFill>
                <a:latin typeface="Calibri" pitchFamily="34" charset="0"/>
                <a:ea typeface="Calibri" pitchFamily="34" charset="-122"/>
                <a:cs typeface="Calibri" pitchFamily="34" charset="-120"/>
              </a:rPr>
              <a:t>CAGR Exports 2010–2024</a:t>
            </a:r>
            <a:endParaRPr lang="en-US" sz="1000" dirty="0"/>
          </a:p>
        </p:txBody>
      </p:sp>
      <p:sp>
        <p:nvSpPr>
          <p:cNvPr id="33" name="Shape 31"/>
          <p:cNvSpPr/>
          <p:nvPr/>
        </p:nvSpPr>
        <p:spPr>
          <a:xfrm>
            <a:off x="365760" y="4233672"/>
            <a:ext cx="4160520" cy="438912"/>
          </a:xfrm>
          <a:prstGeom prst="rect">
            <a:avLst/>
          </a:prstGeom>
          <a:solidFill>
            <a:srgbClr val="1A1A2E"/>
          </a:solidFill>
          <a:ln w="12700">
            <a:solidFill>
              <a:srgbClr val="1A1A2E"/>
            </a:solidFill>
            <a:prstDash val="solid"/>
          </a:ln>
        </p:spPr>
      </p:sp>
      <p:sp>
        <p:nvSpPr>
          <p:cNvPr id="34" name="Text 32"/>
          <p:cNvSpPr/>
          <p:nvPr/>
        </p:nvSpPr>
        <p:spPr>
          <a:xfrm>
            <a:off x="457200" y="4233672"/>
            <a:ext cx="4069080" cy="438912"/>
          </a:xfrm>
          <a:prstGeom prst="rect">
            <a:avLst/>
          </a:prstGeom>
          <a:noFill/>
          <a:ln/>
        </p:spPr>
        <p:txBody>
          <a:bodyPr wrap="square" lIns="0" tIns="0" rIns="0" bIns="0" rtlCol="0" anchor="ctr"/>
          <a:lstStyle/>
          <a:p>
            <a:pPr indent="0" marL="0">
              <a:buNone/>
            </a:pPr>
            <a:r>
              <a:rPr lang="en-US" sz="700" dirty="0">
                <a:solidFill>
                  <a:srgbClr val="A8D8EA"/>
                </a:solidFill>
                <a:latin typeface="Consolas" pitchFamily="34" charset="0"/>
                <a:ea typeface="Consolas" pitchFamily="34" charset="-122"/>
                <a:cs typeface="Consolas" pitchFamily="34" charset="-120"/>
              </a:rPr>
              <a:t>VAR ExportsStart = CALCULATE([Total Exports USD M], DIM_DATE[year]=2010)</a:t>
            </a:r>
            <a:endParaRPr lang="en-US" sz="700" dirty="0"/>
          </a:p>
          <a:p>
            <a:pPr indent="0" marL="0">
              <a:buNone/>
            </a:pPr>
            <a:r>
              <a:rPr lang="en-US" sz="700" dirty="0">
                <a:solidFill>
                  <a:srgbClr val="A8D8EA"/>
                </a:solidFill>
                <a:latin typeface="Consolas" pitchFamily="34" charset="0"/>
                <a:ea typeface="Consolas" pitchFamily="34" charset="-122"/>
                <a:cs typeface="Consolas" pitchFamily="34" charset="-120"/>
              </a:rPr>
              <a:t>VAR ExportsEnd   = CALCULATE([Total Exports USD M], DIM_DATE[year]=2024)</a:t>
            </a:r>
            <a:endParaRPr lang="en-US" sz="700" dirty="0"/>
          </a:p>
          <a:p>
            <a:pPr indent="0" marL="0">
              <a:buNone/>
            </a:pPr>
            <a:r>
              <a:rPr lang="en-US" sz="700" dirty="0">
                <a:solidFill>
                  <a:srgbClr val="A8D8EA"/>
                </a:solidFill>
                <a:latin typeface="Consolas" pitchFamily="34" charset="0"/>
                <a:ea typeface="Consolas" pitchFamily="34" charset="-122"/>
                <a:cs typeface="Consolas" pitchFamily="34" charset="-120"/>
              </a:rPr>
              <a:t>RETURN (POWER(DIVIDE(ExportsEnd, ExportsStart), 1/14) - 1) * 100</a:t>
            </a:r>
            <a:endParaRPr lang="en-US" sz="700" dirty="0"/>
          </a:p>
        </p:txBody>
      </p:sp>
      <p:sp>
        <p:nvSpPr>
          <p:cNvPr id="35" name="Text 33"/>
          <p:cNvSpPr/>
          <p:nvPr/>
        </p:nvSpPr>
        <p:spPr>
          <a:xfrm>
            <a:off x="4663440" y="4032504"/>
            <a:ext cx="4023360" cy="301752"/>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 What: Compound Annual Growth Rate: smoothed average growth over 14 years, removing year-to-year volatility.</a:t>
            </a:r>
            <a:endParaRPr lang="en-US" sz="800" dirty="0"/>
          </a:p>
        </p:txBody>
      </p:sp>
      <p:sp>
        <p:nvSpPr>
          <p:cNvPr id="36" name="Text 34"/>
          <p:cNvSpPr/>
          <p:nvPr/>
        </p:nvSpPr>
        <p:spPr>
          <a:xfrm>
            <a:off x="4663440" y="4361688"/>
            <a:ext cx="4023360" cy="301752"/>
          </a:xfrm>
          <a:prstGeom prst="rect">
            <a:avLst/>
          </a:prstGeom>
          <a:noFill/>
          <a:ln/>
        </p:spPr>
        <p:txBody>
          <a:bodyPr wrap="square" lIns="0" tIns="0" rIns="0" bIns="0" rtlCol="0" anchor="ctr"/>
          <a:lstStyle/>
          <a:p>
            <a:pPr indent="0" marL="0">
              <a:buNone/>
            </a:pPr>
            <a:r>
              <a:rPr lang="en-US" sz="800" dirty="0">
                <a:solidFill>
                  <a:srgbClr val="007B55"/>
                </a:solidFill>
                <a:latin typeface="Calibri" pitchFamily="34" charset="0"/>
                <a:ea typeface="Calibri" pitchFamily="34" charset="-122"/>
                <a:cs typeface="Calibri" pitchFamily="34" charset="-120"/>
              </a:rPr>
              <a:t>⭐ Why: Egypt's 2.7% CAGR vs. Vietnam's 14.2% and Morocco's 7.1% — the most powerful peer comparison in the dashboard.</a:t>
            </a:r>
            <a:endParaRPr lang="en-US" sz="800" dirty="0"/>
          </a:p>
        </p:txBody>
      </p:sp>
      <p:sp>
        <p:nvSpPr>
          <p:cNvPr id="37" name="Shape 35"/>
          <p:cNvSpPr/>
          <p:nvPr/>
        </p:nvSpPr>
        <p:spPr>
          <a:xfrm>
            <a:off x="0" y="4873752"/>
            <a:ext cx="9144000" cy="269748"/>
          </a:xfrm>
          <a:prstGeom prst="rect">
            <a:avLst/>
          </a:prstGeom>
          <a:solidFill>
            <a:srgbClr val="0A2342"/>
          </a:solidFill>
          <a:ln w="12700">
            <a:solidFill>
              <a:srgbClr val="0A2342"/>
            </a:solidFill>
            <a:prstDash val="solid"/>
          </a:ln>
        </p:spPr>
      </p:sp>
      <p:sp>
        <p:nvSpPr>
          <p:cNvPr id="38" name="Text 36"/>
          <p:cNvSpPr/>
          <p:nvPr/>
        </p:nvSpPr>
        <p:spPr>
          <a:xfrm>
            <a:off x="274320" y="4882896"/>
            <a:ext cx="8595360" cy="246888"/>
          </a:xfrm>
          <a:prstGeom prst="rect">
            <a:avLst/>
          </a:prstGeom>
          <a:noFill/>
          <a:ln/>
        </p:spPr>
        <p:txBody>
          <a:bodyPr wrap="square" lIns="0" tIns="0" rIns="0" bIns="0" rtlCol="0" anchor="ctr"/>
          <a:lstStyle/>
          <a:p>
            <a:pPr indent="0" marL="0">
              <a:buNone/>
            </a:pPr>
            <a:r>
              <a:rPr lang="en-US" sz="800" dirty="0">
                <a:solidFill>
                  <a:srgbClr val="C9943A"/>
                </a:solidFill>
                <a:latin typeface="Calibri" pitchFamily="34" charset="0"/>
                <a:ea typeface="Calibri" pitchFamily="34" charset="-122"/>
                <a:cs typeface="Calibri" pitchFamily="34" charset="-120"/>
              </a:rPr>
              <a:t>Egyptian Export Observatory  |  DEPI Data Analysis Track  |  CLS-EGX-TRADEG1-T1  |  2025</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2342"/>
        </a:solidFill>
      </p:bgPr>
    </p:bg>
    <p:spTree>
      <p:nvGrpSpPr>
        <p:cNvPr id="1" name=""/>
        <p:cNvGrpSpPr/>
        <p:nvPr/>
      </p:nvGrpSpPr>
      <p:grpSpPr>
        <a:xfrm>
          <a:off x="0" y="0"/>
          <a:ext cx="0" cy="0"/>
          <a:chOff x="0" y="0"/>
          <a:chExt cx="0" cy="0"/>
        </a:xfrm>
      </p:grpSpPr>
      <p:sp>
        <p:nvSpPr>
          <p:cNvPr id="2" name="Text 0"/>
          <p:cNvSpPr/>
          <p:nvPr/>
        </p:nvSpPr>
        <p:spPr>
          <a:xfrm>
            <a:off x="457200" y="164592"/>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Dashboard Pages Overview</a:t>
            </a:r>
            <a:endParaRPr lang="en-US" sz="2600" dirty="0"/>
          </a:p>
        </p:txBody>
      </p:sp>
      <p:sp>
        <p:nvSpPr>
          <p:cNvPr id="3" name="Text 1"/>
          <p:cNvSpPr/>
          <p:nvPr/>
        </p:nvSpPr>
        <p:spPr>
          <a:xfrm>
            <a:off x="457200" y="694944"/>
            <a:ext cx="8229600" cy="274320"/>
          </a:xfrm>
          <a:prstGeom prst="rect">
            <a:avLst/>
          </a:prstGeom>
          <a:noFill/>
          <a:ln/>
        </p:spPr>
        <p:txBody>
          <a:bodyPr wrap="square" lIns="0" tIns="0" rIns="0" bIns="0" rtlCol="0" anchor="ctr"/>
          <a:lstStyle/>
          <a:p>
            <a:pPr indent="0" marL="0">
              <a:buNone/>
            </a:pPr>
            <a:r>
              <a:rPr lang="en-US" sz="1100" dirty="0">
                <a:solidFill>
                  <a:srgbClr val="C9943A"/>
                </a:solidFill>
                <a:latin typeface="Calibri" pitchFamily="34" charset="0"/>
                <a:ea typeface="Calibri" pitchFamily="34" charset="-122"/>
                <a:cs typeface="Calibri" pitchFamily="34" charset="-120"/>
              </a:rPr>
              <a:t>8 Interactive Pages · Drill-through · Bookmarks · What-If Parameters · Custom Tooltips</a:t>
            </a:r>
            <a:endParaRPr lang="en-US" sz="1100" dirty="0"/>
          </a:p>
        </p:txBody>
      </p:sp>
      <p:sp>
        <p:nvSpPr>
          <p:cNvPr id="4" name="Shape 2"/>
          <p:cNvSpPr/>
          <p:nvPr/>
        </p:nvSpPr>
        <p:spPr>
          <a:xfrm>
            <a:off x="457200" y="1024128"/>
            <a:ext cx="8229600" cy="27432"/>
          </a:xfrm>
          <a:prstGeom prst="rect">
            <a:avLst/>
          </a:prstGeom>
          <a:solidFill>
            <a:srgbClr val="C9943A"/>
          </a:solidFill>
          <a:ln w="12700">
            <a:solidFill>
              <a:srgbClr val="C9943A"/>
            </a:solidFill>
            <a:prstDash val="solid"/>
          </a:ln>
        </p:spPr>
      </p:sp>
      <p:sp>
        <p:nvSpPr>
          <p:cNvPr id="5" name="Shape 3"/>
          <p:cNvSpPr/>
          <p:nvPr/>
        </p:nvSpPr>
        <p:spPr>
          <a:xfrm>
            <a:off x="320040" y="1170432"/>
            <a:ext cx="1938528" cy="1737360"/>
          </a:xfrm>
          <a:prstGeom prst="rect">
            <a:avLst/>
          </a:prstGeom>
          <a:solidFill>
            <a:srgbClr val="163A60"/>
          </a:solidFill>
          <a:ln w="12700">
            <a:solidFill>
              <a:srgbClr val="C9943A"/>
            </a:solidFill>
            <a:prstDash val="solid"/>
          </a:ln>
          <a:effectLst>
            <a:outerShdw sx="100000" sy="100000" kx="0" ky="0" algn="bl" rotWithShape="0" blurRad="101600" dist="25400" dir="8100000">
              <a:srgbClr val="000000">
                <a:alpha val="13000"/>
              </a:srgbClr>
            </a:outerShdw>
          </a:effectLst>
        </p:spPr>
      </p:sp>
      <p:sp>
        <p:nvSpPr>
          <p:cNvPr id="6" name="Shape 4"/>
          <p:cNvSpPr/>
          <p:nvPr/>
        </p:nvSpPr>
        <p:spPr>
          <a:xfrm>
            <a:off x="320040" y="1170432"/>
            <a:ext cx="502920" cy="292608"/>
          </a:xfrm>
          <a:prstGeom prst="rect">
            <a:avLst/>
          </a:prstGeom>
          <a:solidFill>
            <a:srgbClr val="C9943A"/>
          </a:solidFill>
          <a:ln w="12700">
            <a:solidFill>
              <a:srgbClr val="C9943A"/>
            </a:solidFill>
            <a:prstDash val="solid"/>
          </a:ln>
        </p:spPr>
      </p:sp>
      <p:sp>
        <p:nvSpPr>
          <p:cNvPr id="7" name="Text 5"/>
          <p:cNvSpPr/>
          <p:nvPr/>
        </p:nvSpPr>
        <p:spPr>
          <a:xfrm>
            <a:off x="320040" y="1170432"/>
            <a:ext cx="502920" cy="292608"/>
          </a:xfrm>
          <a:prstGeom prst="rect">
            <a:avLst/>
          </a:prstGeom>
          <a:noFill/>
          <a:ln/>
        </p:spPr>
        <p:txBody>
          <a:bodyPr wrap="square" lIns="0" tIns="0" rIns="0" bIns="0" rtlCol="0" anchor="ctr"/>
          <a:lstStyle/>
          <a:p>
            <a:pPr algn="ctr" indent="0" marL="0">
              <a:buNone/>
            </a:pPr>
            <a:r>
              <a:rPr lang="en-US" sz="1100" b="1" dirty="0">
                <a:solidFill>
                  <a:srgbClr val="0A2342"/>
                </a:solidFill>
                <a:latin typeface="Calibri" pitchFamily="34" charset="0"/>
                <a:ea typeface="Calibri" pitchFamily="34" charset="-122"/>
                <a:cs typeface="Calibri" pitchFamily="34" charset="-120"/>
              </a:rPr>
              <a:t>P1</a:t>
            </a:r>
            <a:endParaRPr lang="en-US" sz="1100" dirty="0"/>
          </a:p>
        </p:txBody>
      </p:sp>
      <p:sp>
        <p:nvSpPr>
          <p:cNvPr id="8" name="Text 6"/>
          <p:cNvSpPr/>
          <p:nvPr/>
        </p:nvSpPr>
        <p:spPr>
          <a:xfrm>
            <a:off x="868680" y="1207008"/>
            <a:ext cx="1325880"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Executive Summary</a:t>
            </a:r>
            <a:endParaRPr lang="en-US" sz="850" dirty="0"/>
          </a:p>
        </p:txBody>
      </p:sp>
      <p:sp>
        <p:nvSpPr>
          <p:cNvPr id="9" name="Text 7"/>
          <p:cNvSpPr/>
          <p:nvPr/>
        </p:nvSpPr>
        <p:spPr>
          <a:xfrm>
            <a:off x="393192" y="1517904"/>
            <a:ext cx="1810512" cy="384048"/>
          </a:xfrm>
          <a:prstGeom prst="rect">
            <a:avLst/>
          </a:prstGeom>
          <a:noFill/>
          <a:ln/>
        </p:spPr>
        <p:txBody>
          <a:bodyPr wrap="square" lIns="0" tIns="0" rIns="0" bIns="0" rtlCol="0" anchor="ctr"/>
          <a:lstStyle/>
          <a:p>
            <a:pPr indent="0" marL="0">
              <a:buNone/>
            </a:pPr>
            <a:r>
              <a:rPr lang="en-US" sz="750" i="1" dirty="0">
                <a:solidFill>
                  <a:srgbClr val="C9943A"/>
                </a:solidFill>
                <a:latin typeface="Calibri" pitchFamily="34" charset="0"/>
                <a:ea typeface="Calibri" pitchFamily="34" charset="-122"/>
                <a:cs typeface="Calibri" pitchFamily="34" charset="-120"/>
              </a:rPr>
              <a:t>What is Egypt's trade situation right now?</a:t>
            </a:r>
            <a:endParaRPr lang="en-US" sz="750" dirty="0"/>
          </a:p>
        </p:txBody>
      </p:sp>
      <p:sp>
        <p:nvSpPr>
          <p:cNvPr id="10" name="Text 8"/>
          <p:cNvSpPr/>
          <p:nvPr/>
        </p:nvSpPr>
        <p:spPr>
          <a:xfrm>
            <a:off x="393192" y="1938528"/>
            <a:ext cx="1810512" cy="914400"/>
          </a:xfrm>
          <a:prstGeom prst="rect">
            <a:avLst/>
          </a:prstGeom>
          <a:noFill/>
          <a:ln/>
        </p:spPr>
        <p:txBody>
          <a:bodyPr wrap="square" lIns="0" tIns="0" rIns="0" bIns="0" rtlCol="0" anchor="ctr"/>
          <a:lstStyle/>
          <a:p>
            <a:pPr indent="0" marL="0">
              <a:buNone/>
            </a:pPr>
            <a:r>
              <a:rPr lang="en-US" sz="700" dirty="0">
                <a:solidFill>
                  <a:srgbClr val="A0B8D0"/>
                </a:solidFill>
                <a:latin typeface="Calibri" pitchFamily="34" charset="0"/>
                <a:ea typeface="Calibri" pitchFamily="34" charset="-122"/>
                <a:cs typeface="Calibri" pitchFamily="34" charset="-120"/>
              </a:rPr>
              <a:t>4 KPI cards · Trade Balance Waterfall Chart · Export vs. Import Area Chart · Vision 2030 progress indicator</a:t>
            </a:r>
            <a:endParaRPr lang="en-US" sz="700" dirty="0"/>
          </a:p>
        </p:txBody>
      </p:sp>
      <p:sp>
        <p:nvSpPr>
          <p:cNvPr id="11" name="Shape 9"/>
          <p:cNvSpPr/>
          <p:nvPr/>
        </p:nvSpPr>
        <p:spPr>
          <a:xfrm>
            <a:off x="2377440" y="1170432"/>
            <a:ext cx="1938528" cy="1737360"/>
          </a:xfrm>
          <a:prstGeom prst="rect">
            <a:avLst/>
          </a:prstGeom>
          <a:solidFill>
            <a:srgbClr val="163A60"/>
          </a:solidFill>
          <a:ln w="12700">
            <a:solidFill>
              <a:srgbClr val="C9943A"/>
            </a:solidFill>
            <a:prstDash val="solid"/>
          </a:ln>
          <a:effectLst>
            <a:outerShdw sx="100000" sy="100000" kx="0" ky="0" algn="bl" rotWithShape="0" blurRad="101600" dist="25400" dir="8100000">
              <a:srgbClr val="000000">
                <a:alpha val="13000"/>
              </a:srgbClr>
            </a:outerShdw>
          </a:effectLst>
        </p:spPr>
      </p:sp>
      <p:sp>
        <p:nvSpPr>
          <p:cNvPr id="12" name="Shape 10"/>
          <p:cNvSpPr/>
          <p:nvPr/>
        </p:nvSpPr>
        <p:spPr>
          <a:xfrm>
            <a:off x="2377440" y="1170432"/>
            <a:ext cx="502920" cy="292608"/>
          </a:xfrm>
          <a:prstGeom prst="rect">
            <a:avLst/>
          </a:prstGeom>
          <a:solidFill>
            <a:srgbClr val="C9943A"/>
          </a:solidFill>
          <a:ln w="12700">
            <a:solidFill>
              <a:srgbClr val="C9943A"/>
            </a:solidFill>
            <a:prstDash val="solid"/>
          </a:ln>
        </p:spPr>
      </p:sp>
      <p:sp>
        <p:nvSpPr>
          <p:cNvPr id="13" name="Text 11"/>
          <p:cNvSpPr/>
          <p:nvPr/>
        </p:nvSpPr>
        <p:spPr>
          <a:xfrm>
            <a:off x="2377440" y="1170432"/>
            <a:ext cx="502920" cy="292608"/>
          </a:xfrm>
          <a:prstGeom prst="rect">
            <a:avLst/>
          </a:prstGeom>
          <a:noFill/>
          <a:ln/>
        </p:spPr>
        <p:txBody>
          <a:bodyPr wrap="square" lIns="0" tIns="0" rIns="0" bIns="0" rtlCol="0" anchor="ctr"/>
          <a:lstStyle/>
          <a:p>
            <a:pPr algn="ctr" indent="0" marL="0">
              <a:buNone/>
            </a:pPr>
            <a:r>
              <a:rPr lang="en-US" sz="1100" b="1" dirty="0">
                <a:solidFill>
                  <a:srgbClr val="0A2342"/>
                </a:solidFill>
                <a:latin typeface="Calibri" pitchFamily="34" charset="0"/>
                <a:ea typeface="Calibri" pitchFamily="34" charset="-122"/>
                <a:cs typeface="Calibri" pitchFamily="34" charset="-120"/>
              </a:rPr>
              <a:t>P2</a:t>
            </a:r>
            <a:endParaRPr lang="en-US" sz="1100" dirty="0"/>
          </a:p>
        </p:txBody>
      </p:sp>
      <p:sp>
        <p:nvSpPr>
          <p:cNvPr id="14" name="Text 12"/>
          <p:cNvSpPr/>
          <p:nvPr/>
        </p:nvSpPr>
        <p:spPr>
          <a:xfrm>
            <a:off x="2926080" y="1207008"/>
            <a:ext cx="1325880"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Trade Trends 2010–2024</a:t>
            </a:r>
            <a:endParaRPr lang="en-US" sz="850" dirty="0"/>
          </a:p>
        </p:txBody>
      </p:sp>
      <p:sp>
        <p:nvSpPr>
          <p:cNvPr id="15" name="Text 13"/>
          <p:cNvSpPr/>
          <p:nvPr/>
        </p:nvSpPr>
        <p:spPr>
          <a:xfrm>
            <a:off x="2450592" y="1517904"/>
            <a:ext cx="1810512" cy="384048"/>
          </a:xfrm>
          <a:prstGeom prst="rect">
            <a:avLst/>
          </a:prstGeom>
          <a:noFill/>
          <a:ln/>
        </p:spPr>
        <p:txBody>
          <a:bodyPr wrap="square" lIns="0" tIns="0" rIns="0" bIns="0" rtlCol="0" anchor="ctr"/>
          <a:lstStyle/>
          <a:p>
            <a:pPr indent="0" marL="0">
              <a:buNone/>
            </a:pPr>
            <a:r>
              <a:rPr lang="en-US" sz="750" i="1" dirty="0">
                <a:solidFill>
                  <a:srgbClr val="C9943A"/>
                </a:solidFill>
                <a:latin typeface="Calibri" pitchFamily="34" charset="0"/>
                <a:ea typeface="Calibri" pitchFamily="34" charset="-122"/>
                <a:cs typeface="Calibri" pitchFamily="34" charset="-120"/>
              </a:rPr>
              <a:t>Is export growth structural or cyclical?</a:t>
            </a:r>
            <a:endParaRPr lang="en-US" sz="750" dirty="0"/>
          </a:p>
        </p:txBody>
      </p:sp>
      <p:sp>
        <p:nvSpPr>
          <p:cNvPr id="16" name="Text 14"/>
          <p:cNvSpPr/>
          <p:nvPr/>
        </p:nvSpPr>
        <p:spPr>
          <a:xfrm>
            <a:off x="2450592" y="1938528"/>
            <a:ext cx="1810512" cy="914400"/>
          </a:xfrm>
          <a:prstGeom prst="rect">
            <a:avLst/>
          </a:prstGeom>
          <a:noFill/>
          <a:ln/>
        </p:spPr>
        <p:txBody>
          <a:bodyPr wrap="square" lIns="0" tIns="0" rIns="0" bIns="0" rtlCol="0" anchor="ctr"/>
          <a:lstStyle/>
          <a:p>
            <a:pPr indent="0" marL="0">
              <a:buNone/>
            </a:pPr>
            <a:r>
              <a:rPr lang="en-US" sz="700" dirty="0">
                <a:solidFill>
                  <a:srgbClr val="A0B8D0"/>
                </a:solidFill>
                <a:latin typeface="Calibri" pitchFamily="34" charset="0"/>
                <a:ea typeface="Calibri" pitchFamily="34" charset="-122"/>
                <a:cs typeface="Calibri" pitchFamily="34" charset="-120"/>
              </a:rPr>
              <a:t>15-year multi-line chart separating oil vs. non-oil · Ribbon chart for sector rank shifts · YoY growth bar chart</a:t>
            </a:r>
            <a:endParaRPr lang="en-US" sz="700" dirty="0"/>
          </a:p>
        </p:txBody>
      </p:sp>
      <p:sp>
        <p:nvSpPr>
          <p:cNvPr id="17" name="Shape 15"/>
          <p:cNvSpPr/>
          <p:nvPr/>
        </p:nvSpPr>
        <p:spPr>
          <a:xfrm>
            <a:off x="4434840" y="1170432"/>
            <a:ext cx="1938528" cy="1737360"/>
          </a:xfrm>
          <a:prstGeom prst="rect">
            <a:avLst/>
          </a:prstGeom>
          <a:solidFill>
            <a:srgbClr val="163A60"/>
          </a:solidFill>
          <a:ln w="12700">
            <a:solidFill>
              <a:srgbClr val="C9943A"/>
            </a:solidFill>
            <a:prstDash val="solid"/>
          </a:ln>
          <a:effectLst>
            <a:outerShdw sx="100000" sy="100000" kx="0" ky="0" algn="bl" rotWithShape="0" blurRad="101600" dist="25400" dir="8100000">
              <a:srgbClr val="000000">
                <a:alpha val="13000"/>
              </a:srgbClr>
            </a:outerShdw>
          </a:effectLst>
        </p:spPr>
      </p:sp>
      <p:sp>
        <p:nvSpPr>
          <p:cNvPr id="18" name="Shape 16"/>
          <p:cNvSpPr/>
          <p:nvPr/>
        </p:nvSpPr>
        <p:spPr>
          <a:xfrm>
            <a:off x="4434840" y="1170432"/>
            <a:ext cx="502920" cy="292608"/>
          </a:xfrm>
          <a:prstGeom prst="rect">
            <a:avLst/>
          </a:prstGeom>
          <a:solidFill>
            <a:srgbClr val="C9943A"/>
          </a:solidFill>
          <a:ln w="12700">
            <a:solidFill>
              <a:srgbClr val="C9943A"/>
            </a:solidFill>
            <a:prstDash val="solid"/>
          </a:ln>
        </p:spPr>
      </p:sp>
      <p:sp>
        <p:nvSpPr>
          <p:cNvPr id="19" name="Text 17"/>
          <p:cNvSpPr/>
          <p:nvPr/>
        </p:nvSpPr>
        <p:spPr>
          <a:xfrm>
            <a:off x="4434840" y="1170432"/>
            <a:ext cx="502920" cy="292608"/>
          </a:xfrm>
          <a:prstGeom prst="rect">
            <a:avLst/>
          </a:prstGeom>
          <a:noFill/>
          <a:ln/>
        </p:spPr>
        <p:txBody>
          <a:bodyPr wrap="square" lIns="0" tIns="0" rIns="0" bIns="0" rtlCol="0" anchor="ctr"/>
          <a:lstStyle/>
          <a:p>
            <a:pPr algn="ctr" indent="0" marL="0">
              <a:buNone/>
            </a:pPr>
            <a:r>
              <a:rPr lang="en-US" sz="1100" b="1" dirty="0">
                <a:solidFill>
                  <a:srgbClr val="0A2342"/>
                </a:solidFill>
                <a:latin typeface="Calibri" pitchFamily="34" charset="0"/>
                <a:ea typeface="Calibri" pitchFamily="34" charset="-122"/>
                <a:cs typeface="Calibri" pitchFamily="34" charset="-120"/>
              </a:rPr>
              <a:t>P3</a:t>
            </a:r>
            <a:endParaRPr lang="en-US" sz="1100" dirty="0"/>
          </a:p>
        </p:txBody>
      </p:sp>
      <p:sp>
        <p:nvSpPr>
          <p:cNvPr id="20" name="Text 18"/>
          <p:cNvSpPr/>
          <p:nvPr/>
        </p:nvSpPr>
        <p:spPr>
          <a:xfrm>
            <a:off x="4983480" y="1207008"/>
            <a:ext cx="1325880"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Geographic Intelligence</a:t>
            </a:r>
            <a:endParaRPr lang="en-US" sz="850" dirty="0"/>
          </a:p>
        </p:txBody>
      </p:sp>
      <p:sp>
        <p:nvSpPr>
          <p:cNvPr id="21" name="Text 19"/>
          <p:cNvSpPr/>
          <p:nvPr/>
        </p:nvSpPr>
        <p:spPr>
          <a:xfrm>
            <a:off x="4507992" y="1517904"/>
            <a:ext cx="1810512" cy="384048"/>
          </a:xfrm>
          <a:prstGeom prst="rect">
            <a:avLst/>
          </a:prstGeom>
          <a:noFill/>
          <a:ln/>
        </p:spPr>
        <p:txBody>
          <a:bodyPr wrap="square" lIns="0" tIns="0" rIns="0" bIns="0" rtlCol="0" anchor="ctr"/>
          <a:lstStyle/>
          <a:p>
            <a:pPr indent="0" marL="0">
              <a:buNone/>
            </a:pPr>
            <a:r>
              <a:rPr lang="en-US" sz="750" i="1" dirty="0">
                <a:solidFill>
                  <a:srgbClr val="C9943A"/>
                </a:solidFill>
                <a:latin typeface="Calibri" pitchFamily="34" charset="0"/>
                <a:ea typeface="Calibri" pitchFamily="34" charset="-122"/>
                <a:cs typeface="Calibri" pitchFamily="34" charset="-120"/>
              </a:rPr>
              <a:t>Where should Egypt export more?</a:t>
            </a:r>
            <a:endParaRPr lang="en-US" sz="750" dirty="0"/>
          </a:p>
        </p:txBody>
      </p:sp>
      <p:sp>
        <p:nvSpPr>
          <p:cNvPr id="22" name="Text 20"/>
          <p:cNvSpPr/>
          <p:nvPr/>
        </p:nvSpPr>
        <p:spPr>
          <a:xfrm>
            <a:off x="4507992" y="1938528"/>
            <a:ext cx="1810512" cy="914400"/>
          </a:xfrm>
          <a:prstGeom prst="rect">
            <a:avLst/>
          </a:prstGeom>
          <a:noFill/>
          <a:ln/>
        </p:spPr>
        <p:txBody>
          <a:bodyPr wrap="square" lIns="0" tIns="0" rIns="0" bIns="0" rtlCol="0" anchor="ctr"/>
          <a:lstStyle/>
          <a:p>
            <a:pPr indent="0" marL="0">
              <a:buNone/>
            </a:pPr>
            <a:r>
              <a:rPr lang="en-US" sz="700" dirty="0">
                <a:solidFill>
                  <a:srgbClr val="A0B8D0"/>
                </a:solidFill>
                <a:latin typeface="Calibri" pitchFamily="34" charset="0"/>
                <a:ea typeface="Calibri" pitchFamily="34" charset="-122"/>
                <a:cs typeface="Calibri" pitchFamily="34" charset="-120"/>
              </a:rPr>
              <a:t>Azure Maps filled map · Treemap of top 15 partners · Sankey diagram for regional flow visualization</a:t>
            </a:r>
            <a:endParaRPr lang="en-US" sz="700" dirty="0"/>
          </a:p>
        </p:txBody>
      </p:sp>
      <p:sp>
        <p:nvSpPr>
          <p:cNvPr id="23" name="Shape 21"/>
          <p:cNvSpPr/>
          <p:nvPr/>
        </p:nvSpPr>
        <p:spPr>
          <a:xfrm>
            <a:off x="6492240" y="1170432"/>
            <a:ext cx="1938528" cy="1737360"/>
          </a:xfrm>
          <a:prstGeom prst="rect">
            <a:avLst/>
          </a:prstGeom>
          <a:solidFill>
            <a:srgbClr val="163A60"/>
          </a:solidFill>
          <a:ln w="12700">
            <a:solidFill>
              <a:srgbClr val="C9943A"/>
            </a:solidFill>
            <a:prstDash val="solid"/>
          </a:ln>
          <a:effectLst>
            <a:outerShdw sx="100000" sy="100000" kx="0" ky="0" algn="bl" rotWithShape="0" blurRad="101600" dist="25400" dir="8100000">
              <a:srgbClr val="000000">
                <a:alpha val="13000"/>
              </a:srgbClr>
            </a:outerShdw>
          </a:effectLst>
        </p:spPr>
      </p:sp>
      <p:sp>
        <p:nvSpPr>
          <p:cNvPr id="24" name="Shape 22"/>
          <p:cNvSpPr/>
          <p:nvPr/>
        </p:nvSpPr>
        <p:spPr>
          <a:xfrm>
            <a:off x="6492240" y="1170432"/>
            <a:ext cx="502920" cy="292608"/>
          </a:xfrm>
          <a:prstGeom prst="rect">
            <a:avLst/>
          </a:prstGeom>
          <a:solidFill>
            <a:srgbClr val="C9943A"/>
          </a:solidFill>
          <a:ln w="12700">
            <a:solidFill>
              <a:srgbClr val="C9943A"/>
            </a:solidFill>
            <a:prstDash val="solid"/>
          </a:ln>
        </p:spPr>
      </p:sp>
      <p:sp>
        <p:nvSpPr>
          <p:cNvPr id="25" name="Text 23"/>
          <p:cNvSpPr/>
          <p:nvPr/>
        </p:nvSpPr>
        <p:spPr>
          <a:xfrm>
            <a:off x="6492240" y="1170432"/>
            <a:ext cx="502920" cy="292608"/>
          </a:xfrm>
          <a:prstGeom prst="rect">
            <a:avLst/>
          </a:prstGeom>
          <a:noFill/>
          <a:ln/>
        </p:spPr>
        <p:txBody>
          <a:bodyPr wrap="square" lIns="0" tIns="0" rIns="0" bIns="0" rtlCol="0" anchor="ctr"/>
          <a:lstStyle/>
          <a:p>
            <a:pPr algn="ctr" indent="0" marL="0">
              <a:buNone/>
            </a:pPr>
            <a:r>
              <a:rPr lang="en-US" sz="1100" b="1" dirty="0">
                <a:solidFill>
                  <a:srgbClr val="0A2342"/>
                </a:solidFill>
                <a:latin typeface="Calibri" pitchFamily="34" charset="0"/>
                <a:ea typeface="Calibri" pitchFamily="34" charset="-122"/>
                <a:cs typeface="Calibri" pitchFamily="34" charset="-120"/>
              </a:rPr>
              <a:t>P4</a:t>
            </a:r>
            <a:endParaRPr lang="en-US" sz="1100" dirty="0"/>
          </a:p>
        </p:txBody>
      </p:sp>
      <p:sp>
        <p:nvSpPr>
          <p:cNvPr id="26" name="Text 24"/>
          <p:cNvSpPr/>
          <p:nvPr/>
        </p:nvSpPr>
        <p:spPr>
          <a:xfrm>
            <a:off x="7040880" y="1207008"/>
            <a:ext cx="1325880"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Product &amp; Sector Deep Dive</a:t>
            </a:r>
            <a:endParaRPr lang="en-US" sz="850" dirty="0"/>
          </a:p>
        </p:txBody>
      </p:sp>
      <p:sp>
        <p:nvSpPr>
          <p:cNvPr id="27" name="Text 25"/>
          <p:cNvSpPr/>
          <p:nvPr/>
        </p:nvSpPr>
        <p:spPr>
          <a:xfrm>
            <a:off x="6565392" y="1517904"/>
            <a:ext cx="1810512" cy="384048"/>
          </a:xfrm>
          <a:prstGeom prst="rect">
            <a:avLst/>
          </a:prstGeom>
          <a:noFill/>
          <a:ln/>
        </p:spPr>
        <p:txBody>
          <a:bodyPr wrap="square" lIns="0" tIns="0" rIns="0" bIns="0" rtlCol="0" anchor="ctr"/>
          <a:lstStyle/>
          <a:p>
            <a:pPr indent="0" marL="0">
              <a:buNone/>
            </a:pPr>
            <a:r>
              <a:rPr lang="en-US" sz="750" i="1" dirty="0">
                <a:solidFill>
                  <a:srgbClr val="C9943A"/>
                </a:solidFill>
                <a:latin typeface="Calibri" pitchFamily="34" charset="0"/>
                <a:ea typeface="Calibri" pitchFamily="34" charset="-122"/>
                <a:cs typeface="Calibri" pitchFamily="34" charset="-120"/>
              </a:rPr>
              <a:t>What is Egypt exporting and at what sophistication?</a:t>
            </a:r>
            <a:endParaRPr lang="en-US" sz="750" dirty="0"/>
          </a:p>
        </p:txBody>
      </p:sp>
      <p:sp>
        <p:nvSpPr>
          <p:cNvPr id="28" name="Text 26"/>
          <p:cNvSpPr/>
          <p:nvPr/>
        </p:nvSpPr>
        <p:spPr>
          <a:xfrm>
            <a:off x="6565392" y="1938528"/>
            <a:ext cx="1810512" cy="914400"/>
          </a:xfrm>
          <a:prstGeom prst="rect">
            <a:avLst/>
          </a:prstGeom>
          <a:noFill/>
          <a:ln/>
        </p:spPr>
        <p:txBody>
          <a:bodyPr wrap="square" lIns="0" tIns="0" rIns="0" bIns="0" rtlCol="0" anchor="ctr"/>
          <a:lstStyle/>
          <a:p>
            <a:pPr indent="0" marL="0">
              <a:buNone/>
            </a:pPr>
            <a:r>
              <a:rPr lang="en-US" sz="700" dirty="0">
                <a:solidFill>
                  <a:srgbClr val="A0B8D0"/>
                </a:solidFill>
                <a:latin typeface="Calibri" pitchFamily="34" charset="0"/>
                <a:ea typeface="Calibri" pitchFamily="34" charset="-122"/>
                <a:cs typeface="Calibri" pitchFamily="34" charset="-120"/>
              </a:rPr>
              <a:t>Donut chart sector composition · Revealed Comparative Advantage by product · Scatter plot for complexity vs. value</a:t>
            </a:r>
            <a:endParaRPr lang="en-US" sz="700" dirty="0"/>
          </a:p>
        </p:txBody>
      </p:sp>
      <p:sp>
        <p:nvSpPr>
          <p:cNvPr id="29" name="Shape 27"/>
          <p:cNvSpPr/>
          <p:nvPr/>
        </p:nvSpPr>
        <p:spPr>
          <a:xfrm>
            <a:off x="320040" y="3063240"/>
            <a:ext cx="1938528" cy="1737360"/>
          </a:xfrm>
          <a:prstGeom prst="rect">
            <a:avLst/>
          </a:prstGeom>
          <a:solidFill>
            <a:srgbClr val="163A60"/>
          </a:solidFill>
          <a:ln w="12700">
            <a:solidFill>
              <a:srgbClr val="C9943A"/>
            </a:solidFill>
            <a:prstDash val="solid"/>
          </a:ln>
          <a:effectLst>
            <a:outerShdw sx="100000" sy="100000" kx="0" ky="0" algn="bl" rotWithShape="0" blurRad="101600" dist="25400" dir="8100000">
              <a:srgbClr val="000000">
                <a:alpha val="13000"/>
              </a:srgbClr>
            </a:outerShdw>
          </a:effectLst>
        </p:spPr>
      </p:sp>
      <p:sp>
        <p:nvSpPr>
          <p:cNvPr id="30" name="Shape 28"/>
          <p:cNvSpPr/>
          <p:nvPr/>
        </p:nvSpPr>
        <p:spPr>
          <a:xfrm>
            <a:off x="320040" y="3063240"/>
            <a:ext cx="502920" cy="292608"/>
          </a:xfrm>
          <a:prstGeom prst="rect">
            <a:avLst/>
          </a:prstGeom>
          <a:solidFill>
            <a:srgbClr val="C9943A"/>
          </a:solidFill>
          <a:ln w="12700">
            <a:solidFill>
              <a:srgbClr val="C9943A"/>
            </a:solidFill>
            <a:prstDash val="solid"/>
          </a:ln>
        </p:spPr>
      </p:sp>
      <p:sp>
        <p:nvSpPr>
          <p:cNvPr id="31" name="Text 29"/>
          <p:cNvSpPr/>
          <p:nvPr/>
        </p:nvSpPr>
        <p:spPr>
          <a:xfrm>
            <a:off x="320040" y="3063240"/>
            <a:ext cx="502920" cy="292608"/>
          </a:xfrm>
          <a:prstGeom prst="rect">
            <a:avLst/>
          </a:prstGeom>
          <a:noFill/>
          <a:ln/>
        </p:spPr>
        <p:txBody>
          <a:bodyPr wrap="square" lIns="0" tIns="0" rIns="0" bIns="0" rtlCol="0" anchor="ctr"/>
          <a:lstStyle/>
          <a:p>
            <a:pPr algn="ctr" indent="0" marL="0">
              <a:buNone/>
            </a:pPr>
            <a:r>
              <a:rPr lang="en-US" sz="1100" b="1" dirty="0">
                <a:solidFill>
                  <a:srgbClr val="0A2342"/>
                </a:solidFill>
                <a:latin typeface="Calibri" pitchFamily="34" charset="0"/>
                <a:ea typeface="Calibri" pitchFamily="34" charset="-122"/>
                <a:cs typeface="Calibri" pitchFamily="34" charset="-120"/>
              </a:rPr>
              <a:t>P5</a:t>
            </a:r>
            <a:endParaRPr lang="en-US" sz="1100" dirty="0"/>
          </a:p>
        </p:txBody>
      </p:sp>
      <p:sp>
        <p:nvSpPr>
          <p:cNvPr id="32" name="Text 30"/>
          <p:cNvSpPr/>
          <p:nvPr/>
        </p:nvSpPr>
        <p:spPr>
          <a:xfrm>
            <a:off x="868680" y="3099816"/>
            <a:ext cx="1325880"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Price Intelligence</a:t>
            </a:r>
            <a:endParaRPr lang="en-US" sz="850" dirty="0"/>
          </a:p>
        </p:txBody>
      </p:sp>
      <p:sp>
        <p:nvSpPr>
          <p:cNvPr id="33" name="Text 31"/>
          <p:cNvSpPr/>
          <p:nvPr/>
        </p:nvSpPr>
        <p:spPr>
          <a:xfrm>
            <a:off x="393192" y="3410712"/>
            <a:ext cx="1810512" cy="384048"/>
          </a:xfrm>
          <a:prstGeom prst="rect">
            <a:avLst/>
          </a:prstGeom>
          <a:noFill/>
          <a:ln/>
        </p:spPr>
        <p:txBody>
          <a:bodyPr wrap="square" lIns="0" tIns="0" rIns="0" bIns="0" rtlCol="0" anchor="ctr"/>
          <a:lstStyle/>
          <a:p>
            <a:pPr indent="0" marL="0">
              <a:buNone/>
            </a:pPr>
            <a:r>
              <a:rPr lang="en-US" sz="750" i="1" dirty="0">
                <a:solidFill>
                  <a:srgbClr val="C9943A"/>
                </a:solidFill>
                <a:latin typeface="Calibri" pitchFamily="34" charset="0"/>
                <a:ea typeface="Calibri" pitchFamily="34" charset="-122"/>
                <a:cs typeface="Calibri" pitchFamily="34" charset="-120"/>
              </a:rPr>
              <a:t>How much revenue is Egypt losing to underpricing?</a:t>
            </a:r>
            <a:endParaRPr lang="en-US" sz="750" dirty="0"/>
          </a:p>
        </p:txBody>
      </p:sp>
      <p:sp>
        <p:nvSpPr>
          <p:cNvPr id="34" name="Text 32"/>
          <p:cNvSpPr/>
          <p:nvPr/>
        </p:nvSpPr>
        <p:spPr>
          <a:xfrm>
            <a:off x="393192" y="3831336"/>
            <a:ext cx="1810512" cy="914400"/>
          </a:xfrm>
          <a:prstGeom prst="rect">
            <a:avLst/>
          </a:prstGeom>
          <a:noFill/>
          <a:ln/>
        </p:spPr>
        <p:txBody>
          <a:bodyPr wrap="square" lIns="0" tIns="0" rIns="0" bIns="0" rtlCol="0" anchor="ctr"/>
          <a:lstStyle/>
          <a:p>
            <a:pPr indent="0" marL="0">
              <a:buNone/>
            </a:pPr>
            <a:r>
              <a:rPr lang="en-US" sz="700" dirty="0">
                <a:solidFill>
                  <a:srgbClr val="A0B8D0"/>
                </a:solidFill>
                <a:latin typeface="Calibri" pitchFamily="34" charset="0"/>
                <a:ea typeface="Calibri" pitchFamily="34" charset="-122"/>
                <a:cs typeface="Calibri" pitchFamily="34" charset="-120"/>
              </a:rPr>
              <a:t>Revenue Loss bar chart ranked by product · Dumbbell chart Egypt vs. competitor vs. importer-paid · Circular trade analysis</a:t>
            </a:r>
            <a:endParaRPr lang="en-US" sz="700" dirty="0"/>
          </a:p>
        </p:txBody>
      </p:sp>
      <p:sp>
        <p:nvSpPr>
          <p:cNvPr id="35" name="Shape 33"/>
          <p:cNvSpPr/>
          <p:nvPr/>
        </p:nvSpPr>
        <p:spPr>
          <a:xfrm>
            <a:off x="2377440" y="3063240"/>
            <a:ext cx="1938528" cy="1737360"/>
          </a:xfrm>
          <a:prstGeom prst="rect">
            <a:avLst/>
          </a:prstGeom>
          <a:solidFill>
            <a:srgbClr val="163A60"/>
          </a:solidFill>
          <a:ln w="12700">
            <a:solidFill>
              <a:srgbClr val="C9943A"/>
            </a:solidFill>
            <a:prstDash val="solid"/>
          </a:ln>
          <a:effectLst>
            <a:outerShdw sx="100000" sy="100000" kx="0" ky="0" algn="bl" rotWithShape="0" blurRad="101600" dist="25400" dir="8100000">
              <a:srgbClr val="000000">
                <a:alpha val="13000"/>
              </a:srgbClr>
            </a:outerShdw>
          </a:effectLst>
        </p:spPr>
      </p:sp>
      <p:sp>
        <p:nvSpPr>
          <p:cNvPr id="36" name="Shape 34"/>
          <p:cNvSpPr/>
          <p:nvPr/>
        </p:nvSpPr>
        <p:spPr>
          <a:xfrm>
            <a:off x="2377440" y="3063240"/>
            <a:ext cx="502920" cy="292608"/>
          </a:xfrm>
          <a:prstGeom prst="rect">
            <a:avLst/>
          </a:prstGeom>
          <a:solidFill>
            <a:srgbClr val="C9943A"/>
          </a:solidFill>
          <a:ln w="12700">
            <a:solidFill>
              <a:srgbClr val="C9943A"/>
            </a:solidFill>
            <a:prstDash val="solid"/>
          </a:ln>
        </p:spPr>
      </p:sp>
      <p:sp>
        <p:nvSpPr>
          <p:cNvPr id="37" name="Text 35"/>
          <p:cNvSpPr/>
          <p:nvPr/>
        </p:nvSpPr>
        <p:spPr>
          <a:xfrm>
            <a:off x="2377440" y="3063240"/>
            <a:ext cx="502920" cy="292608"/>
          </a:xfrm>
          <a:prstGeom prst="rect">
            <a:avLst/>
          </a:prstGeom>
          <a:noFill/>
          <a:ln/>
        </p:spPr>
        <p:txBody>
          <a:bodyPr wrap="square" lIns="0" tIns="0" rIns="0" bIns="0" rtlCol="0" anchor="ctr"/>
          <a:lstStyle/>
          <a:p>
            <a:pPr algn="ctr" indent="0" marL="0">
              <a:buNone/>
            </a:pPr>
            <a:r>
              <a:rPr lang="en-US" sz="1100" b="1" dirty="0">
                <a:solidFill>
                  <a:srgbClr val="0A2342"/>
                </a:solidFill>
                <a:latin typeface="Calibri" pitchFamily="34" charset="0"/>
                <a:ea typeface="Calibri" pitchFamily="34" charset="-122"/>
                <a:cs typeface="Calibri" pitchFamily="34" charset="-120"/>
              </a:rPr>
              <a:t>P6</a:t>
            </a:r>
            <a:endParaRPr lang="en-US" sz="1100" dirty="0"/>
          </a:p>
        </p:txBody>
      </p:sp>
      <p:sp>
        <p:nvSpPr>
          <p:cNvPr id="38" name="Text 36"/>
          <p:cNvSpPr/>
          <p:nvPr/>
        </p:nvSpPr>
        <p:spPr>
          <a:xfrm>
            <a:off x="2926080" y="3099816"/>
            <a:ext cx="1325880"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Peer Benchmarking</a:t>
            </a:r>
            <a:endParaRPr lang="en-US" sz="850" dirty="0"/>
          </a:p>
        </p:txBody>
      </p:sp>
      <p:sp>
        <p:nvSpPr>
          <p:cNvPr id="39" name="Text 37"/>
          <p:cNvSpPr/>
          <p:nvPr/>
        </p:nvSpPr>
        <p:spPr>
          <a:xfrm>
            <a:off x="2450592" y="3410712"/>
            <a:ext cx="1810512" cy="384048"/>
          </a:xfrm>
          <a:prstGeom prst="rect">
            <a:avLst/>
          </a:prstGeom>
          <a:noFill/>
          <a:ln/>
        </p:spPr>
        <p:txBody>
          <a:bodyPr wrap="square" lIns="0" tIns="0" rIns="0" bIns="0" rtlCol="0" anchor="ctr"/>
          <a:lstStyle/>
          <a:p>
            <a:pPr indent="0" marL="0">
              <a:buNone/>
            </a:pPr>
            <a:r>
              <a:rPr lang="en-US" sz="750" i="1" dirty="0">
                <a:solidFill>
                  <a:srgbClr val="C9943A"/>
                </a:solidFill>
                <a:latin typeface="Calibri" pitchFamily="34" charset="0"/>
                <a:ea typeface="Calibri" pitchFamily="34" charset="-122"/>
                <a:cs typeface="Calibri" pitchFamily="34" charset="-120"/>
              </a:rPr>
              <a:t>How does Egypt compare to Turkey, Morocco, Vietnam?</a:t>
            </a:r>
            <a:endParaRPr lang="en-US" sz="750" dirty="0"/>
          </a:p>
        </p:txBody>
      </p:sp>
      <p:sp>
        <p:nvSpPr>
          <p:cNvPr id="40" name="Text 38"/>
          <p:cNvSpPr/>
          <p:nvPr/>
        </p:nvSpPr>
        <p:spPr>
          <a:xfrm>
            <a:off x="2450592" y="3831336"/>
            <a:ext cx="1810512" cy="914400"/>
          </a:xfrm>
          <a:prstGeom prst="rect">
            <a:avLst/>
          </a:prstGeom>
          <a:noFill/>
          <a:ln/>
        </p:spPr>
        <p:txBody>
          <a:bodyPr wrap="square" lIns="0" tIns="0" rIns="0" bIns="0" rtlCol="0" anchor="ctr"/>
          <a:lstStyle/>
          <a:p>
            <a:pPr indent="0" marL="0">
              <a:buNone/>
            </a:pPr>
            <a:r>
              <a:rPr lang="en-US" sz="700" dirty="0">
                <a:solidFill>
                  <a:srgbClr val="A0B8D0"/>
                </a:solidFill>
                <a:latin typeface="Calibri" pitchFamily="34" charset="0"/>
                <a:ea typeface="Calibri" pitchFamily="34" charset="-122"/>
                <a:cs typeface="Calibri" pitchFamily="34" charset="-120"/>
              </a:rPr>
              <a:t>Clustered bar chart across 14 KPIs · Radar chart performance profile · Reform journey timeline for each peer</a:t>
            </a:r>
            <a:endParaRPr lang="en-US" sz="700" dirty="0"/>
          </a:p>
        </p:txBody>
      </p:sp>
      <p:sp>
        <p:nvSpPr>
          <p:cNvPr id="41" name="Shape 39"/>
          <p:cNvSpPr/>
          <p:nvPr/>
        </p:nvSpPr>
        <p:spPr>
          <a:xfrm>
            <a:off x="4434840" y="3063240"/>
            <a:ext cx="1938528" cy="1737360"/>
          </a:xfrm>
          <a:prstGeom prst="rect">
            <a:avLst/>
          </a:prstGeom>
          <a:solidFill>
            <a:srgbClr val="163A60"/>
          </a:solidFill>
          <a:ln w="12700">
            <a:solidFill>
              <a:srgbClr val="C9943A"/>
            </a:solidFill>
            <a:prstDash val="solid"/>
          </a:ln>
          <a:effectLst>
            <a:outerShdw sx="100000" sy="100000" kx="0" ky="0" algn="bl" rotWithShape="0" blurRad="101600" dist="25400" dir="8100000">
              <a:srgbClr val="000000">
                <a:alpha val="13000"/>
              </a:srgbClr>
            </a:outerShdw>
          </a:effectLst>
        </p:spPr>
      </p:sp>
      <p:sp>
        <p:nvSpPr>
          <p:cNvPr id="42" name="Shape 40"/>
          <p:cNvSpPr/>
          <p:nvPr/>
        </p:nvSpPr>
        <p:spPr>
          <a:xfrm>
            <a:off x="4434840" y="3063240"/>
            <a:ext cx="502920" cy="292608"/>
          </a:xfrm>
          <a:prstGeom prst="rect">
            <a:avLst/>
          </a:prstGeom>
          <a:solidFill>
            <a:srgbClr val="C9943A"/>
          </a:solidFill>
          <a:ln w="12700">
            <a:solidFill>
              <a:srgbClr val="C9943A"/>
            </a:solidFill>
            <a:prstDash val="solid"/>
          </a:ln>
        </p:spPr>
      </p:sp>
      <p:sp>
        <p:nvSpPr>
          <p:cNvPr id="43" name="Text 41"/>
          <p:cNvSpPr/>
          <p:nvPr/>
        </p:nvSpPr>
        <p:spPr>
          <a:xfrm>
            <a:off x="4434840" y="3063240"/>
            <a:ext cx="502920" cy="292608"/>
          </a:xfrm>
          <a:prstGeom prst="rect">
            <a:avLst/>
          </a:prstGeom>
          <a:noFill/>
          <a:ln/>
        </p:spPr>
        <p:txBody>
          <a:bodyPr wrap="square" lIns="0" tIns="0" rIns="0" bIns="0" rtlCol="0" anchor="ctr"/>
          <a:lstStyle/>
          <a:p>
            <a:pPr algn="ctr" indent="0" marL="0">
              <a:buNone/>
            </a:pPr>
            <a:r>
              <a:rPr lang="en-US" sz="1100" b="1" dirty="0">
                <a:solidFill>
                  <a:srgbClr val="0A2342"/>
                </a:solidFill>
                <a:latin typeface="Calibri" pitchFamily="34" charset="0"/>
                <a:ea typeface="Calibri" pitchFamily="34" charset="-122"/>
                <a:cs typeface="Calibri" pitchFamily="34" charset="-120"/>
              </a:rPr>
              <a:t>P7</a:t>
            </a:r>
            <a:endParaRPr lang="en-US" sz="1100" dirty="0"/>
          </a:p>
        </p:txBody>
      </p:sp>
      <p:sp>
        <p:nvSpPr>
          <p:cNvPr id="44" name="Text 42"/>
          <p:cNvSpPr/>
          <p:nvPr/>
        </p:nvSpPr>
        <p:spPr>
          <a:xfrm>
            <a:off x="4983480" y="3099816"/>
            <a:ext cx="1325880"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Vision 2030 KPI Tracker</a:t>
            </a:r>
            <a:endParaRPr lang="en-US" sz="850" dirty="0"/>
          </a:p>
        </p:txBody>
      </p:sp>
      <p:sp>
        <p:nvSpPr>
          <p:cNvPr id="45" name="Text 43"/>
          <p:cNvSpPr/>
          <p:nvPr/>
        </p:nvSpPr>
        <p:spPr>
          <a:xfrm>
            <a:off x="4507992" y="3410712"/>
            <a:ext cx="1810512" cy="384048"/>
          </a:xfrm>
          <a:prstGeom prst="rect">
            <a:avLst/>
          </a:prstGeom>
          <a:noFill/>
          <a:ln/>
        </p:spPr>
        <p:txBody>
          <a:bodyPr wrap="square" lIns="0" tIns="0" rIns="0" bIns="0" rtlCol="0" anchor="ctr"/>
          <a:lstStyle/>
          <a:p>
            <a:pPr indent="0" marL="0">
              <a:buNone/>
            </a:pPr>
            <a:r>
              <a:rPr lang="en-US" sz="750" i="1" dirty="0">
                <a:solidFill>
                  <a:srgbClr val="C9943A"/>
                </a:solidFill>
                <a:latin typeface="Calibri" pitchFamily="34" charset="0"/>
                <a:ea typeface="Calibri" pitchFamily="34" charset="-122"/>
                <a:cs typeface="Calibri" pitchFamily="34" charset="-120"/>
              </a:rPr>
              <a:t>Is Egypt on track for its 2030 targets?</a:t>
            </a:r>
            <a:endParaRPr lang="en-US" sz="750" dirty="0"/>
          </a:p>
        </p:txBody>
      </p:sp>
      <p:sp>
        <p:nvSpPr>
          <p:cNvPr id="46" name="Text 44"/>
          <p:cNvSpPr/>
          <p:nvPr/>
        </p:nvSpPr>
        <p:spPr>
          <a:xfrm>
            <a:off x="4507992" y="3831336"/>
            <a:ext cx="1810512" cy="914400"/>
          </a:xfrm>
          <a:prstGeom prst="rect">
            <a:avLst/>
          </a:prstGeom>
          <a:noFill/>
          <a:ln/>
        </p:spPr>
        <p:txBody>
          <a:bodyPr wrap="square" lIns="0" tIns="0" rIns="0" bIns="0" rtlCol="0" anchor="ctr"/>
          <a:lstStyle/>
          <a:p>
            <a:pPr indent="0" marL="0">
              <a:buNone/>
            </a:pPr>
            <a:r>
              <a:rPr lang="en-US" sz="700" dirty="0">
                <a:solidFill>
                  <a:srgbClr val="A0B8D0"/>
                </a:solidFill>
                <a:latin typeface="Calibri" pitchFamily="34" charset="0"/>
                <a:ea typeface="Calibri" pitchFamily="34" charset="-122"/>
                <a:cs typeface="Calibri" pitchFamily="34" charset="-120"/>
              </a:rPr>
              <a:t>18 color-coded progress bars (On Track / Progressing / Critical) · Countdown: 6 years remaining · Dynamic KPI trend line</a:t>
            </a:r>
            <a:endParaRPr lang="en-US" sz="700" dirty="0"/>
          </a:p>
        </p:txBody>
      </p:sp>
      <p:sp>
        <p:nvSpPr>
          <p:cNvPr id="47" name="Shape 45"/>
          <p:cNvSpPr/>
          <p:nvPr/>
        </p:nvSpPr>
        <p:spPr>
          <a:xfrm>
            <a:off x="6492240" y="3063240"/>
            <a:ext cx="1938528" cy="1737360"/>
          </a:xfrm>
          <a:prstGeom prst="rect">
            <a:avLst/>
          </a:prstGeom>
          <a:solidFill>
            <a:srgbClr val="163A60"/>
          </a:solidFill>
          <a:ln w="12700">
            <a:solidFill>
              <a:srgbClr val="C9943A"/>
            </a:solidFill>
            <a:prstDash val="solid"/>
          </a:ln>
          <a:effectLst>
            <a:outerShdw sx="100000" sy="100000" kx="0" ky="0" algn="bl" rotWithShape="0" blurRad="101600" dist="25400" dir="8100000">
              <a:srgbClr val="000000">
                <a:alpha val="13000"/>
              </a:srgbClr>
            </a:outerShdw>
          </a:effectLst>
        </p:spPr>
      </p:sp>
      <p:sp>
        <p:nvSpPr>
          <p:cNvPr id="48" name="Shape 46"/>
          <p:cNvSpPr/>
          <p:nvPr/>
        </p:nvSpPr>
        <p:spPr>
          <a:xfrm>
            <a:off x="6492240" y="3063240"/>
            <a:ext cx="502920" cy="292608"/>
          </a:xfrm>
          <a:prstGeom prst="rect">
            <a:avLst/>
          </a:prstGeom>
          <a:solidFill>
            <a:srgbClr val="C9943A"/>
          </a:solidFill>
          <a:ln w="12700">
            <a:solidFill>
              <a:srgbClr val="C9943A"/>
            </a:solidFill>
            <a:prstDash val="solid"/>
          </a:ln>
        </p:spPr>
      </p:sp>
      <p:sp>
        <p:nvSpPr>
          <p:cNvPr id="49" name="Text 47"/>
          <p:cNvSpPr/>
          <p:nvPr/>
        </p:nvSpPr>
        <p:spPr>
          <a:xfrm>
            <a:off x="6492240" y="3063240"/>
            <a:ext cx="502920" cy="292608"/>
          </a:xfrm>
          <a:prstGeom prst="rect">
            <a:avLst/>
          </a:prstGeom>
          <a:noFill/>
          <a:ln/>
        </p:spPr>
        <p:txBody>
          <a:bodyPr wrap="square" lIns="0" tIns="0" rIns="0" bIns="0" rtlCol="0" anchor="ctr"/>
          <a:lstStyle/>
          <a:p>
            <a:pPr algn="ctr" indent="0" marL="0">
              <a:buNone/>
            </a:pPr>
            <a:r>
              <a:rPr lang="en-US" sz="1100" b="1" dirty="0">
                <a:solidFill>
                  <a:srgbClr val="0A2342"/>
                </a:solidFill>
                <a:latin typeface="Calibri" pitchFamily="34" charset="0"/>
                <a:ea typeface="Calibri" pitchFamily="34" charset="-122"/>
                <a:cs typeface="Calibri" pitchFamily="34" charset="-120"/>
              </a:rPr>
              <a:t>P8</a:t>
            </a:r>
            <a:endParaRPr lang="en-US" sz="1100" dirty="0"/>
          </a:p>
        </p:txBody>
      </p:sp>
      <p:sp>
        <p:nvSpPr>
          <p:cNvPr id="50" name="Text 48"/>
          <p:cNvSpPr/>
          <p:nvPr/>
        </p:nvSpPr>
        <p:spPr>
          <a:xfrm>
            <a:off x="7040880" y="3099816"/>
            <a:ext cx="1325880"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Scenario Analysis</a:t>
            </a:r>
            <a:endParaRPr lang="en-US" sz="850" dirty="0"/>
          </a:p>
        </p:txBody>
      </p:sp>
      <p:sp>
        <p:nvSpPr>
          <p:cNvPr id="51" name="Text 49"/>
          <p:cNvSpPr/>
          <p:nvPr/>
        </p:nvSpPr>
        <p:spPr>
          <a:xfrm>
            <a:off x="6565392" y="3410712"/>
            <a:ext cx="1810512" cy="384048"/>
          </a:xfrm>
          <a:prstGeom prst="rect">
            <a:avLst/>
          </a:prstGeom>
          <a:noFill/>
          <a:ln/>
        </p:spPr>
        <p:txBody>
          <a:bodyPr wrap="square" lIns="0" tIns="0" rIns="0" bIns="0" rtlCol="0" anchor="ctr"/>
          <a:lstStyle/>
          <a:p>
            <a:pPr indent="0" marL="0">
              <a:buNone/>
            </a:pPr>
            <a:r>
              <a:rPr lang="en-US" sz="750" i="1" dirty="0">
                <a:solidFill>
                  <a:srgbClr val="C9943A"/>
                </a:solidFill>
                <a:latin typeface="Calibri" pitchFamily="34" charset="0"/>
                <a:ea typeface="Calibri" pitchFamily="34" charset="-122"/>
                <a:cs typeface="Calibri" pitchFamily="34" charset="-120"/>
              </a:rPr>
              <a:t>What revenue gains are achievable with reform?</a:t>
            </a:r>
            <a:endParaRPr lang="en-US" sz="750" dirty="0"/>
          </a:p>
        </p:txBody>
      </p:sp>
      <p:sp>
        <p:nvSpPr>
          <p:cNvPr id="52" name="Text 50"/>
          <p:cNvSpPr/>
          <p:nvPr/>
        </p:nvSpPr>
        <p:spPr>
          <a:xfrm>
            <a:off x="6565392" y="3831336"/>
            <a:ext cx="1810512" cy="914400"/>
          </a:xfrm>
          <a:prstGeom prst="rect">
            <a:avLst/>
          </a:prstGeom>
          <a:noFill/>
          <a:ln/>
        </p:spPr>
        <p:txBody>
          <a:bodyPr wrap="square" lIns="0" tIns="0" rIns="0" bIns="0" rtlCol="0" anchor="ctr"/>
          <a:lstStyle/>
          <a:p>
            <a:pPr indent="0" marL="0">
              <a:buNone/>
            </a:pPr>
            <a:r>
              <a:rPr lang="en-US" sz="700" dirty="0">
                <a:solidFill>
                  <a:srgbClr val="A0B8D0"/>
                </a:solidFill>
                <a:latin typeface="Calibri" pitchFamily="34" charset="0"/>
                <a:ea typeface="Calibri" pitchFamily="34" charset="-122"/>
                <a:cs typeface="Calibri" pitchFamily="34" charset="-120"/>
              </a:rPr>
              <a:t>Interactive What-If parameter sliders · Revenue gain projection by improvement percentage · Policy impact simulation</a:t>
            </a:r>
            <a:endParaRPr lang="en-US" sz="700" dirty="0"/>
          </a:p>
        </p:txBody>
      </p:sp>
      <p:sp>
        <p:nvSpPr>
          <p:cNvPr id="53" name="Shape 51"/>
          <p:cNvSpPr/>
          <p:nvPr/>
        </p:nvSpPr>
        <p:spPr>
          <a:xfrm>
            <a:off x="0" y="4873752"/>
            <a:ext cx="9144000" cy="269748"/>
          </a:xfrm>
          <a:prstGeom prst="rect">
            <a:avLst/>
          </a:prstGeom>
          <a:solidFill>
            <a:srgbClr val="0A2342"/>
          </a:solidFill>
          <a:ln w="12700">
            <a:solidFill>
              <a:srgbClr val="0A2342"/>
            </a:solidFill>
            <a:prstDash val="solid"/>
          </a:ln>
        </p:spPr>
      </p:sp>
      <p:sp>
        <p:nvSpPr>
          <p:cNvPr id="54" name="Text 52"/>
          <p:cNvSpPr/>
          <p:nvPr/>
        </p:nvSpPr>
        <p:spPr>
          <a:xfrm>
            <a:off x="274320" y="4882896"/>
            <a:ext cx="8595360" cy="246888"/>
          </a:xfrm>
          <a:prstGeom prst="rect">
            <a:avLst/>
          </a:prstGeom>
          <a:noFill/>
          <a:ln/>
        </p:spPr>
        <p:txBody>
          <a:bodyPr wrap="square" lIns="0" tIns="0" rIns="0" bIns="0" rtlCol="0" anchor="ctr"/>
          <a:lstStyle/>
          <a:p>
            <a:pPr indent="0" marL="0">
              <a:buNone/>
            </a:pPr>
            <a:r>
              <a:rPr lang="en-US" sz="800" dirty="0">
                <a:solidFill>
                  <a:srgbClr val="C9943A"/>
                </a:solidFill>
                <a:latin typeface="Calibri" pitchFamily="34" charset="0"/>
                <a:ea typeface="Calibri" pitchFamily="34" charset="-122"/>
                <a:cs typeface="Calibri" pitchFamily="34" charset="-120"/>
              </a:rPr>
              <a:t>Egyptian Export Observatory  |  DEPI Data Analysis Track  |  CLS-EGX-TRADEG1-T1  |  2025</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502920"/>
          </a:xfrm>
          <a:prstGeom prst="rect">
            <a:avLst/>
          </a:prstGeom>
          <a:noFill/>
          <a:ln/>
        </p:spPr>
        <p:txBody>
          <a:bodyPr wrap="square" lIns="0" tIns="0" rIns="0" bIns="0" rtlCol="0" anchor="ctr"/>
          <a:lstStyle/>
          <a:p>
            <a:pPr indent="0" marL="0">
              <a:buNone/>
            </a:pPr>
            <a:r>
              <a:rPr lang="en-US" sz="2600" b="1" dirty="0">
                <a:solidFill>
                  <a:srgbClr val="0A2342"/>
                </a:solidFill>
                <a:latin typeface="Calibri" pitchFamily="34" charset="0"/>
                <a:ea typeface="Calibri" pitchFamily="34" charset="-122"/>
                <a:cs typeface="Calibri" pitchFamily="34" charset="-120"/>
              </a:rPr>
              <a:t>Key Insights &amp; Findings</a:t>
            </a:r>
            <a:endParaRPr lang="en-US" sz="2600" dirty="0"/>
          </a:p>
        </p:txBody>
      </p:sp>
      <p:sp>
        <p:nvSpPr>
          <p:cNvPr id="3" name="Text 1"/>
          <p:cNvSpPr/>
          <p:nvPr/>
        </p:nvSpPr>
        <p:spPr>
          <a:xfrm>
            <a:off x="457200" y="694944"/>
            <a:ext cx="8229600" cy="2743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Five Data-Driven Discoveries from the Observatory</a:t>
            </a:r>
            <a:endParaRPr lang="en-US" sz="1200" dirty="0"/>
          </a:p>
        </p:txBody>
      </p:sp>
      <p:sp>
        <p:nvSpPr>
          <p:cNvPr id="4" name="Shape 2"/>
          <p:cNvSpPr/>
          <p:nvPr/>
        </p:nvSpPr>
        <p:spPr>
          <a:xfrm>
            <a:off x="457200" y="1024128"/>
            <a:ext cx="8229600" cy="27432"/>
          </a:xfrm>
          <a:prstGeom prst="rect">
            <a:avLst/>
          </a:prstGeom>
          <a:solidFill>
            <a:srgbClr val="C9943A"/>
          </a:solidFill>
          <a:ln w="12700">
            <a:solidFill>
              <a:srgbClr val="C9943A"/>
            </a:solidFill>
            <a:prstDash val="solid"/>
          </a:ln>
        </p:spPr>
      </p:sp>
      <p:sp>
        <p:nvSpPr>
          <p:cNvPr id="5" name="Shape 3"/>
          <p:cNvSpPr/>
          <p:nvPr/>
        </p:nvSpPr>
        <p:spPr>
          <a:xfrm>
            <a:off x="274320" y="1170432"/>
            <a:ext cx="1600200" cy="3657600"/>
          </a:xfrm>
          <a:prstGeom prst="rect">
            <a:avLst/>
          </a:prstGeom>
          <a:solidFill>
            <a:srgbClr val="F4F6F8"/>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6" name="Shape 4"/>
          <p:cNvSpPr/>
          <p:nvPr/>
        </p:nvSpPr>
        <p:spPr>
          <a:xfrm>
            <a:off x="274320" y="1170432"/>
            <a:ext cx="1600200" cy="54864"/>
          </a:xfrm>
          <a:prstGeom prst="rect">
            <a:avLst/>
          </a:prstGeom>
          <a:solidFill>
            <a:srgbClr val="C0392B"/>
          </a:solidFill>
          <a:ln w="12700">
            <a:solidFill>
              <a:srgbClr val="C0392B"/>
            </a:solidFill>
            <a:prstDash val="solid"/>
          </a:ln>
        </p:spPr>
      </p:sp>
      <p:sp>
        <p:nvSpPr>
          <p:cNvPr id="7" name="Shape 5"/>
          <p:cNvSpPr/>
          <p:nvPr/>
        </p:nvSpPr>
        <p:spPr>
          <a:xfrm>
            <a:off x="274320" y="1170432"/>
            <a:ext cx="329184" cy="329184"/>
          </a:xfrm>
          <a:prstGeom prst="rect">
            <a:avLst/>
          </a:prstGeom>
          <a:solidFill>
            <a:srgbClr val="C0392B"/>
          </a:solidFill>
          <a:ln w="12700">
            <a:solidFill>
              <a:srgbClr val="C0392B"/>
            </a:solidFill>
            <a:prstDash val="solid"/>
          </a:ln>
        </p:spPr>
      </p:sp>
      <p:sp>
        <p:nvSpPr>
          <p:cNvPr id="8" name="Text 6"/>
          <p:cNvSpPr/>
          <p:nvPr/>
        </p:nvSpPr>
        <p:spPr>
          <a:xfrm>
            <a:off x="274320" y="117043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365760" y="1554480"/>
            <a:ext cx="1444752" cy="411480"/>
          </a:xfrm>
          <a:prstGeom prst="rect">
            <a:avLst/>
          </a:prstGeom>
          <a:noFill/>
          <a:ln/>
        </p:spPr>
        <p:txBody>
          <a:bodyPr wrap="square" lIns="0" tIns="0" rIns="0" bIns="0" rtlCol="0" anchor="ctr"/>
          <a:lstStyle/>
          <a:p>
            <a:pPr indent="0" marL="0">
              <a:buNone/>
            </a:pPr>
            <a:r>
              <a:rPr lang="en-US" sz="950" b="1" dirty="0">
                <a:solidFill>
                  <a:srgbClr val="0A2342"/>
                </a:solidFill>
                <a:latin typeface="Calibri" pitchFamily="34" charset="0"/>
                <a:ea typeface="Calibri" pitchFamily="34" charset="-122"/>
                <a:cs typeface="Calibri" pitchFamily="34" charset="-120"/>
              </a:rPr>
              <a:t>Deficit Is Structural, Not Cyclical</a:t>
            </a:r>
            <a:endParaRPr lang="en-US" sz="950" dirty="0"/>
          </a:p>
        </p:txBody>
      </p:sp>
      <p:sp>
        <p:nvSpPr>
          <p:cNvPr id="10" name="Shape 8"/>
          <p:cNvSpPr/>
          <p:nvPr/>
        </p:nvSpPr>
        <p:spPr>
          <a:xfrm>
            <a:off x="365760" y="2029968"/>
            <a:ext cx="1417320" cy="685800"/>
          </a:xfrm>
          <a:prstGeom prst="rect">
            <a:avLst/>
          </a:prstGeom>
          <a:solidFill>
            <a:srgbClr val="C0392B"/>
          </a:solidFill>
          <a:ln w="12700">
            <a:solidFill>
              <a:srgbClr val="C0392B"/>
            </a:solidFill>
            <a:prstDash val="solid"/>
          </a:ln>
        </p:spPr>
      </p:sp>
      <p:sp>
        <p:nvSpPr>
          <p:cNvPr id="11" name="Text 9"/>
          <p:cNvSpPr/>
          <p:nvPr/>
        </p:nvSpPr>
        <p:spPr>
          <a:xfrm>
            <a:off x="365760" y="2057400"/>
            <a:ext cx="1417320" cy="40233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-$50B</a:t>
            </a:r>
            <a:endParaRPr lang="en-US" sz="2200" dirty="0"/>
          </a:p>
        </p:txBody>
      </p:sp>
      <p:sp>
        <p:nvSpPr>
          <p:cNvPr id="12" name="Text 10"/>
          <p:cNvSpPr/>
          <p:nvPr/>
        </p:nvSpPr>
        <p:spPr>
          <a:xfrm>
            <a:off x="365760" y="2459736"/>
            <a:ext cx="1417320" cy="22860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Trade Deficit</a:t>
            </a:r>
            <a:endParaRPr lang="en-US" sz="750" dirty="0"/>
          </a:p>
          <a:p>
            <a:pPr algn="ctr" indent="0" marL="0">
              <a:buNone/>
            </a:pPr>
            <a:r>
              <a:rPr lang="en-US" sz="750" dirty="0">
                <a:solidFill>
                  <a:srgbClr val="FFFFFF"/>
                </a:solidFill>
                <a:latin typeface="Calibri" pitchFamily="34" charset="0"/>
                <a:ea typeface="Calibri" pitchFamily="34" charset="-122"/>
                <a:cs typeface="Calibri" pitchFamily="34" charset="-120"/>
              </a:rPr>
              <a:t>2024</a:t>
            </a:r>
            <a:endParaRPr lang="en-US" sz="750" dirty="0"/>
          </a:p>
        </p:txBody>
      </p:sp>
      <p:sp>
        <p:nvSpPr>
          <p:cNvPr id="13" name="Text 11"/>
          <p:cNvSpPr/>
          <p:nvPr/>
        </p:nvSpPr>
        <p:spPr>
          <a:xfrm>
            <a:off x="365760" y="2816352"/>
            <a:ext cx="1444752" cy="1920240"/>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Deficit grew 72% from -$29B (2010) to -$50B (2024). The 2022 commodity price spike created a temporary apparent improvement — once prices normalized, the deficit returned. No monetary fix can address a structural problem; only export transformation can.</a:t>
            </a:r>
            <a:endParaRPr lang="en-US" sz="800" dirty="0"/>
          </a:p>
        </p:txBody>
      </p:sp>
      <p:sp>
        <p:nvSpPr>
          <p:cNvPr id="14" name="Shape 12"/>
          <p:cNvSpPr/>
          <p:nvPr/>
        </p:nvSpPr>
        <p:spPr>
          <a:xfrm>
            <a:off x="2057400" y="1170432"/>
            <a:ext cx="1600200" cy="3657600"/>
          </a:xfrm>
          <a:prstGeom prst="rect">
            <a:avLst/>
          </a:prstGeom>
          <a:solidFill>
            <a:srgbClr val="F4F6F8"/>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15" name="Shape 13"/>
          <p:cNvSpPr/>
          <p:nvPr/>
        </p:nvSpPr>
        <p:spPr>
          <a:xfrm>
            <a:off x="2057400" y="1170432"/>
            <a:ext cx="1600200" cy="54864"/>
          </a:xfrm>
          <a:prstGeom prst="rect">
            <a:avLst/>
          </a:prstGeom>
          <a:solidFill>
            <a:srgbClr val="C9943A"/>
          </a:solidFill>
          <a:ln w="12700">
            <a:solidFill>
              <a:srgbClr val="C9943A"/>
            </a:solidFill>
            <a:prstDash val="solid"/>
          </a:ln>
        </p:spPr>
      </p:sp>
      <p:sp>
        <p:nvSpPr>
          <p:cNvPr id="16" name="Shape 14"/>
          <p:cNvSpPr/>
          <p:nvPr/>
        </p:nvSpPr>
        <p:spPr>
          <a:xfrm>
            <a:off x="2057400" y="1170432"/>
            <a:ext cx="329184" cy="329184"/>
          </a:xfrm>
          <a:prstGeom prst="rect">
            <a:avLst/>
          </a:prstGeom>
          <a:solidFill>
            <a:srgbClr val="C9943A"/>
          </a:solidFill>
          <a:ln w="12700">
            <a:solidFill>
              <a:srgbClr val="C9943A"/>
            </a:solidFill>
            <a:prstDash val="solid"/>
          </a:ln>
        </p:spPr>
      </p:sp>
      <p:sp>
        <p:nvSpPr>
          <p:cNvPr id="17" name="Text 15"/>
          <p:cNvSpPr/>
          <p:nvPr/>
        </p:nvSpPr>
        <p:spPr>
          <a:xfrm>
            <a:off x="2057400" y="117043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p:nvPr/>
        </p:nvSpPr>
        <p:spPr>
          <a:xfrm>
            <a:off x="2148840" y="1554480"/>
            <a:ext cx="1444752" cy="411480"/>
          </a:xfrm>
          <a:prstGeom prst="rect">
            <a:avLst/>
          </a:prstGeom>
          <a:noFill/>
          <a:ln/>
        </p:spPr>
        <p:txBody>
          <a:bodyPr wrap="square" lIns="0" tIns="0" rIns="0" bIns="0" rtlCol="0" anchor="ctr"/>
          <a:lstStyle/>
          <a:p>
            <a:pPr indent="0" marL="0">
              <a:buNone/>
            </a:pPr>
            <a:r>
              <a:rPr lang="en-US" sz="950" b="1" dirty="0">
                <a:solidFill>
                  <a:srgbClr val="0A2342"/>
                </a:solidFill>
                <a:latin typeface="Calibri" pitchFamily="34" charset="0"/>
                <a:ea typeface="Calibri" pitchFamily="34" charset="-122"/>
                <a:cs typeface="Calibri" pitchFamily="34" charset="-120"/>
              </a:rPr>
              <a:t>Petroleum Dependency Unchanged</a:t>
            </a:r>
            <a:endParaRPr lang="en-US" sz="950" dirty="0"/>
          </a:p>
        </p:txBody>
      </p:sp>
      <p:sp>
        <p:nvSpPr>
          <p:cNvPr id="19" name="Shape 17"/>
          <p:cNvSpPr/>
          <p:nvPr/>
        </p:nvSpPr>
        <p:spPr>
          <a:xfrm>
            <a:off x="2148840" y="2029968"/>
            <a:ext cx="1417320" cy="685800"/>
          </a:xfrm>
          <a:prstGeom prst="rect">
            <a:avLst/>
          </a:prstGeom>
          <a:solidFill>
            <a:srgbClr val="C9943A"/>
          </a:solidFill>
          <a:ln w="12700">
            <a:solidFill>
              <a:srgbClr val="C9943A"/>
            </a:solidFill>
            <a:prstDash val="solid"/>
          </a:ln>
        </p:spPr>
      </p:sp>
      <p:sp>
        <p:nvSpPr>
          <p:cNvPr id="20" name="Text 18"/>
          <p:cNvSpPr/>
          <p:nvPr/>
        </p:nvSpPr>
        <p:spPr>
          <a:xfrm>
            <a:off x="2148840" y="2057400"/>
            <a:ext cx="1417320" cy="40233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62%</a:t>
            </a:r>
            <a:endParaRPr lang="en-US" sz="2200" dirty="0"/>
          </a:p>
        </p:txBody>
      </p:sp>
      <p:sp>
        <p:nvSpPr>
          <p:cNvPr id="21" name="Text 19"/>
          <p:cNvSpPr/>
          <p:nvPr/>
        </p:nvSpPr>
        <p:spPr>
          <a:xfrm>
            <a:off x="2148840" y="2459736"/>
            <a:ext cx="1417320" cy="22860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Petroleum</a:t>
            </a:r>
            <a:endParaRPr lang="en-US" sz="750" dirty="0"/>
          </a:p>
          <a:p>
            <a:pPr algn="ctr" indent="0" marL="0">
              <a:buNone/>
            </a:pPr>
            <a:r>
              <a:rPr lang="en-US" sz="750" dirty="0">
                <a:solidFill>
                  <a:srgbClr val="FFFFFF"/>
                </a:solidFill>
                <a:latin typeface="Calibri" pitchFamily="34" charset="0"/>
                <a:ea typeface="Calibri" pitchFamily="34" charset="-122"/>
                <a:cs typeface="Calibri" pitchFamily="34" charset="-120"/>
              </a:rPr>
              <a:t>Share 2024</a:t>
            </a:r>
            <a:endParaRPr lang="en-US" sz="750" dirty="0"/>
          </a:p>
        </p:txBody>
      </p:sp>
      <p:sp>
        <p:nvSpPr>
          <p:cNvPr id="22" name="Text 20"/>
          <p:cNvSpPr/>
          <p:nvPr/>
        </p:nvSpPr>
        <p:spPr>
          <a:xfrm>
            <a:off x="2148840" y="2816352"/>
            <a:ext cx="1444752" cy="1920240"/>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In 2010 petroleum = 63% of exports. In 2024, still 62%. Non-oil exports grew at only 1.9% CAGR. Manufacturing — which drives export transformation in Vietnam, Turkey, Morocco — accounts for only 12% of Egypt's non-oil exports.</a:t>
            </a:r>
            <a:endParaRPr lang="en-US" sz="800" dirty="0"/>
          </a:p>
        </p:txBody>
      </p:sp>
      <p:sp>
        <p:nvSpPr>
          <p:cNvPr id="23" name="Shape 21"/>
          <p:cNvSpPr/>
          <p:nvPr/>
        </p:nvSpPr>
        <p:spPr>
          <a:xfrm>
            <a:off x="3840480" y="1170432"/>
            <a:ext cx="1600200" cy="3657600"/>
          </a:xfrm>
          <a:prstGeom prst="rect">
            <a:avLst/>
          </a:prstGeom>
          <a:solidFill>
            <a:srgbClr val="F4F6F8"/>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24" name="Shape 22"/>
          <p:cNvSpPr/>
          <p:nvPr/>
        </p:nvSpPr>
        <p:spPr>
          <a:xfrm>
            <a:off x="3840480" y="1170432"/>
            <a:ext cx="1600200" cy="54864"/>
          </a:xfrm>
          <a:prstGeom prst="rect">
            <a:avLst/>
          </a:prstGeom>
          <a:solidFill>
            <a:srgbClr val="007B55"/>
          </a:solidFill>
          <a:ln w="12700">
            <a:solidFill>
              <a:srgbClr val="007B55"/>
            </a:solidFill>
            <a:prstDash val="solid"/>
          </a:ln>
        </p:spPr>
      </p:sp>
      <p:sp>
        <p:nvSpPr>
          <p:cNvPr id="25" name="Shape 23"/>
          <p:cNvSpPr/>
          <p:nvPr/>
        </p:nvSpPr>
        <p:spPr>
          <a:xfrm>
            <a:off x="3840480" y="1170432"/>
            <a:ext cx="329184" cy="329184"/>
          </a:xfrm>
          <a:prstGeom prst="rect">
            <a:avLst/>
          </a:prstGeom>
          <a:solidFill>
            <a:srgbClr val="007B55"/>
          </a:solidFill>
          <a:ln w="12700">
            <a:solidFill>
              <a:srgbClr val="007B55"/>
            </a:solidFill>
            <a:prstDash val="solid"/>
          </a:ln>
        </p:spPr>
      </p:sp>
      <p:sp>
        <p:nvSpPr>
          <p:cNvPr id="26" name="Text 24"/>
          <p:cNvSpPr/>
          <p:nvPr/>
        </p:nvSpPr>
        <p:spPr>
          <a:xfrm>
            <a:off x="3840480" y="117043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7" name="Text 25"/>
          <p:cNvSpPr/>
          <p:nvPr/>
        </p:nvSpPr>
        <p:spPr>
          <a:xfrm>
            <a:off x="3931920" y="1554480"/>
            <a:ext cx="1444752" cy="411480"/>
          </a:xfrm>
          <a:prstGeom prst="rect">
            <a:avLst/>
          </a:prstGeom>
          <a:noFill/>
          <a:ln/>
        </p:spPr>
        <p:txBody>
          <a:bodyPr wrap="square" lIns="0" tIns="0" rIns="0" bIns="0" rtlCol="0" anchor="ctr"/>
          <a:lstStyle/>
          <a:p>
            <a:pPr indent="0" marL="0">
              <a:buNone/>
            </a:pPr>
            <a:r>
              <a:rPr lang="en-US" sz="950" b="1" dirty="0">
                <a:solidFill>
                  <a:srgbClr val="0A2342"/>
                </a:solidFill>
                <a:latin typeface="Calibri" pitchFamily="34" charset="0"/>
                <a:ea typeface="Calibri" pitchFamily="34" charset="-122"/>
                <a:cs typeface="Calibri" pitchFamily="34" charset="-120"/>
              </a:rPr>
              <a:t>$3.2B Annual Revenue Recoverable</a:t>
            </a:r>
            <a:endParaRPr lang="en-US" sz="950" dirty="0"/>
          </a:p>
        </p:txBody>
      </p:sp>
      <p:sp>
        <p:nvSpPr>
          <p:cNvPr id="28" name="Shape 26"/>
          <p:cNvSpPr/>
          <p:nvPr/>
        </p:nvSpPr>
        <p:spPr>
          <a:xfrm>
            <a:off x="3931920" y="2029968"/>
            <a:ext cx="1417320" cy="685800"/>
          </a:xfrm>
          <a:prstGeom prst="rect">
            <a:avLst/>
          </a:prstGeom>
          <a:solidFill>
            <a:srgbClr val="007B55"/>
          </a:solidFill>
          <a:ln w="12700">
            <a:solidFill>
              <a:srgbClr val="007B55"/>
            </a:solidFill>
            <a:prstDash val="solid"/>
          </a:ln>
        </p:spPr>
      </p:sp>
      <p:sp>
        <p:nvSpPr>
          <p:cNvPr id="29" name="Text 27"/>
          <p:cNvSpPr/>
          <p:nvPr/>
        </p:nvSpPr>
        <p:spPr>
          <a:xfrm>
            <a:off x="3931920" y="2057400"/>
            <a:ext cx="1417320" cy="40233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$3.2B</a:t>
            </a:r>
            <a:endParaRPr lang="en-US" sz="2200" dirty="0"/>
          </a:p>
        </p:txBody>
      </p:sp>
      <p:sp>
        <p:nvSpPr>
          <p:cNvPr id="30" name="Text 28"/>
          <p:cNvSpPr/>
          <p:nvPr/>
        </p:nvSpPr>
        <p:spPr>
          <a:xfrm>
            <a:off x="3931920" y="2459736"/>
            <a:ext cx="1417320" cy="22860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Annual Revenue</a:t>
            </a:r>
            <a:endParaRPr lang="en-US" sz="750" dirty="0"/>
          </a:p>
          <a:p>
            <a:pPr algn="ctr" indent="0" marL="0">
              <a:buNone/>
            </a:pPr>
            <a:r>
              <a:rPr lang="en-US" sz="750" dirty="0">
                <a:solidFill>
                  <a:srgbClr val="FFFFFF"/>
                </a:solidFill>
                <a:latin typeface="Calibri" pitchFamily="34" charset="0"/>
                <a:ea typeface="Calibri" pitchFamily="34" charset="-122"/>
                <a:cs typeface="Calibri" pitchFamily="34" charset="-120"/>
              </a:rPr>
              <a:t>Lost</a:t>
            </a:r>
            <a:endParaRPr lang="en-US" sz="750" dirty="0"/>
          </a:p>
        </p:txBody>
      </p:sp>
      <p:sp>
        <p:nvSpPr>
          <p:cNvPr id="31" name="Text 29"/>
          <p:cNvSpPr/>
          <p:nvPr/>
        </p:nvSpPr>
        <p:spPr>
          <a:xfrm>
            <a:off x="3931920" y="2816352"/>
            <a:ext cx="1444752" cy="1920240"/>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Egypt is not selling the wrong products — it's selling the RIGHT products at the WRONG price. Citrus, cotton, marble, chemicals, fertilizers all have RCA &gt; 1 but are priced 30–70% below market rates. Pure margin improvement, no volume change needed.</a:t>
            </a:r>
            <a:endParaRPr lang="en-US" sz="800" dirty="0"/>
          </a:p>
        </p:txBody>
      </p:sp>
      <p:sp>
        <p:nvSpPr>
          <p:cNvPr id="32" name="Shape 30"/>
          <p:cNvSpPr/>
          <p:nvPr/>
        </p:nvSpPr>
        <p:spPr>
          <a:xfrm>
            <a:off x="5623560" y="1170432"/>
            <a:ext cx="1600200" cy="3657600"/>
          </a:xfrm>
          <a:prstGeom prst="rect">
            <a:avLst/>
          </a:prstGeom>
          <a:solidFill>
            <a:srgbClr val="F4F6F8"/>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33" name="Shape 31"/>
          <p:cNvSpPr/>
          <p:nvPr/>
        </p:nvSpPr>
        <p:spPr>
          <a:xfrm>
            <a:off x="5623560" y="1170432"/>
            <a:ext cx="1600200" cy="54864"/>
          </a:xfrm>
          <a:prstGeom prst="rect">
            <a:avLst/>
          </a:prstGeom>
          <a:solidFill>
            <a:srgbClr val="0A2342"/>
          </a:solidFill>
          <a:ln w="12700">
            <a:solidFill>
              <a:srgbClr val="0A2342"/>
            </a:solidFill>
            <a:prstDash val="solid"/>
          </a:ln>
        </p:spPr>
      </p:sp>
      <p:sp>
        <p:nvSpPr>
          <p:cNvPr id="34" name="Shape 32"/>
          <p:cNvSpPr/>
          <p:nvPr/>
        </p:nvSpPr>
        <p:spPr>
          <a:xfrm>
            <a:off x="5623560" y="1170432"/>
            <a:ext cx="329184" cy="329184"/>
          </a:xfrm>
          <a:prstGeom prst="rect">
            <a:avLst/>
          </a:prstGeom>
          <a:solidFill>
            <a:srgbClr val="0A2342"/>
          </a:solidFill>
          <a:ln w="12700">
            <a:solidFill>
              <a:srgbClr val="0A2342"/>
            </a:solidFill>
            <a:prstDash val="solid"/>
          </a:ln>
        </p:spPr>
      </p:sp>
      <p:sp>
        <p:nvSpPr>
          <p:cNvPr id="35" name="Text 33"/>
          <p:cNvSpPr/>
          <p:nvPr/>
        </p:nvSpPr>
        <p:spPr>
          <a:xfrm>
            <a:off x="5623560" y="117043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6" name="Text 34"/>
          <p:cNvSpPr/>
          <p:nvPr/>
        </p:nvSpPr>
        <p:spPr>
          <a:xfrm>
            <a:off x="5715000" y="1554480"/>
            <a:ext cx="1444752" cy="411480"/>
          </a:xfrm>
          <a:prstGeom prst="rect">
            <a:avLst/>
          </a:prstGeom>
          <a:noFill/>
          <a:ln/>
        </p:spPr>
        <p:txBody>
          <a:bodyPr wrap="square" lIns="0" tIns="0" rIns="0" bIns="0" rtlCol="0" anchor="ctr"/>
          <a:lstStyle/>
          <a:p>
            <a:pPr indent="0" marL="0">
              <a:buNone/>
            </a:pPr>
            <a:r>
              <a:rPr lang="en-US" sz="950" b="1" dirty="0">
                <a:solidFill>
                  <a:srgbClr val="0A2342"/>
                </a:solidFill>
                <a:latin typeface="Calibri" pitchFamily="34" charset="0"/>
                <a:ea typeface="Calibri" pitchFamily="34" charset="-122"/>
                <a:cs typeface="Calibri" pitchFamily="34" charset="-120"/>
              </a:rPr>
              <a:t>Circular Trade Costing Egypt Twice</a:t>
            </a:r>
            <a:endParaRPr lang="en-US" sz="950" dirty="0"/>
          </a:p>
        </p:txBody>
      </p:sp>
      <p:sp>
        <p:nvSpPr>
          <p:cNvPr id="37" name="Shape 35"/>
          <p:cNvSpPr/>
          <p:nvPr/>
        </p:nvSpPr>
        <p:spPr>
          <a:xfrm>
            <a:off x="5715000" y="2029968"/>
            <a:ext cx="1417320" cy="685800"/>
          </a:xfrm>
          <a:prstGeom prst="rect">
            <a:avLst/>
          </a:prstGeom>
          <a:solidFill>
            <a:srgbClr val="0A2342"/>
          </a:solidFill>
          <a:ln w="12700">
            <a:solidFill>
              <a:srgbClr val="0A2342"/>
            </a:solidFill>
            <a:prstDash val="solid"/>
          </a:ln>
        </p:spPr>
      </p:sp>
      <p:sp>
        <p:nvSpPr>
          <p:cNvPr id="38" name="Text 36"/>
          <p:cNvSpPr/>
          <p:nvPr/>
        </p:nvSpPr>
        <p:spPr>
          <a:xfrm>
            <a:off x="5715000" y="2057400"/>
            <a:ext cx="1417320" cy="40233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8+</a:t>
            </a:r>
            <a:endParaRPr lang="en-US" sz="2200" dirty="0"/>
          </a:p>
        </p:txBody>
      </p:sp>
      <p:sp>
        <p:nvSpPr>
          <p:cNvPr id="39" name="Text 37"/>
          <p:cNvSpPr/>
          <p:nvPr/>
        </p:nvSpPr>
        <p:spPr>
          <a:xfrm>
            <a:off x="5715000" y="2459736"/>
            <a:ext cx="1417320" cy="22860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Circular Trade</a:t>
            </a:r>
            <a:endParaRPr lang="en-US" sz="750" dirty="0"/>
          </a:p>
          <a:p>
            <a:pPr algn="ctr" indent="0" marL="0">
              <a:buNone/>
            </a:pPr>
            <a:r>
              <a:rPr lang="en-US" sz="750" dirty="0">
                <a:solidFill>
                  <a:srgbClr val="FFFFFF"/>
                </a:solidFill>
                <a:latin typeface="Calibri" pitchFamily="34" charset="0"/>
                <a:ea typeface="Calibri" pitchFamily="34" charset="-122"/>
                <a:cs typeface="Calibri" pitchFamily="34" charset="-120"/>
              </a:rPr>
              <a:t>Products</a:t>
            </a:r>
            <a:endParaRPr lang="en-US" sz="750" dirty="0"/>
          </a:p>
        </p:txBody>
      </p:sp>
      <p:sp>
        <p:nvSpPr>
          <p:cNvPr id="40" name="Text 38"/>
          <p:cNvSpPr/>
          <p:nvPr/>
        </p:nvSpPr>
        <p:spPr>
          <a:xfrm>
            <a:off x="5715000" y="2816352"/>
            <a:ext cx="1444752" cy="1920240"/>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Egypt exports raw long-staple cotton at ~$800/ton, then pays ~$2,841/ton to re-import cotton fabrics. Eight+ product categories follow this same pattern — effectively subsidizing foreign manufacturers while missing the domestic value-add opportunity.</a:t>
            </a:r>
            <a:endParaRPr lang="en-US" sz="800" dirty="0"/>
          </a:p>
        </p:txBody>
      </p:sp>
      <p:sp>
        <p:nvSpPr>
          <p:cNvPr id="41" name="Shape 39"/>
          <p:cNvSpPr/>
          <p:nvPr/>
        </p:nvSpPr>
        <p:spPr>
          <a:xfrm>
            <a:off x="7406640" y="1170432"/>
            <a:ext cx="1600200" cy="3657600"/>
          </a:xfrm>
          <a:prstGeom prst="rect">
            <a:avLst/>
          </a:prstGeom>
          <a:solidFill>
            <a:srgbClr val="F4F6F8"/>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42" name="Shape 40"/>
          <p:cNvSpPr/>
          <p:nvPr/>
        </p:nvSpPr>
        <p:spPr>
          <a:xfrm>
            <a:off x="7406640" y="1170432"/>
            <a:ext cx="1600200" cy="54864"/>
          </a:xfrm>
          <a:prstGeom prst="rect">
            <a:avLst/>
          </a:prstGeom>
          <a:solidFill>
            <a:srgbClr val="163A60"/>
          </a:solidFill>
          <a:ln w="12700">
            <a:solidFill>
              <a:srgbClr val="163A60"/>
            </a:solidFill>
            <a:prstDash val="solid"/>
          </a:ln>
        </p:spPr>
      </p:sp>
      <p:sp>
        <p:nvSpPr>
          <p:cNvPr id="43" name="Shape 41"/>
          <p:cNvSpPr/>
          <p:nvPr/>
        </p:nvSpPr>
        <p:spPr>
          <a:xfrm>
            <a:off x="7406640" y="1170432"/>
            <a:ext cx="329184" cy="329184"/>
          </a:xfrm>
          <a:prstGeom prst="rect">
            <a:avLst/>
          </a:prstGeom>
          <a:solidFill>
            <a:srgbClr val="163A60"/>
          </a:solidFill>
          <a:ln w="12700">
            <a:solidFill>
              <a:srgbClr val="163A60"/>
            </a:solidFill>
            <a:prstDash val="solid"/>
          </a:ln>
        </p:spPr>
      </p:sp>
      <p:sp>
        <p:nvSpPr>
          <p:cNvPr id="44" name="Text 42"/>
          <p:cNvSpPr/>
          <p:nvPr/>
        </p:nvSpPr>
        <p:spPr>
          <a:xfrm>
            <a:off x="7406640" y="117043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5" name="Text 43"/>
          <p:cNvSpPr/>
          <p:nvPr/>
        </p:nvSpPr>
        <p:spPr>
          <a:xfrm>
            <a:off x="7498080" y="1554480"/>
            <a:ext cx="1444752" cy="411480"/>
          </a:xfrm>
          <a:prstGeom prst="rect">
            <a:avLst/>
          </a:prstGeom>
          <a:noFill/>
          <a:ln/>
        </p:spPr>
        <p:txBody>
          <a:bodyPr wrap="square" lIns="0" tIns="0" rIns="0" bIns="0" rtlCol="0" anchor="ctr"/>
          <a:lstStyle/>
          <a:p>
            <a:pPr indent="0" marL="0">
              <a:buNone/>
            </a:pPr>
            <a:r>
              <a:rPr lang="en-US" sz="950" b="1" dirty="0">
                <a:solidFill>
                  <a:srgbClr val="0A2342"/>
                </a:solidFill>
                <a:latin typeface="Calibri" pitchFamily="34" charset="0"/>
                <a:ea typeface="Calibri" pitchFamily="34" charset="-122"/>
                <a:cs typeface="Calibri" pitchFamily="34" charset="-120"/>
              </a:rPr>
              <a:t>Vietnam's Trajectory = Egypt's Roadmap</a:t>
            </a:r>
            <a:endParaRPr lang="en-US" sz="950" dirty="0"/>
          </a:p>
        </p:txBody>
      </p:sp>
      <p:sp>
        <p:nvSpPr>
          <p:cNvPr id="46" name="Shape 44"/>
          <p:cNvSpPr/>
          <p:nvPr/>
        </p:nvSpPr>
        <p:spPr>
          <a:xfrm>
            <a:off x="7498080" y="2029968"/>
            <a:ext cx="1417320" cy="685800"/>
          </a:xfrm>
          <a:prstGeom prst="rect">
            <a:avLst/>
          </a:prstGeom>
          <a:solidFill>
            <a:srgbClr val="163A60"/>
          </a:solidFill>
          <a:ln w="12700">
            <a:solidFill>
              <a:srgbClr val="163A60"/>
            </a:solidFill>
            <a:prstDash val="solid"/>
          </a:ln>
        </p:spPr>
      </p:sp>
      <p:sp>
        <p:nvSpPr>
          <p:cNvPr id="47" name="Text 45"/>
          <p:cNvSpPr/>
          <p:nvPr/>
        </p:nvSpPr>
        <p:spPr>
          <a:xfrm>
            <a:off x="7498080" y="2057400"/>
            <a:ext cx="1417320" cy="40233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11×</a:t>
            </a:r>
            <a:endParaRPr lang="en-US" sz="2200" dirty="0"/>
          </a:p>
        </p:txBody>
      </p:sp>
      <p:sp>
        <p:nvSpPr>
          <p:cNvPr id="48" name="Text 46"/>
          <p:cNvSpPr/>
          <p:nvPr/>
        </p:nvSpPr>
        <p:spPr>
          <a:xfrm>
            <a:off x="7498080" y="2459736"/>
            <a:ext cx="1417320" cy="22860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Vietnam Exports</a:t>
            </a:r>
            <a:endParaRPr lang="en-US" sz="750" dirty="0"/>
          </a:p>
          <a:p>
            <a:pPr algn="ctr" indent="0" marL="0">
              <a:buNone/>
            </a:pPr>
            <a:r>
              <a:rPr lang="en-US" sz="750" dirty="0">
                <a:solidFill>
                  <a:srgbClr val="FFFFFF"/>
                </a:solidFill>
                <a:latin typeface="Calibri" pitchFamily="34" charset="0"/>
                <a:ea typeface="Calibri" pitchFamily="34" charset="-122"/>
                <a:cs typeface="Calibri" pitchFamily="34" charset="-120"/>
              </a:rPr>
              <a:t>vs. Egypt</a:t>
            </a:r>
            <a:endParaRPr lang="en-US" sz="750" dirty="0"/>
          </a:p>
        </p:txBody>
      </p:sp>
      <p:sp>
        <p:nvSpPr>
          <p:cNvPr id="49" name="Text 47"/>
          <p:cNvSpPr/>
          <p:nvPr/>
        </p:nvSpPr>
        <p:spPr>
          <a:xfrm>
            <a:off x="7498080" y="2816352"/>
            <a:ext cx="1444752" cy="1920240"/>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Vietnam — with lower GDP per capita than Egypt in 2000 and no Suez Canal advantage — today exports 11× more. Three deliberate choices drove this: manufacturing FDI with EPZ incentives, export market diversification to 200+ countries, and logistics infrastructure investment (LPI: 2.1 → 3.3 in 15 years).</a:t>
            </a:r>
            <a:endParaRPr lang="en-US" sz="800" dirty="0"/>
          </a:p>
        </p:txBody>
      </p:sp>
      <p:sp>
        <p:nvSpPr>
          <p:cNvPr id="50" name="Shape 48"/>
          <p:cNvSpPr/>
          <p:nvPr/>
        </p:nvSpPr>
        <p:spPr>
          <a:xfrm>
            <a:off x="0" y="4873752"/>
            <a:ext cx="9144000" cy="269748"/>
          </a:xfrm>
          <a:prstGeom prst="rect">
            <a:avLst/>
          </a:prstGeom>
          <a:solidFill>
            <a:srgbClr val="0A2342"/>
          </a:solidFill>
          <a:ln w="12700">
            <a:solidFill>
              <a:srgbClr val="0A2342"/>
            </a:solidFill>
            <a:prstDash val="solid"/>
          </a:ln>
        </p:spPr>
      </p:sp>
      <p:sp>
        <p:nvSpPr>
          <p:cNvPr id="51" name="Text 49"/>
          <p:cNvSpPr/>
          <p:nvPr/>
        </p:nvSpPr>
        <p:spPr>
          <a:xfrm>
            <a:off x="274320" y="4882896"/>
            <a:ext cx="8595360" cy="246888"/>
          </a:xfrm>
          <a:prstGeom prst="rect">
            <a:avLst/>
          </a:prstGeom>
          <a:noFill/>
          <a:ln/>
        </p:spPr>
        <p:txBody>
          <a:bodyPr wrap="square" lIns="0" tIns="0" rIns="0" bIns="0" rtlCol="0" anchor="ctr"/>
          <a:lstStyle/>
          <a:p>
            <a:pPr indent="0" marL="0">
              <a:buNone/>
            </a:pPr>
            <a:r>
              <a:rPr lang="en-US" sz="800" dirty="0">
                <a:solidFill>
                  <a:srgbClr val="C9943A"/>
                </a:solidFill>
                <a:latin typeface="Calibri" pitchFamily="34" charset="0"/>
                <a:ea typeface="Calibri" pitchFamily="34" charset="-122"/>
                <a:cs typeface="Calibri" pitchFamily="34" charset="-120"/>
              </a:rPr>
              <a:t>Egyptian Export Observatory  |  DEPI Data Analysis Track  |  CLS-EGX-TRADEG1-T1  |  2025</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502920"/>
          </a:xfrm>
          <a:prstGeom prst="rect">
            <a:avLst/>
          </a:prstGeom>
          <a:noFill/>
          <a:ln/>
        </p:spPr>
        <p:txBody>
          <a:bodyPr wrap="square" lIns="0" tIns="0" rIns="0" bIns="0" rtlCol="0" anchor="ctr"/>
          <a:lstStyle/>
          <a:p>
            <a:pPr indent="0" marL="0">
              <a:buNone/>
            </a:pPr>
            <a:r>
              <a:rPr lang="en-US" sz="2600" b="1" dirty="0">
                <a:solidFill>
                  <a:srgbClr val="0A2342"/>
                </a:solidFill>
                <a:latin typeface="Calibri" pitchFamily="34" charset="0"/>
                <a:ea typeface="Calibri" pitchFamily="34" charset="-122"/>
                <a:cs typeface="Calibri" pitchFamily="34" charset="-120"/>
              </a:rPr>
              <a:t>Strategic Recommendations</a:t>
            </a:r>
            <a:endParaRPr lang="en-US" sz="2600" dirty="0"/>
          </a:p>
        </p:txBody>
      </p:sp>
      <p:sp>
        <p:nvSpPr>
          <p:cNvPr id="3" name="Text 1"/>
          <p:cNvSpPr/>
          <p:nvPr/>
        </p:nvSpPr>
        <p:spPr>
          <a:xfrm>
            <a:off x="457200" y="694944"/>
            <a:ext cx="8229600" cy="2743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12 Data-Driven Actions — Each Quantified with Projected Impact &amp; Timeline</a:t>
            </a:r>
            <a:endParaRPr lang="en-US" sz="1200" dirty="0"/>
          </a:p>
        </p:txBody>
      </p:sp>
      <p:sp>
        <p:nvSpPr>
          <p:cNvPr id="4" name="Shape 2"/>
          <p:cNvSpPr/>
          <p:nvPr/>
        </p:nvSpPr>
        <p:spPr>
          <a:xfrm>
            <a:off x="457200" y="1024128"/>
            <a:ext cx="8229600" cy="27432"/>
          </a:xfrm>
          <a:prstGeom prst="rect">
            <a:avLst/>
          </a:prstGeom>
          <a:solidFill>
            <a:srgbClr val="C9943A"/>
          </a:solidFill>
          <a:ln w="12700">
            <a:solidFill>
              <a:srgbClr val="C9943A"/>
            </a:solidFill>
            <a:prstDash val="solid"/>
          </a:ln>
        </p:spPr>
      </p:sp>
      <p:sp>
        <p:nvSpPr>
          <p:cNvPr id="5" name="Shape 3"/>
          <p:cNvSpPr/>
          <p:nvPr/>
        </p:nvSpPr>
        <p:spPr>
          <a:xfrm>
            <a:off x="347472" y="1170432"/>
            <a:ext cx="1993392" cy="1115568"/>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6" name="Shape 4"/>
          <p:cNvSpPr/>
          <p:nvPr/>
        </p:nvSpPr>
        <p:spPr>
          <a:xfrm>
            <a:off x="347472" y="1170432"/>
            <a:ext cx="1993392" cy="54864"/>
          </a:xfrm>
          <a:prstGeom prst="rect">
            <a:avLst/>
          </a:prstGeom>
          <a:solidFill>
            <a:srgbClr val="C0392B"/>
          </a:solidFill>
          <a:ln w="12700">
            <a:solidFill>
              <a:srgbClr val="C0392B"/>
            </a:solidFill>
            <a:prstDash val="solid"/>
          </a:ln>
        </p:spPr>
      </p:sp>
      <p:sp>
        <p:nvSpPr>
          <p:cNvPr id="7" name="Shape 5"/>
          <p:cNvSpPr/>
          <p:nvPr/>
        </p:nvSpPr>
        <p:spPr>
          <a:xfrm>
            <a:off x="347472" y="1170432"/>
            <a:ext cx="347472" cy="256032"/>
          </a:xfrm>
          <a:prstGeom prst="rect">
            <a:avLst/>
          </a:prstGeom>
          <a:solidFill>
            <a:srgbClr val="C0392B"/>
          </a:solidFill>
          <a:ln w="12700">
            <a:solidFill>
              <a:srgbClr val="C0392B"/>
            </a:solidFill>
            <a:prstDash val="solid"/>
          </a:ln>
        </p:spPr>
      </p:sp>
      <p:sp>
        <p:nvSpPr>
          <p:cNvPr id="8" name="Text 6"/>
          <p:cNvSpPr/>
          <p:nvPr/>
        </p:nvSpPr>
        <p:spPr>
          <a:xfrm>
            <a:off x="347472" y="1170432"/>
            <a:ext cx="34747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R1</a:t>
            </a:r>
            <a:endParaRPr lang="en-US" sz="900" dirty="0"/>
          </a:p>
        </p:txBody>
      </p:sp>
      <p:sp>
        <p:nvSpPr>
          <p:cNvPr id="9" name="Text 7"/>
          <p:cNvSpPr/>
          <p:nvPr/>
        </p:nvSpPr>
        <p:spPr>
          <a:xfrm>
            <a:off x="749808" y="1225296"/>
            <a:ext cx="1097280" cy="164592"/>
          </a:xfrm>
          <a:prstGeom prst="rect">
            <a:avLst/>
          </a:prstGeom>
          <a:noFill/>
          <a:ln/>
        </p:spPr>
        <p:txBody>
          <a:bodyPr wrap="square" lIns="0" tIns="0" rIns="0" bIns="0" rtlCol="0" anchor="ctr"/>
          <a:lstStyle/>
          <a:p>
            <a:pPr indent="0" marL="0">
              <a:buNone/>
            </a:pPr>
            <a:r>
              <a:rPr lang="en-US" sz="700" b="1" dirty="0">
                <a:solidFill>
                  <a:srgbClr val="C0392B"/>
                </a:solidFill>
                <a:latin typeface="Calibri" pitchFamily="34" charset="0"/>
                <a:ea typeface="Calibri" pitchFamily="34" charset="-122"/>
                <a:cs typeface="Calibri" pitchFamily="34" charset="-120"/>
              </a:rPr>
              <a:t>CRITICAL</a:t>
            </a:r>
            <a:endParaRPr lang="en-US" sz="700" dirty="0"/>
          </a:p>
        </p:txBody>
      </p:sp>
      <p:sp>
        <p:nvSpPr>
          <p:cNvPr id="10" name="Text 8"/>
          <p:cNvSpPr/>
          <p:nvPr/>
        </p:nvSpPr>
        <p:spPr>
          <a:xfrm>
            <a:off x="438912" y="1463040"/>
            <a:ext cx="1810512" cy="256032"/>
          </a:xfrm>
          <a:prstGeom prst="rect">
            <a:avLst/>
          </a:prstGeom>
          <a:noFill/>
          <a:ln/>
        </p:spPr>
        <p:txBody>
          <a:bodyPr wrap="square" lIns="0" tIns="0" rIns="0" bIns="0" rtlCol="0" anchor="ctr"/>
          <a:lstStyle/>
          <a:p>
            <a:pPr indent="0" marL="0">
              <a:buNone/>
            </a:pPr>
            <a:r>
              <a:rPr lang="en-US" sz="900" b="1" dirty="0">
                <a:solidFill>
                  <a:srgbClr val="0A2342"/>
                </a:solidFill>
                <a:latin typeface="Calibri" pitchFamily="34" charset="0"/>
                <a:ea typeface="Calibri" pitchFamily="34" charset="-122"/>
                <a:cs typeface="Calibri" pitchFamily="34" charset="-120"/>
              </a:rPr>
              <a:t>Fix Export Pricing</a:t>
            </a:r>
            <a:endParaRPr lang="en-US" sz="900" dirty="0"/>
          </a:p>
        </p:txBody>
      </p:sp>
      <p:sp>
        <p:nvSpPr>
          <p:cNvPr id="11" name="Text 9"/>
          <p:cNvSpPr/>
          <p:nvPr/>
        </p:nvSpPr>
        <p:spPr>
          <a:xfrm>
            <a:off x="438912" y="1737360"/>
            <a:ext cx="1810512" cy="201168"/>
          </a:xfrm>
          <a:prstGeom prst="rect">
            <a:avLst/>
          </a:prstGeom>
          <a:noFill/>
          <a:ln/>
        </p:spPr>
        <p:txBody>
          <a:bodyPr wrap="square" lIns="0" tIns="0" rIns="0" bIns="0" rtlCol="0" anchor="ctr"/>
          <a:lstStyle/>
          <a:p>
            <a:pPr indent="0" marL="0">
              <a:buNone/>
            </a:pPr>
            <a:r>
              <a:rPr lang="en-US" sz="800" dirty="0">
                <a:solidFill>
                  <a:srgbClr val="007B55"/>
                </a:solidFill>
                <a:latin typeface="Calibri" pitchFamily="34" charset="0"/>
                <a:ea typeface="Calibri" pitchFamily="34" charset="-122"/>
                <a:cs typeface="Calibri" pitchFamily="34" charset="-120"/>
              </a:rPr>
              <a:t>Impact: +$3.2B annually</a:t>
            </a:r>
            <a:endParaRPr lang="en-US" sz="800" dirty="0"/>
          </a:p>
        </p:txBody>
      </p:sp>
      <p:sp>
        <p:nvSpPr>
          <p:cNvPr id="12" name="Text 10"/>
          <p:cNvSpPr/>
          <p:nvPr/>
        </p:nvSpPr>
        <p:spPr>
          <a:xfrm>
            <a:off x="438912" y="1956816"/>
            <a:ext cx="1810512" cy="201168"/>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Timeline: 2–3 Yrs</a:t>
            </a:r>
            <a:endParaRPr lang="en-US" sz="800" dirty="0"/>
          </a:p>
        </p:txBody>
      </p:sp>
      <p:sp>
        <p:nvSpPr>
          <p:cNvPr id="13" name="Shape 11"/>
          <p:cNvSpPr/>
          <p:nvPr/>
        </p:nvSpPr>
        <p:spPr>
          <a:xfrm>
            <a:off x="2468880" y="1170432"/>
            <a:ext cx="1993392" cy="1115568"/>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14" name="Shape 12"/>
          <p:cNvSpPr/>
          <p:nvPr/>
        </p:nvSpPr>
        <p:spPr>
          <a:xfrm>
            <a:off x="2468880" y="1170432"/>
            <a:ext cx="1993392" cy="54864"/>
          </a:xfrm>
          <a:prstGeom prst="rect">
            <a:avLst/>
          </a:prstGeom>
          <a:solidFill>
            <a:srgbClr val="C0392B"/>
          </a:solidFill>
          <a:ln w="12700">
            <a:solidFill>
              <a:srgbClr val="C0392B"/>
            </a:solidFill>
            <a:prstDash val="solid"/>
          </a:ln>
        </p:spPr>
      </p:sp>
      <p:sp>
        <p:nvSpPr>
          <p:cNvPr id="15" name="Shape 13"/>
          <p:cNvSpPr/>
          <p:nvPr/>
        </p:nvSpPr>
        <p:spPr>
          <a:xfrm>
            <a:off x="2468880" y="1170432"/>
            <a:ext cx="347472" cy="256032"/>
          </a:xfrm>
          <a:prstGeom prst="rect">
            <a:avLst/>
          </a:prstGeom>
          <a:solidFill>
            <a:srgbClr val="C0392B"/>
          </a:solidFill>
          <a:ln w="12700">
            <a:solidFill>
              <a:srgbClr val="C0392B"/>
            </a:solidFill>
            <a:prstDash val="solid"/>
          </a:ln>
        </p:spPr>
      </p:sp>
      <p:sp>
        <p:nvSpPr>
          <p:cNvPr id="16" name="Text 14"/>
          <p:cNvSpPr/>
          <p:nvPr/>
        </p:nvSpPr>
        <p:spPr>
          <a:xfrm>
            <a:off x="2468880" y="1170432"/>
            <a:ext cx="34747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R2</a:t>
            </a:r>
            <a:endParaRPr lang="en-US" sz="900" dirty="0"/>
          </a:p>
        </p:txBody>
      </p:sp>
      <p:sp>
        <p:nvSpPr>
          <p:cNvPr id="17" name="Text 15"/>
          <p:cNvSpPr/>
          <p:nvPr/>
        </p:nvSpPr>
        <p:spPr>
          <a:xfrm>
            <a:off x="2871216" y="1225296"/>
            <a:ext cx="1097280" cy="164592"/>
          </a:xfrm>
          <a:prstGeom prst="rect">
            <a:avLst/>
          </a:prstGeom>
          <a:noFill/>
          <a:ln/>
        </p:spPr>
        <p:txBody>
          <a:bodyPr wrap="square" lIns="0" tIns="0" rIns="0" bIns="0" rtlCol="0" anchor="ctr"/>
          <a:lstStyle/>
          <a:p>
            <a:pPr indent="0" marL="0">
              <a:buNone/>
            </a:pPr>
            <a:r>
              <a:rPr lang="en-US" sz="700" b="1" dirty="0">
                <a:solidFill>
                  <a:srgbClr val="C0392B"/>
                </a:solidFill>
                <a:latin typeface="Calibri" pitchFamily="34" charset="0"/>
                <a:ea typeface="Calibri" pitchFamily="34" charset="-122"/>
                <a:cs typeface="Calibri" pitchFamily="34" charset="-120"/>
              </a:rPr>
              <a:t>CRITICAL</a:t>
            </a:r>
            <a:endParaRPr lang="en-US" sz="700" dirty="0"/>
          </a:p>
        </p:txBody>
      </p:sp>
      <p:sp>
        <p:nvSpPr>
          <p:cNvPr id="18" name="Text 16"/>
          <p:cNvSpPr/>
          <p:nvPr/>
        </p:nvSpPr>
        <p:spPr>
          <a:xfrm>
            <a:off x="2560320" y="1463040"/>
            <a:ext cx="1810512" cy="256032"/>
          </a:xfrm>
          <a:prstGeom prst="rect">
            <a:avLst/>
          </a:prstGeom>
          <a:noFill/>
          <a:ln/>
        </p:spPr>
        <p:txBody>
          <a:bodyPr wrap="square" lIns="0" tIns="0" rIns="0" bIns="0" rtlCol="0" anchor="ctr"/>
          <a:lstStyle/>
          <a:p>
            <a:pPr indent="0" marL="0">
              <a:buNone/>
            </a:pPr>
            <a:r>
              <a:rPr lang="en-US" sz="900" b="1" dirty="0">
                <a:solidFill>
                  <a:srgbClr val="0A2342"/>
                </a:solidFill>
                <a:latin typeface="Calibri" pitchFamily="34" charset="0"/>
                <a:ea typeface="Calibri" pitchFamily="34" charset="-122"/>
                <a:cs typeface="Calibri" pitchFamily="34" charset="-120"/>
              </a:rPr>
              <a:t>National Export Branding</a:t>
            </a:r>
            <a:endParaRPr lang="en-US" sz="900" dirty="0"/>
          </a:p>
        </p:txBody>
      </p:sp>
      <p:sp>
        <p:nvSpPr>
          <p:cNvPr id="19" name="Text 17"/>
          <p:cNvSpPr/>
          <p:nvPr/>
        </p:nvSpPr>
        <p:spPr>
          <a:xfrm>
            <a:off x="2560320" y="1737360"/>
            <a:ext cx="1810512" cy="201168"/>
          </a:xfrm>
          <a:prstGeom prst="rect">
            <a:avLst/>
          </a:prstGeom>
          <a:noFill/>
          <a:ln/>
        </p:spPr>
        <p:txBody>
          <a:bodyPr wrap="square" lIns="0" tIns="0" rIns="0" bIns="0" rtlCol="0" anchor="ctr"/>
          <a:lstStyle/>
          <a:p>
            <a:pPr indent="0" marL="0">
              <a:buNone/>
            </a:pPr>
            <a:r>
              <a:rPr lang="en-US" sz="800" dirty="0">
                <a:solidFill>
                  <a:srgbClr val="007B55"/>
                </a:solidFill>
                <a:latin typeface="Calibri" pitchFamily="34" charset="0"/>
                <a:ea typeface="Calibri" pitchFamily="34" charset="-122"/>
                <a:cs typeface="Calibri" pitchFamily="34" charset="-120"/>
              </a:rPr>
              <a:t>Impact: +$4.8B by 2030</a:t>
            </a:r>
            <a:endParaRPr lang="en-US" sz="800" dirty="0"/>
          </a:p>
        </p:txBody>
      </p:sp>
      <p:sp>
        <p:nvSpPr>
          <p:cNvPr id="20" name="Text 18"/>
          <p:cNvSpPr/>
          <p:nvPr/>
        </p:nvSpPr>
        <p:spPr>
          <a:xfrm>
            <a:off x="2560320" y="1956816"/>
            <a:ext cx="1810512" cy="201168"/>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Timeline: 3–5 Yrs</a:t>
            </a:r>
            <a:endParaRPr lang="en-US" sz="800" dirty="0"/>
          </a:p>
        </p:txBody>
      </p:sp>
      <p:sp>
        <p:nvSpPr>
          <p:cNvPr id="21" name="Shape 19"/>
          <p:cNvSpPr/>
          <p:nvPr/>
        </p:nvSpPr>
        <p:spPr>
          <a:xfrm>
            <a:off x="4590288" y="1170432"/>
            <a:ext cx="1993392" cy="1115568"/>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22" name="Shape 20"/>
          <p:cNvSpPr/>
          <p:nvPr/>
        </p:nvSpPr>
        <p:spPr>
          <a:xfrm>
            <a:off x="4590288" y="1170432"/>
            <a:ext cx="1993392" cy="54864"/>
          </a:xfrm>
          <a:prstGeom prst="rect">
            <a:avLst/>
          </a:prstGeom>
          <a:solidFill>
            <a:srgbClr val="C0392B"/>
          </a:solidFill>
          <a:ln w="12700">
            <a:solidFill>
              <a:srgbClr val="C0392B"/>
            </a:solidFill>
            <a:prstDash val="solid"/>
          </a:ln>
        </p:spPr>
      </p:sp>
      <p:sp>
        <p:nvSpPr>
          <p:cNvPr id="23" name="Shape 21"/>
          <p:cNvSpPr/>
          <p:nvPr/>
        </p:nvSpPr>
        <p:spPr>
          <a:xfrm>
            <a:off x="4590288" y="1170432"/>
            <a:ext cx="347472" cy="256032"/>
          </a:xfrm>
          <a:prstGeom prst="rect">
            <a:avLst/>
          </a:prstGeom>
          <a:solidFill>
            <a:srgbClr val="C0392B"/>
          </a:solidFill>
          <a:ln w="12700">
            <a:solidFill>
              <a:srgbClr val="C0392B"/>
            </a:solidFill>
            <a:prstDash val="solid"/>
          </a:ln>
        </p:spPr>
      </p:sp>
      <p:sp>
        <p:nvSpPr>
          <p:cNvPr id="24" name="Text 22"/>
          <p:cNvSpPr/>
          <p:nvPr/>
        </p:nvSpPr>
        <p:spPr>
          <a:xfrm>
            <a:off x="4590288" y="1170432"/>
            <a:ext cx="34747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R3</a:t>
            </a:r>
            <a:endParaRPr lang="en-US" sz="900" dirty="0"/>
          </a:p>
        </p:txBody>
      </p:sp>
      <p:sp>
        <p:nvSpPr>
          <p:cNvPr id="25" name="Text 23"/>
          <p:cNvSpPr/>
          <p:nvPr/>
        </p:nvSpPr>
        <p:spPr>
          <a:xfrm>
            <a:off x="4992624" y="1225296"/>
            <a:ext cx="1097280" cy="164592"/>
          </a:xfrm>
          <a:prstGeom prst="rect">
            <a:avLst/>
          </a:prstGeom>
          <a:noFill/>
          <a:ln/>
        </p:spPr>
        <p:txBody>
          <a:bodyPr wrap="square" lIns="0" tIns="0" rIns="0" bIns="0" rtlCol="0" anchor="ctr"/>
          <a:lstStyle/>
          <a:p>
            <a:pPr indent="0" marL="0">
              <a:buNone/>
            </a:pPr>
            <a:r>
              <a:rPr lang="en-US" sz="700" b="1" dirty="0">
                <a:solidFill>
                  <a:srgbClr val="C0392B"/>
                </a:solidFill>
                <a:latin typeface="Calibri" pitchFamily="34" charset="0"/>
                <a:ea typeface="Calibri" pitchFamily="34" charset="-122"/>
                <a:cs typeface="Calibri" pitchFamily="34" charset="-120"/>
              </a:rPr>
              <a:t>CRITICAL</a:t>
            </a:r>
            <a:endParaRPr lang="en-US" sz="700" dirty="0"/>
          </a:p>
        </p:txBody>
      </p:sp>
      <p:sp>
        <p:nvSpPr>
          <p:cNvPr id="26" name="Text 24"/>
          <p:cNvSpPr/>
          <p:nvPr/>
        </p:nvSpPr>
        <p:spPr>
          <a:xfrm>
            <a:off x="4681728" y="1463040"/>
            <a:ext cx="1810512" cy="256032"/>
          </a:xfrm>
          <a:prstGeom prst="rect">
            <a:avLst/>
          </a:prstGeom>
          <a:noFill/>
          <a:ln/>
        </p:spPr>
        <p:txBody>
          <a:bodyPr wrap="square" lIns="0" tIns="0" rIns="0" bIns="0" rtlCol="0" anchor="ctr"/>
          <a:lstStyle/>
          <a:p>
            <a:pPr indent="0" marL="0">
              <a:buNone/>
            </a:pPr>
            <a:r>
              <a:rPr lang="en-US" sz="900" b="1" dirty="0">
                <a:solidFill>
                  <a:srgbClr val="0A2342"/>
                </a:solidFill>
                <a:latin typeface="Calibri" pitchFamily="34" charset="0"/>
                <a:ea typeface="Calibri" pitchFamily="34" charset="-122"/>
                <a:cs typeface="Calibri" pitchFamily="34" charset="-120"/>
              </a:rPr>
              <a:t>Structural Diversification</a:t>
            </a:r>
            <a:endParaRPr lang="en-US" sz="900" dirty="0"/>
          </a:p>
        </p:txBody>
      </p:sp>
      <p:sp>
        <p:nvSpPr>
          <p:cNvPr id="27" name="Text 25"/>
          <p:cNvSpPr/>
          <p:nvPr/>
        </p:nvSpPr>
        <p:spPr>
          <a:xfrm>
            <a:off x="4681728" y="1737360"/>
            <a:ext cx="1810512" cy="201168"/>
          </a:xfrm>
          <a:prstGeom prst="rect">
            <a:avLst/>
          </a:prstGeom>
          <a:noFill/>
          <a:ln/>
        </p:spPr>
        <p:txBody>
          <a:bodyPr wrap="square" lIns="0" tIns="0" rIns="0" bIns="0" rtlCol="0" anchor="ctr"/>
          <a:lstStyle/>
          <a:p>
            <a:pPr indent="0" marL="0">
              <a:buNone/>
            </a:pPr>
            <a:r>
              <a:rPr lang="en-US" sz="800" dirty="0">
                <a:solidFill>
                  <a:srgbClr val="007B55"/>
                </a:solidFill>
                <a:latin typeface="Calibri" pitchFamily="34" charset="0"/>
                <a:ea typeface="Calibri" pitchFamily="34" charset="-122"/>
                <a:cs typeface="Calibri" pitchFamily="34" charset="-120"/>
              </a:rPr>
              <a:t>Impact: +$3B+ stable</a:t>
            </a:r>
            <a:endParaRPr lang="en-US" sz="800" dirty="0"/>
          </a:p>
        </p:txBody>
      </p:sp>
      <p:sp>
        <p:nvSpPr>
          <p:cNvPr id="28" name="Text 26"/>
          <p:cNvSpPr/>
          <p:nvPr/>
        </p:nvSpPr>
        <p:spPr>
          <a:xfrm>
            <a:off x="4681728" y="1956816"/>
            <a:ext cx="1810512" cy="201168"/>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Timeline: 5–7 Yrs</a:t>
            </a:r>
            <a:endParaRPr lang="en-US" sz="800" dirty="0"/>
          </a:p>
        </p:txBody>
      </p:sp>
      <p:sp>
        <p:nvSpPr>
          <p:cNvPr id="29" name="Shape 27"/>
          <p:cNvSpPr/>
          <p:nvPr/>
        </p:nvSpPr>
        <p:spPr>
          <a:xfrm>
            <a:off x="6711696" y="1170432"/>
            <a:ext cx="1993392" cy="1115568"/>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30" name="Shape 28"/>
          <p:cNvSpPr/>
          <p:nvPr/>
        </p:nvSpPr>
        <p:spPr>
          <a:xfrm>
            <a:off x="6711696" y="1170432"/>
            <a:ext cx="1993392" cy="54864"/>
          </a:xfrm>
          <a:prstGeom prst="rect">
            <a:avLst/>
          </a:prstGeom>
          <a:solidFill>
            <a:srgbClr val="C0392B"/>
          </a:solidFill>
          <a:ln w="12700">
            <a:solidFill>
              <a:srgbClr val="C0392B"/>
            </a:solidFill>
            <a:prstDash val="solid"/>
          </a:ln>
        </p:spPr>
      </p:sp>
      <p:sp>
        <p:nvSpPr>
          <p:cNvPr id="31" name="Shape 29"/>
          <p:cNvSpPr/>
          <p:nvPr/>
        </p:nvSpPr>
        <p:spPr>
          <a:xfrm>
            <a:off x="6711696" y="1170432"/>
            <a:ext cx="347472" cy="256032"/>
          </a:xfrm>
          <a:prstGeom prst="rect">
            <a:avLst/>
          </a:prstGeom>
          <a:solidFill>
            <a:srgbClr val="C0392B"/>
          </a:solidFill>
          <a:ln w="12700">
            <a:solidFill>
              <a:srgbClr val="C0392B"/>
            </a:solidFill>
            <a:prstDash val="solid"/>
          </a:ln>
        </p:spPr>
      </p:sp>
      <p:sp>
        <p:nvSpPr>
          <p:cNvPr id="32" name="Text 30"/>
          <p:cNvSpPr/>
          <p:nvPr/>
        </p:nvSpPr>
        <p:spPr>
          <a:xfrm>
            <a:off x="6711696" y="1170432"/>
            <a:ext cx="34747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R4</a:t>
            </a:r>
            <a:endParaRPr lang="en-US" sz="900" dirty="0"/>
          </a:p>
        </p:txBody>
      </p:sp>
      <p:sp>
        <p:nvSpPr>
          <p:cNvPr id="33" name="Text 31"/>
          <p:cNvSpPr/>
          <p:nvPr/>
        </p:nvSpPr>
        <p:spPr>
          <a:xfrm>
            <a:off x="7114032" y="1225296"/>
            <a:ext cx="1097280" cy="164592"/>
          </a:xfrm>
          <a:prstGeom prst="rect">
            <a:avLst/>
          </a:prstGeom>
          <a:noFill/>
          <a:ln/>
        </p:spPr>
        <p:txBody>
          <a:bodyPr wrap="square" lIns="0" tIns="0" rIns="0" bIns="0" rtlCol="0" anchor="ctr"/>
          <a:lstStyle/>
          <a:p>
            <a:pPr indent="0" marL="0">
              <a:buNone/>
            </a:pPr>
            <a:r>
              <a:rPr lang="en-US" sz="700" b="1" dirty="0">
                <a:solidFill>
                  <a:srgbClr val="C0392B"/>
                </a:solidFill>
                <a:latin typeface="Calibri" pitchFamily="34" charset="0"/>
                <a:ea typeface="Calibri" pitchFamily="34" charset="-122"/>
                <a:cs typeface="Calibri" pitchFamily="34" charset="-120"/>
              </a:rPr>
              <a:t>CRITICAL</a:t>
            </a:r>
            <a:endParaRPr lang="en-US" sz="700" dirty="0"/>
          </a:p>
        </p:txBody>
      </p:sp>
      <p:sp>
        <p:nvSpPr>
          <p:cNvPr id="34" name="Text 32"/>
          <p:cNvSpPr/>
          <p:nvPr/>
        </p:nvSpPr>
        <p:spPr>
          <a:xfrm>
            <a:off x="6803136" y="1463040"/>
            <a:ext cx="1810512" cy="256032"/>
          </a:xfrm>
          <a:prstGeom prst="rect">
            <a:avLst/>
          </a:prstGeom>
          <a:noFill/>
          <a:ln/>
        </p:spPr>
        <p:txBody>
          <a:bodyPr wrap="square" lIns="0" tIns="0" rIns="0" bIns="0" rtlCol="0" anchor="ctr"/>
          <a:lstStyle/>
          <a:p>
            <a:pPr indent="0" marL="0">
              <a:buNone/>
            </a:pPr>
            <a:r>
              <a:rPr lang="en-US" sz="900" b="1" dirty="0">
                <a:solidFill>
                  <a:srgbClr val="0A2342"/>
                </a:solidFill>
                <a:latin typeface="Calibri" pitchFamily="34" charset="0"/>
                <a:ea typeface="Calibri" pitchFamily="34" charset="-122"/>
                <a:cs typeface="Calibri" pitchFamily="34" charset="-120"/>
              </a:rPr>
              <a:t>Fast-Track EU FTA</a:t>
            </a:r>
            <a:endParaRPr lang="en-US" sz="900" dirty="0"/>
          </a:p>
        </p:txBody>
      </p:sp>
      <p:sp>
        <p:nvSpPr>
          <p:cNvPr id="35" name="Text 33"/>
          <p:cNvSpPr/>
          <p:nvPr/>
        </p:nvSpPr>
        <p:spPr>
          <a:xfrm>
            <a:off x="6803136" y="1737360"/>
            <a:ext cx="1810512" cy="201168"/>
          </a:xfrm>
          <a:prstGeom prst="rect">
            <a:avLst/>
          </a:prstGeom>
          <a:noFill/>
          <a:ln/>
        </p:spPr>
        <p:txBody>
          <a:bodyPr wrap="square" lIns="0" tIns="0" rIns="0" bIns="0" rtlCol="0" anchor="ctr"/>
          <a:lstStyle/>
          <a:p>
            <a:pPr indent="0" marL="0">
              <a:buNone/>
            </a:pPr>
            <a:r>
              <a:rPr lang="en-US" sz="800" dirty="0">
                <a:solidFill>
                  <a:srgbClr val="007B55"/>
                </a:solidFill>
                <a:latin typeface="Calibri" pitchFamily="34" charset="0"/>
                <a:ea typeface="Calibri" pitchFamily="34" charset="-122"/>
                <a:cs typeface="Calibri" pitchFamily="34" charset="-120"/>
              </a:rPr>
              <a:t>Impact: +$8.5B potential</a:t>
            </a:r>
            <a:endParaRPr lang="en-US" sz="800" dirty="0"/>
          </a:p>
        </p:txBody>
      </p:sp>
      <p:sp>
        <p:nvSpPr>
          <p:cNvPr id="36" name="Text 34"/>
          <p:cNvSpPr/>
          <p:nvPr/>
        </p:nvSpPr>
        <p:spPr>
          <a:xfrm>
            <a:off x="6803136" y="1956816"/>
            <a:ext cx="1810512" cy="201168"/>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Timeline: 3–5 Yrs</a:t>
            </a:r>
            <a:endParaRPr lang="en-US" sz="800" dirty="0"/>
          </a:p>
        </p:txBody>
      </p:sp>
      <p:sp>
        <p:nvSpPr>
          <p:cNvPr id="37" name="Shape 35"/>
          <p:cNvSpPr/>
          <p:nvPr/>
        </p:nvSpPr>
        <p:spPr>
          <a:xfrm>
            <a:off x="347472" y="2404872"/>
            <a:ext cx="1993392" cy="1115568"/>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38" name="Shape 36"/>
          <p:cNvSpPr/>
          <p:nvPr/>
        </p:nvSpPr>
        <p:spPr>
          <a:xfrm>
            <a:off x="347472" y="2404872"/>
            <a:ext cx="1993392" cy="54864"/>
          </a:xfrm>
          <a:prstGeom prst="rect">
            <a:avLst/>
          </a:prstGeom>
          <a:solidFill>
            <a:srgbClr val="C9943A"/>
          </a:solidFill>
          <a:ln w="12700">
            <a:solidFill>
              <a:srgbClr val="C9943A"/>
            </a:solidFill>
            <a:prstDash val="solid"/>
          </a:ln>
        </p:spPr>
      </p:sp>
      <p:sp>
        <p:nvSpPr>
          <p:cNvPr id="39" name="Shape 37"/>
          <p:cNvSpPr/>
          <p:nvPr/>
        </p:nvSpPr>
        <p:spPr>
          <a:xfrm>
            <a:off x="347472" y="2404872"/>
            <a:ext cx="347472" cy="256032"/>
          </a:xfrm>
          <a:prstGeom prst="rect">
            <a:avLst/>
          </a:prstGeom>
          <a:solidFill>
            <a:srgbClr val="C9943A"/>
          </a:solidFill>
          <a:ln w="12700">
            <a:solidFill>
              <a:srgbClr val="C9943A"/>
            </a:solidFill>
            <a:prstDash val="solid"/>
          </a:ln>
        </p:spPr>
      </p:sp>
      <p:sp>
        <p:nvSpPr>
          <p:cNvPr id="40" name="Text 38"/>
          <p:cNvSpPr/>
          <p:nvPr/>
        </p:nvSpPr>
        <p:spPr>
          <a:xfrm>
            <a:off x="347472" y="2404872"/>
            <a:ext cx="34747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R5</a:t>
            </a:r>
            <a:endParaRPr lang="en-US" sz="900" dirty="0"/>
          </a:p>
        </p:txBody>
      </p:sp>
      <p:sp>
        <p:nvSpPr>
          <p:cNvPr id="41" name="Text 39"/>
          <p:cNvSpPr/>
          <p:nvPr/>
        </p:nvSpPr>
        <p:spPr>
          <a:xfrm>
            <a:off x="749808" y="2459736"/>
            <a:ext cx="1097280" cy="164592"/>
          </a:xfrm>
          <a:prstGeom prst="rect">
            <a:avLst/>
          </a:prstGeom>
          <a:noFill/>
          <a:ln/>
        </p:spPr>
        <p:txBody>
          <a:bodyPr wrap="square" lIns="0" tIns="0" rIns="0" bIns="0" rtlCol="0" anchor="ctr"/>
          <a:lstStyle/>
          <a:p>
            <a:pPr indent="0" marL="0">
              <a:buNone/>
            </a:pPr>
            <a:r>
              <a:rPr lang="en-US" sz="700" b="1" dirty="0">
                <a:solidFill>
                  <a:srgbClr val="C9943A"/>
                </a:solidFill>
                <a:latin typeface="Calibri" pitchFamily="34" charset="0"/>
                <a:ea typeface="Calibri" pitchFamily="34" charset="-122"/>
                <a:cs typeface="Calibri" pitchFamily="34" charset="-120"/>
              </a:rPr>
              <a:t>HIGH</a:t>
            </a:r>
            <a:endParaRPr lang="en-US" sz="700" dirty="0"/>
          </a:p>
        </p:txBody>
      </p:sp>
      <p:sp>
        <p:nvSpPr>
          <p:cNvPr id="42" name="Text 40"/>
          <p:cNvSpPr/>
          <p:nvPr/>
        </p:nvSpPr>
        <p:spPr>
          <a:xfrm>
            <a:off x="438912" y="2697480"/>
            <a:ext cx="1810512" cy="256032"/>
          </a:xfrm>
          <a:prstGeom prst="rect">
            <a:avLst/>
          </a:prstGeom>
          <a:noFill/>
          <a:ln/>
        </p:spPr>
        <p:txBody>
          <a:bodyPr wrap="square" lIns="0" tIns="0" rIns="0" bIns="0" rtlCol="0" anchor="ctr"/>
          <a:lstStyle/>
          <a:p>
            <a:pPr indent="0" marL="0">
              <a:buNone/>
            </a:pPr>
            <a:r>
              <a:rPr lang="en-US" sz="900" b="1" dirty="0">
                <a:solidFill>
                  <a:srgbClr val="0A2342"/>
                </a:solidFill>
                <a:latin typeface="Calibri" pitchFamily="34" charset="0"/>
                <a:ea typeface="Calibri" pitchFamily="34" charset="-122"/>
                <a:cs typeface="Calibri" pitchFamily="34" charset="-120"/>
              </a:rPr>
              <a:t>Asian Market Strategy</a:t>
            </a:r>
            <a:endParaRPr lang="en-US" sz="900" dirty="0"/>
          </a:p>
        </p:txBody>
      </p:sp>
      <p:sp>
        <p:nvSpPr>
          <p:cNvPr id="43" name="Text 41"/>
          <p:cNvSpPr/>
          <p:nvPr/>
        </p:nvSpPr>
        <p:spPr>
          <a:xfrm>
            <a:off x="438912" y="2971800"/>
            <a:ext cx="1810512" cy="201168"/>
          </a:xfrm>
          <a:prstGeom prst="rect">
            <a:avLst/>
          </a:prstGeom>
          <a:noFill/>
          <a:ln/>
        </p:spPr>
        <p:txBody>
          <a:bodyPr wrap="square" lIns="0" tIns="0" rIns="0" bIns="0" rtlCol="0" anchor="ctr"/>
          <a:lstStyle/>
          <a:p>
            <a:pPr indent="0" marL="0">
              <a:buNone/>
            </a:pPr>
            <a:r>
              <a:rPr lang="en-US" sz="800" dirty="0">
                <a:solidFill>
                  <a:srgbClr val="007B55"/>
                </a:solidFill>
                <a:latin typeface="Calibri" pitchFamily="34" charset="0"/>
                <a:ea typeface="Calibri" pitchFamily="34" charset="-122"/>
                <a:cs typeface="Calibri" pitchFamily="34" charset="-120"/>
              </a:rPr>
              <a:t>Impact: +$5.8B annually</a:t>
            </a:r>
            <a:endParaRPr lang="en-US" sz="800" dirty="0"/>
          </a:p>
        </p:txBody>
      </p:sp>
      <p:sp>
        <p:nvSpPr>
          <p:cNvPr id="44" name="Text 42"/>
          <p:cNvSpPr/>
          <p:nvPr/>
        </p:nvSpPr>
        <p:spPr>
          <a:xfrm>
            <a:off x="438912" y="3191256"/>
            <a:ext cx="1810512" cy="201168"/>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Timeline: 3–5 Yrs</a:t>
            </a:r>
            <a:endParaRPr lang="en-US" sz="800" dirty="0"/>
          </a:p>
        </p:txBody>
      </p:sp>
      <p:sp>
        <p:nvSpPr>
          <p:cNvPr id="45" name="Shape 43"/>
          <p:cNvSpPr/>
          <p:nvPr/>
        </p:nvSpPr>
        <p:spPr>
          <a:xfrm>
            <a:off x="2468880" y="2404872"/>
            <a:ext cx="1993392" cy="1115568"/>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46" name="Shape 44"/>
          <p:cNvSpPr/>
          <p:nvPr/>
        </p:nvSpPr>
        <p:spPr>
          <a:xfrm>
            <a:off x="2468880" y="2404872"/>
            <a:ext cx="1993392" cy="54864"/>
          </a:xfrm>
          <a:prstGeom prst="rect">
            <a:avLst/>
          </a:prstGeom>
          <a:solidFill>
            <a:srgbClr val="C9943A"/>
          </a:solidFill>
          <a:ln w="12700">
            <a:solidFill>
              <a:srgbClr val="C9943A"/>
            </a:solidFill>
            <a:prstDash val="solid"/>
          </a:ln>
        </p:spPr>
      </p:sp>
      <p:sp>
        <p:nvSpPr>
          <p:cNvPr id="47" name="Shape 45"/>
          <p:cNvSpPr/>
          <p:nvPr/>
        </p:nvSpPr>
        <p:spPr>
          <a:xfrm>
            <a:off x="2468880" y="2404872"/>
            <a:ext cx="347472" cy="256032"/>
          </a:xfrm>
          <a:prstGeom prst="rect">
            <a:avLst/>
          </a:prstGeom>
          <a:solidFill>
            <a:srgbClr val="C9943A"/>
          </a:solidFill>
          <a:ln w="12700">
            <a:solidFill>
              <a:srgbClr val="C9943A"/>
            </a:solidFill>
            <a:prstDash val="solid"/>
          </a:ln>
        </p:spPr>
      </p:sp>
      <p:sp>
        <p:nvSpPr>
          <p:cNvPr id="48" name="Text 46"/>
          <p:cNvSpPr/>
          <p:nvPr/>
        </p:nvSpPr>
        <p:spPr>
          <a:xfrm>
            <a:off x="2468880" y="2404872"/>
            <a:ext cx="34747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R6</a:t>
            </a:r>
            <a:endParaRPr lang="en-US" sz="900" dirty="0"/>
          </a:p>
        </p:txBody>
      </p:sp>
      <p:sp>
        <p:nvSpPr>
          <p:cNvPr id="49" name="Text 47"/>
          <p:cNvSpPr/>
          <p:nvPr/>
        </p:nvSpPr>
        <p:spPr>
          <a:xfrm>
            <a:off x="2871216" y="2459736"/>
            <a:ext cx="1097280" cy="164592"/>
          </a:xfrm>
          <a:prstGeom prst="rect">
            <a:avLst/>
          </a:prstGeom>
          <a:noFill/>
          <a:ln/>
        </p:spPr>
        <p:txBody>
          <a:bodyPr wrap="square" lIns="0" tIns="0" rIns="0" bIns="0" rtlCol="0" anchor="ctr"/>
          <a:lstStyle/>
          <a:p>
            <a:pPr indent="0" marL="0">
              <a:buNone/>
            </a:pPr>
            <a:r>
              <a:rPr lang="en-US" sz="700" b="1" dirty="0">
                <a:solidFill>
                  <a:srgbClr val="C9943A"/>
                </a:solidFill>
                <a:latin typeface="Calibri" pitchFamily="34" charset="0"/>
                <a:ea typeface="Calibri" pitchFamily="34" charset="-122"/>
                <a:cs typeface="Calibri" pitchFamily="34" charset="-120"/>
              </a:rPr>
              <a:t>HIGH</a:t>
            </a:r>
            <a:endParaRPr lang="en-US" sz="700" dirty="0"/>
          </a:p>
        </p:txBody>
      </p:sp>
      <p:sp>
        <p:nvSpPr>
          <p:cNvPr id="50" name="Text 48"/>
          <p:cNvSpPr/>
          <p:nvPr/>
        </p:nvSpPr>
        <p:spPr>
          <a:xfrm>
            <a:off x="2560320" y="2697480"/>
            <a:ext cx="1810512" cy="256032"/>
          </a:xfrm>
          <a:prstGeom prst="rect">
            <a:avLst/>
          </a:prstGeom>
          <a:noFill/>
          <a:ln/>
        </p:spPr>
        <p:txBody>
          <a:bodyPr wrap="square" lIns="0" tIns="0" rIns="0" bIns="0" rtlCol="0" anchor="ctr"/>
          <a:lstStyle/>
          <a:p>
            <a:pPr indent="0" marL="0">
              <a:buNone/>
            </a:pPr>
            <a:r>
              <a:rPr lang="en-US" sz="900" b="1" dirty="0">
                <a:solidFill>
                  <a:srgbClr val="0A2342"/>
                </a:solidFill>
                <a:latin typeface="Calibri" pitchFamily="34" charset="0"/>
                <a:ea typeface="Calibri" pitchFamily="34" charset="-122"/>
                <a:cs typeface="Calibri" pitchFamily="34" charset="-120"/>
              </a:rPr>
              <a:t>Export Processing Zones</a:t>
            </a:r>
            <a:endParaRPr lang="en-US" sz="900" dirty="0"/>
          </a:p>
        </p:txBody>
      </p:sp>
      <p:sp>
        <p:nvSpPr>
          <p:cNvPr id="51" name="Text 49"/>
          <p:cNvSpPr/>
          <p:nvPr/>
        </p:nvSpPr>
        <p:spPr>
          <a:xfrm>
            <a:off x="2560320" y="2971800"/>
            <a:ext cx="1810512" cy="201168"/>
          </a:xfrm>
          <a:prstGeom prst="rect">
            <a:avLst/>
          </a:prstGeom>
          <a:noFill/>
          <a:ln/>
        </p:spPr>
        <p:txBody>
          <a:bodyPr wrap="square" lIns="0" tIns="0" rIns="0" bIns="0" rtlCol="0" anchor="ctr"/>
          <a:lstStyle/>
          <a:p>
            <a:pPr indent="0" marL="0">
              <a:buNone/>
            </a:pPr>
            <a:r>
              <a:rPr lang="en-US" sz="800" dirty="0">
                <a:solidFill>
                  <a:srgbClr val="007B55"/>
                </a:solidFill>
                <a:latin typeface="Calibri" pitchFamily="34" charset="0"/>
                <a:ea typeface="Calibri" pitchFamily="34" charset="-122"/>
                <a:cs typeface="Calibri" pitchFamily="34" charset="-120"/>
              </a:rPr>
              <a:t>Impact: +$3.6B by 2030</a:t>
            </a:r>
            <a:endParaRPr lang="en-US" sz="800" dirty="0"/>
          </a:p>
        </p:txBody>
      </p:sp>
      <p:sp>
        <p:nvSpPr>
          <p:cNvPr id="52" name="Text 50"/>
          <p:cNvSpPr/>
          <p:nvPr/>
        </p:nvSpPr>
        <p:spPr>
          <a:xfrm>
            <a:off x="2560320" y="3191256"/>
            <a:ext cx="1810512" cy="201168"/>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Timeline: 3–5 Yrs</a:t>
            </a:r>
            <a:endParaRPr lang="en-US" sz="800" dirty="0"/>
          </a:p>
        </p:txBody>
      </p:sp>
      <p:sp>
        <p:nvSpPr>
          <p:cNvPr id="53" name="Shape 51"/>
          <p:cNvSpPr/>
          <p:nvPr/>
        </p:nvSpPr>
        <p:spPr>
          <a:xfrm>
            <a:off x="4590288" y="2404872"/>
            <a:ext cx="1993392" cy="1115568"/>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54" name="Shape 52"/>
          <p:cNvSpPr/>
          <p:nvPr/>
        </p:nvSpPr>
        <p:spPr>
          <a:xfrm>
            <a:off x="4590288" y="2404872"/>
            <a:ext cx="1993392" cy="54864"/>
          </a:xfrm>
          <a:prstGeom prst="rect">
            <a:avLst/>
          </a:prstGeom>
          <a:solidFill>
            <a:srgbClr val="C9943A"/>
          </a:solidFill>
          <a:ln w="12700">
            <a:solidFill>
              <a:srgbClr val="C9943A"/>
            </a:solidFill>
            <a:prstDash val="solid"/>
          </a:ln>
        </p:spPr>
      </p:sp>
      <p:sp>
        <p:nvSpPr>
          <p:cNvPr id="55" name="Shape 53"/>
          <p:cNvSpPr/>
          <p:nvPr/>
        </p:nvSpPr>
        <p:spPr>
          <a:xfrm>
            <a:off x="4590288" y="2404872"/>
            <a:ext cx="347472" cy="256032"/>
          </a:xfrm>
          <a:prstGeom prst="rect">
            <a:avLst/>
          </a:prstGeom>
          <a:solidFill>
            <a:srgbClr val="C9943A"/>
          </a:solidFill>
          <a:ln w="12700">
            <a:solidFill>
              <a:srgbClr val="C9943A"/>
            </a:solidFill>
            <a:prstDash val="solid"/>
          </a:ln>
        </p:spPr>
      </p:sp>
      <p:sp>
        <p:nvSpPr>
          <p:cNvPr id="56" name="Text 54"/>
          <p:cNvSpPr/>
          <p:nvPr/>
        </p:nvSpPr>
        <p:spPr>
          <a:xfrm>
            <a:off x="4590288" y="2404872"/>
            <a:ext cx="34747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R7</a:t>
            </a:r>
            <a:endParaRPr lang="en-US" sz="900" dirty="0"/>
          </a:p>
        </p:txBody>
      </p:sp>
      <p:sp>
        <p:nvSpPr>
          <p:cNvPr id="57" name="Text 55"/>
          <p:cNvSpPr/>
          <p:nvPr/>
        </p:nvSpPr>
        <p:spPr>
          <a:xfrm>
            <a:off x="4992624" y="2459736"/>
            <a:ext cx="1097280" cy="164592"/>
          </a:xfrm>
          <a:prstGeom prst="rect">
            <a:avLst/>
          </a:prstGeom>
          <a:noFill/>
          <a:ln/>
        </p:spPr>
        <p:txBody>
          <a:bodyPr wrap="square" lIns="0" tIns="0" rIns="0" bIns="0" rtlCol="0" anchor="ctr"/>
          <a:lstStyle/>
          <a:p>
            <a:pPr indent="0" marL="0">
              <a:buNone/>
            </a:pPr>
            <a:r>
              <a:rPr lang="en-US" sz="700" b="1" dirty="0">
                <a:solidFill>
                  <a:srgbClr val="C9943A"/>
                </a:solidFill>
                <a:latin typeface="Calibri" pitchFamily="34" charset="0"/>
                <a:ea typeface="Calibri" pitchFamily="34" charset="-122"/>
                <a:cs typeface="Calibri" pitchFamily="34" charset="-120"/>
              </a:rPr>
              <a:t>HIGH</a:t>
            </a:r>
            <a:endParaRPr lang="en-US" sz="700" dirty="0"/>
          </a:p>
        </p:txBody>
      </p:sp>
      <p:sp>
        <p:nvSpPr>
          <p:cNvPr id="58" name="Text 56"/>
          <p:cNvSpPr/>
          <p:nvPr/>
        </p:nvSpPr>
        <p:spPr>
          <a:xfrm>
            <a:off x="4681728" y="2697480"/>
            <a:ext cx="1810512" cy="256032"/>
          </a:xfrm>
          <a:prstGeom prst="rect">
            <a:avLst/>
          </a:prstGeom>
          <a:noFill/>
          <a:ln/>
        </p:spPr>
        <p:txBody>
          <a:bodyPr wrap="square" lIns="0" tIns="0" rIns="0" bIns="0" rtlCol="0" anchor="ctr"/>
          <a:lstStyle/>
          <a:p>
            <a:pPr indent="0" marL="0">
              <a:buNone/>
            </a:pPr>
            <a:r>
              <a:rPr lang="en-US" sz="900" b="1" dirty="0">
                <a:solidFill>
                  <a:srgbClr val="0A2342"/>
                </a:solidFill>
                <a:latin typeface="Calibri" pitchFamily="34" charset="0"/>
                <a:ea typeface="Calibri" pitchFamily="34" charset="-122"/>
                <a:cs typeface="Calibri" pitchFamily="34" charset="-120"/>
              </a:rPr>
              <a:t>Import Substitution</a:t>
            </a:r>
            <a:endParaRPr lang="en-US" sz="900" dirty="0"/>
          </a:p>
        </p:txBody>
      </p:sp>
      <p:sp>
        <p:nvSpPr>
          <p:cNvPr id="59" name="Text 57"/>
          <p:cNvSpPr/>
          <p:nvPr/>
        </p:nvSpPr>
        <p:spPr>
          <a:xfrm>
            <a:off x="4681728" y="2971800"/>
            <a:ext cx="1810512" cy="201168"/>
          </a:xfrm>
          <a:prstGeom prst="rect">
            <a:avLst/>
          </a:prstGeom>
          <a:noFill/>
          <a:ln/>
        </p:spPr>
        <p:txBody>
          <a:bodyPr wrap="square" lIns="0" tIns="0" rIns="0" bIns="0" rtlCol="0" anchor="ctr"/>
          <a:lstStyle/>
          <a:p>
            <a:pPr indent="0" marL="0">
              <a:buNone/>
            </a:pPr>
            <a:r>
              <a:rPr lang="en-US" sz="800" dirty="0">
                <a:solidFill>
                  <a:srgbClr val="007B55"/>
                </a:solidFill>
                <a:latin typeface="Calibri" pitchFamily="34" charset="0"/>
                <a:ea typeface="Calibri" pitchFamily="34" charset="-122"/>
                <a:cs typeface="Calibri" pitchFamily="34" charset="-120"/>
              </a:rPr>
              <a:t>Impact: +$1.8B savings</a:t>
            </a:r>
            <a:endParaRPr lang="en-US" sz="800" dirty="0"/>
          </a:p>
        </p:txBody>
      </p:sp>
      <p:sp>
        <p:nvSpPr>
          <p:cNvPr id="60" name="Text 58"/>
          <p:cNvSpPr/>
          <p:nvPr/>
        </p:nvSpPr>
        <p:spPr>
          <a:xfrm>
            <a:off x="4681728" y="3191256"/>
            <a:ext cx="1810512" cy="201168"/>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Timeline: 2–4 Yrs</a:t>
            </a:r>
            <a:endParaRPr lang="en-US" sz="800" dirty="0"/>
          </a:p>
        </p:txBody>
      </p:sp>
      <p:sp>
        <p:nvSpPr>
          <p:cNvPr id="61" name="Shape 59"/>
          <p:cNvSpPr/>
          <p:nvPr/>
        </p:nvSpPr>
        <p:spPr>
          <a:xfrm>
            <a:off x="6711696" y="2404872"/>
            <a:ext cx="1993392" cy="1115568"/>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62" name="Shape 60"/>
          <p:cNvSpPr/>
          <p:nvPr/>
        </p:nvSpPr>
        <p:spPr>
          <a:xfrm>
            <a:off x="6711696" y="2404872"/>
            <a:ext cx="1993392" cy="54864"/>
          </a:xfrm>
          <a:prstGeom prst="rect">
            <a:avLst/>
          </a:prstGeom>
          <a:solidFill>
            <a:srgbClr val="C9943A"/>
          </a:solidFill>
          <a:ln w="12700">
            <a:solidFill>
              <a:srgbClr val="C9943A"/>
            </a:solidFill>
            <a:prstDash val="solid"/>
          </a:ln>
        </p:spPr>
      </p:sp>
      <p:sp>
        <p:nvSpPr>
          <p:cNvPr id="63" name="Shape 61"/>
          <p:cNvSpPr/>
          <p:nvPr/>
        </p:nvSpPr>
        <p:spPr>
          <a:xfrm>
            <a:off x="6711696" y="2404872"/>
            <a:ext cx="347472" cy="256032"/>
          </a:xfrm>
          <a:prstGeom prst="rect">
            <a:avLst/>
          </a:prstGeom>
          <a:solidFill>
            <a:srgbClr val="C9943A"/>
          </a:solidFill>
          <a:ln w="12700">
            <a:solidFill>
              <a:srgbClr val="C9943A"/>
            </a:solidFill>
            <a:prstDash val="solid"/>
          </a:ln>
        </p:spPr>
      </p:sp>
      <p:sp>
        <p:nvSpPr>
          <p:cNvPr id="64" name="Text 62"/>
          <p:cNvSpPr/>
          <p:nvPr/>
        </p:nvSpPr>
        <p:spPr>
          <a:xfrm>
            <a:off x="6711696" y="2404872"/>
            <a:ext cx="34747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R8</a:t>
            </a:r>
            <a:endParaRPr lang="en-US" sz="900" dirty="0"/>
          </a:p>
        </p:txBody>
      </p:sp>
      <p:sp>
        <p:nvSpPr>
          <p:cNvPr id="65" name="Text 63"/>
          <p:cNvSpPr/>
          <p:nvPr/>
        </p:nvSpPr>
        <p:spPr>
          <a:xfrm>
            <a:off x="7114032" y="2459736"/>
            <a:ext cx="1097280" cy="164592"/>
          </a:xfrm>
          <a:prstGeom prst="rect">
            <a:avLst/>
          </a:prstGeom>
          <a:noFill/>
          <a:ln/>
        </p:spPr>
        <p:txBody>
          <a:bodyPr wrap="square" lIns="0" tIns="0" rIns="0" bIns="0" rtlCol="0" anchor="ctr"/>
          <a:lstStyle/>
          <a:p>
            <a:pPr indent="0" marL="0">
              <a:buNone/>
            </a:pPr>
            <a:r>
              <a:rPr lang="en-US" sz="700" b="1" dirty="0">
                <a:solidFill>
                  <a:srgbClr val="C9943A"/>
                </a:solidFill>
                <a:latin typeface="Calibri" pitchFamily="34" charset="0"/>
                <a:ea typeface="Calibri" pitchFamily="34" charset="-122"/>
                <a:cs typeface="Calibri" pitchFamily="34" charset="-120"/>
              </a:rPr>
              <a:t>HIGH</a:t>
            </a:r>
            <a:endParaRPr lang="en-US" sz="700" dirty="0"/>
          </a:p>
        </p:txBody>
      </p:sp>
      <p:sp>
        <p:nvSpPr>
          <p:cNvPr id="66" name="Text 64"/>
          <p:cNvSpPr/>
          <p:nvPr/>
        </p:nvSpPr>
        <p:spPr>
          <a:xfrm>
            <a:off x="6803136" y="2697480"/>
            <a:ext cx="1810512" cy="256032"/>
          </a:xfrm>
          <a:prstGeom prst="rect">
            <a:avLst/>
          </a:prstGeom>
          <a:noFill/>
          <a:ln/>
        </p:spPr>
        <p:txBody>
          <a:bodyPr wrap="square" lIns="0" tIns="0" rIns="0" bIns="0" rtlCol="0" anchor="ctr"/>
          <a:lstStyle/>
          <a:p>
            <a:pPr indent="0" marL="0">
              <a:buNone/>
            </a:pPr>
            <a:r>
              <a:rPr lang="en-US" sz="900" b="1" dirty="0">
                <a:solidFill>
                  <a:srgbClr val="0A2342"/>
                </a:solidFill>
                <a:latin typeface="Calibri" pitchFamily="34" charset="0"/>
                <a:ea typeface="Calibri" pitchFamily="34" charset="-122"/>
                <a:cs typeface="Calibri" pitchFamily="34" charset="-120"/>
              </a:rPr>
              <a:t>Improve Logistics LPI</a:t>
            </a:r>
            <a:endParaRPr lang="en-US" sz="900" dirty="0"/>
          </a:p>
        </p:txBody>
      </p:sp>
      <p:sp>
        <p:nvSpPr>
          <p:cNvPr id="67" name="Text 65"/>
          <p:cNvSpPr/>
          <p:nvPr/>
        </p:nvSpPr>
        <p:spPr>
          <a:xfrm>
            <a:off x="6803136" y="2971800"/>
            <a:ext cx="1810512" cy="201168"/>
          </a:xfrm>
          <a:prstGeom prst="rect">
            <a:avLst/>
          </a:prstGeom>
          <a:noFill/>
          <a:ln/>
        </p:spPr>
        <p:txBody>
          <a:bodyPr wrap="square" lIns="0" tIns="0" rIns="0" bIns="0" rtlCol="0" anchor="ctr"/>
          <a:lstStyle/>
          <a:p>
            <a:pPr indent="0" marL="0">
              <a:buNone/>
            </a:pPr>
            <a:r>
              <a:rPr lang="en-US" sz="800" dirty="0">
                <a:solidFill>
                  <a:srgbClr val="007B55"/>
                </a:solidFill>
                <a:latin typeface="Calibri" pitchFamily="34" charset="0"/>
                <a:ea typeface="Calibri" pitchFamily="34" charset="-122"/>
                <a:cs typeface="Calibri" pitchFamily="34" charset="-120"/>
              </a:rPr>
              <a:t>Impact: +$1.5–2B/year</a:t>
            </a:r>
            <a:endParaRPr lang="en-US" sz="800" dirty="0"/>
          </a:p>
        </p:txBody>
      </p:sp>
      <p:sp>
        <p:nvSpPr>
          <p:cNvPr id="68" name="Text 66"/>
          <p:cNvSpPr/>
          <p:nvPr/>
        </p:nvSpPr>
        <p:spPr>
          <a:xfrm>
            <a:off x="6803136" y="3191256"/>
            <a:ext cx="1810512" cy="201168"/>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Timeline: 3–4 Yrs</a:t>
            </a:r>
            <a:endParaRPr lang="en-US" sz="800" dirty="0"/>
          </a:p>
        </p:txBody>
      </p:sp>
      <p:sp>
        <p:nvSpPr>
          <p:cNvPr id="69" name="Shape 67"/>
          <p:cNvSpPr/>
          <p:nvPr/>
        </p:nvSpPr>
        <p:spPr>
          <a:xfrm>
            <a:off x="347472" y="3639312"/>
            <a:ext cx="1993392" cy="1115568"/>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70" name="Shape 68"/>
          <p:cNvSpPr/>
          <p:nvPr/>
        </p:nvSpPr>
        <p:spPr>
          <a:xfrm>
            <a:off x="347472" y="3639312"/>
            <a:ext cx="1993392" cy="54864"/>
          </a:xfrm>
          <a:prstGeom prst="rect">
            <a:avLst/>
          </a:prstGeom>
          <a:solidFill>
            <a:srgbClr val="007B55"/>
          </a:solidFill>
          <a:ln w="12700">
            <a:solidFill>
              <a:srgbClr val="007B55"/>
            </a:solidFill>
            <a:prstDash val="solid"/>
          </a:ln>
        </p:spPr>
      </p:sp>
      <p:sp>
        <p:nvSpPr>
          <p:cNvPr id="71" name="Shape 69"/>
          <p:cNvSpPr/>
          <p:nvPr/>
        </p:nvSpPr>
        <p:spPr>
          <a:xfrm>
            <a:off x="347472" y="3639312"/>
            <a:ext cx="347472" cy="256032"/>
          </a:xfrm>
          <a:prstGeom prst="rect">
            <a:avLst/>
          </a:prstGeom>
          <a:solidFill>
            <a:srgbClr val="007B55"/>
          </a:solidFill>
          <a:ln w="12700">
            <a:solidFill>
              <a:srgbClr val="007B55"/>
            </a:solidFill>
            <a:prstDash val="solid"/>
          </a:ln>
        </p:spPr>
      </p:sp>
      <p:sp>
        <p:nvSpPr>
          <p:cNvPr id="72" name="Text 70"/>
          <p:cNvSpPr/>
          <p:nvPr/>
        </p:nvSpPr>
        <p:spPr>
          <a:xfrm>
            <a:off x="347472" y="3639312"/>
            <a:ext cx="34747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R9</a:t>
            </a:r>
            <a:endParaRPr lang="en-US" sz="900" dirty="0"/>
          </a:p>
        </p:txBody>
      </p:sp>
      <p:sp>
        <p:nvSpPr>
          <p:cNvPr id="73" name="Text 71"/>
          <p:cNvSpPr/>
          <p:nvPr/>
        </p:nvSpPr>
        <p:spPr>
          <a:xfrm>
            <a:off x="749808" y="3694176"/>
            <a:ext cx="1097280" cy="164592"/>
          </a:xfrm>
          <a:prstGeom prst="rect">
            <a:avLst/>
          </a:prstGeom>
          <a:noFill/>
          <a:ln/>
        </p:spPr>
        <p:txBody>
          <a:bodyPr wrap="square" lIns="0" tIns="0" rIns="0" bIns="0" rtlCol="0" anchor="ctr"/>
          <a:lstStyle/>
          <a:p>
            <a:pPr indent="0" marL="0">
              <a:buNone/>
            </a:pPr>
            <a:r>
              <a:rPr lang="en-US" sz="700" b="1" dirty="0">
                <a:solidFill>
                  <a:srgbClr val="007B55"/>
                </a:solidFill>
                <a:latin typeface="Calibri" pitchFamily="34" charset="0"/>
                <a:ea typeface="Calibri" pitchFamily="34" charset="-122"/>
                <a:cs typeface="Calibri" pitchFamily="34" charset="-120"/>
              </a:rPr>
              <a:t>MEDIUM</a:t>
            </a:r>
            <a:endParaRPr lang="en-US" sz="700" dirty="0"/>
          </a:p>
        </p:txBody>
      </p:sp>
      <p:sp>
        <p:nvSpPr>
          <p:cNvPr id="74" name="Text 72"/>
          <p:cNvSpPr/>
          <p:nvPr/>
        </p:nvSpPr>
        <p:spPr>
          <a:xfrm>
            <a:off x="438912" y="3931920"/>
            <a:ext cx="1810512" cy="256032"/>
          </a:xfrm>
          <a:prstGeom prst="rect">
            <a:avLst/>
          </a:prstGeom>
          <a:noFill/>
          <a:ln/>
        </p:spPr>
        <p:txBody>
          <a:bodyPr wrap="square" lIns="0" tIns="0" rIns="0" bIns="0" rtlCol="0" anchor="ctr"/>
          <a:lstStyle/>
          <a:p>
            <a:pPr indent="0" marL="0">
              <a:buNone/>
            </a:pPr>
            <a:r>
              <a:rPr lang="en-US" sz="900" b="1" dirty="0">
                <a:solidFill>
                  <a:srgbClr val="0A2342"/>
                </a:solidFill>
                <a:latin typeface="Calibri" pitchFamily="34" charset="0"/>
                <a:ea typeface="Calibri" pitchFamily="34" charset="-122"/>
                <a:cs typeface="Calibri" pitchFamily="34" charset="-120"/>
              </a:rPr>
              <a:t>Scale Food Value Chain</a:t>
            </a:r>
            <a:endParaRPr lang="en-US" sz="900" dirty="0"/>
          </a:p>
        </p:txBody>
      </p:sp>
      <p:sp>
        <p:nvSpPr>
          <p:cNvPr id="75" name="Text 73"/>
          <p:cNvSpPr/>
          <p:nvPr/>
        </p:nvSpPr>
        <p:spPr>
          <a:xfrm>
            <a:off x="438912" y="4206240"/>
            <a:ext cx="1810512" cy="201168"/>
          </a:xfrm>
          <a:prstGeom prst="rect">
            <a:avLst/>
          </a:prstGeom>
          <a:noFill/>
          <a:ln/>
        </p:spPr>
        <p:txBody>
          <a:bodyPr wrap="square" lIns="0" tIns="0" rIns="0" bIns="0" rtlCol="0" anchor="ctr"/>
          <a:lstStyle/>
          <a:p>
            <a:pPr indent="0" marL="0">
              <a:buNone/>
            </a:pPr>
            <a:r>
              <a:rPr lang="en-US" sz="800" dirty="0">
                <a:solidFill>
                  <a:srgbClr val="007B55"/>
                </a:solidFill>
                <a:latin typeface="Calibri" pitchFamily="34" charset="0"/>
                <a:ea typeface="Calibri" pitchFamily="34" charset="-122"/>
                <a:cs typeface="Calibri" pitchFamily="34" charset="-120"/>
              </a:rPr>
              <a:t>Impact: +$8.8B by 2030</a:t>
            </a:r>
            <a:endParaRPr lang="en-US" sz="800" dirty="0"/>
          </a:p>
        </p:txBody>
      </p:sp>
      <p:sp>
        <p:nvSpPr>
          <p:cNvPr id="76" name="Text 74"/>
          <p:cNvSpPr/>
          <p:nvPr/>
        </p:nvSpPr>
        <p:spPr>
          <a:xfrm>
            <a:off x="438912" y="4425696"/>
            <a:ext cx="1810512" cy="201168"/>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Timeline: 4–6 Yrs</a:t>
            </a:r>
            <a:endParaRPr lang="en-US" sz="800" dirty="0"/>
          </a:p>
        </p:txBody>
      </p:sp>
      <p:sp>
        <p:nvSpPr>
          <p:cNvPr id="77" name="Shape 75"/>
          <p:cNvSpPr/>
          <p:nvPr/>
        </p:nvSpPr>
        <p:spPr>
          <a:xfrm>
            <a:off x="2468880" y="3639312"/>
            <a:ext cx="1993392" cy="1115568"/>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78" name="Shape 76"/>
          <p:cNvSpPr/>
          <p:nvPr/>
        </p:nvSpPr>
        <p:spPr>
          <a:xfrm>
            <a:off x="2468880" y="3639312"/>
            <a:ext cx="1993392" cy="54864"/>
          </a:xfrm>
          <a:prstGeom prst="rect">
            <a:avLst/>
          </a:prstGeom>
          <a:solidFill>
            <a:srgbClr val="007B55"/>
          </a:solidFill>
          <a:ln w="12700">
            <a:solidFill>
              <a:srgbClr val="007B55"/>
            </a:solidFill>
            <a:prstDash val="solid"/>
          </a:ln>
        </p:spPr>
      </p:sp>
      <p:sp>
        <p:nvSpPr>
          <p:cNvPr id="79" name="Shape 77"/>
          <p:cNvSpPr/>
          <p:nvPr/>
        </p:nvSpPr>
        <p:spPr>
          <a:xfrm>
            <a:off x="2468880" y="3639312"/>
            <a:ext cx="347472" cy="256032"/>
          </a:xfrm>
          <a:prstGeom prst="rect">
            <a:avLst/>
          </a:prstGeom>
          <a:solidFill>
            <a:srgbClr val="007B55"/>
          </a:solidFill>
          <a:ln w="12700">
            <a:solidFill>
              <a:srgbClr val="007B55"/>
            </a:solidFill>
            <a:prstDash val="solid"/>
          </a:ln>
        </p:spPr>
      </p:sp>
      <p:sp>
        <p:nvSpPr>
          <p:cNvPr id="80" name="Text 78"/>
          <p:cNvSpPr/>
          <p:nvPr/>
        </p:nvSpPr>
        <p:spPr>
          <a:xfrm>
            <a:off x="2468880" y="3639312"/>
            <a:ext cx="34747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R10</a:t>
            </a:r>
            <a:endParaRPr lang="en-US" sz="900" dirty="0"/>
          </a:p>
        </p:txBody>
      </p:sp>
      <p:sp>
        <p:nvSpPr>
          <p:cNvPr id="81" name="Text 79"/>
          <p:cNvSpPr/>
          <p:nvPr/>
        </p:nvSpPr>
        <p:spPr>
          <a:xfrm>
            <a:off x="2871216" y="3694176"/>
            <a:ext cx="1097280" cy="164592"/>
          </a:xfrm>
          <a:prstGeom prst="rect">
            <a:avLst/>
          </a:prstGeom>
          <a:noFill/>
          <a:ln/>
        </p:spPr>
        <p:txBody>
          <a:bodyPr wrap="square" lIns="0" tIns="0" rIns="0" bIns="0" rtlCol="0" anchor="ctr"/>
          <a:lstStyle/>
          <a:p>
            <a:pPr indent="0" marL="0">
              <a:buNone/>
            </a:pPr>
            <a:r>
              <a:rPr lang="en-US" sz="700" b="1" dirty="0">
                <a:solidFill>
                  <a:srgbClr val="007B55"/>
                </a:solidFill>
                <a:latin typeface="Calibri" pitchFamily="34" charset="0"/>
                <a:ea typeface="Calibri" pitchFamily="34" charset="-122"/>
                <a:cs typeface="Calibri" pitchFamily="34" charset="-120"/>
              </a:rPr>
              <a:t>MEDIUM</a:t>
            </a:r>
            <a:endParaRPr lang="en-US" sz="700" dirty="0"/>
          </a:p>
        </p:txBody>
      </p:sp>
      <p:sp>
        <p:nvSpPr>
          <p:cNvPr id="82" name="Text 80"/>
          <p:cNvSpPr/>
          <p:nvPr/>
        </p:nvSpPr>
        <p:spPr>
          <a:xfrm>
            <a:off x="2560320" y="3931920"/>
            <a:ext cx="1810512" cy="256032"/>
          </a:xfrm>
          <a:prstGeom prst="rect">
            <a:avLst/>
          </a:prstGeom>
          <a:noFill/>
          <a:ln/>
        </p:spPr>
        <p:txBody>
          <a:bodyPr wrap="square" lIns="0" tIns="0" rIns="0" bIns="0" rtlCol="0" anchor="ctr"/>
          <a:lstStyle/>
          <a:p>
            <a:pPr indent="0" marL="0">
              <a:buNone/>
            </a:pPr>
            <a:r>
              <a:rPr lang="en-US" sz="900" b="1" dirty="0">
                <a:solidFill>
                  <a:srgbClr val="0A2342"/>
                </a:solidFill>
                <a:latin typeface="Calibri" pitchFamily="34" charset="0"/>
                <a:ea typeface="Calibri" pitchFamily="34" charset="-122"/>
                <a:cs typeface="Calibri" pitchFamily="34" charset="-120"/>
              </a:rPr>
              <a:t>Expand ICT &amp; Digital</a:t>
            </a:r>
            <a:endParaRPr lang="en-US" sz="900" dirty="0"/>
          </a:p>
        </p:txBody>
      </p:sp>
      <p:sp>
        <p:nvSpPr>
          <p:cNvPr id="83" name="Text 81"/>
          <p:cNvSpPr/>
          <p:nvPr/>
        </p:nvSpPr>
        <p:spPr>
          <a:xfrm>
            <a:off x="2560320" y="4206240"/>
            <a:ext cx="1810512" cy="201168"/>
          </a:xfrm>
          <a:prstGeom prst="rect">
            <a:avLst/>
          </a:prstGeom>
          <a:noFill/>
          <a:ln/>
        </p:spPr>
        <p:txBody>
          <a:bodyPr wrap="square" lIns="0" tIns="0" rIns="0" bIns="0" rtlCol="0" anchor="ctr"/>
          <a:lstStyle/>
          <a:p>
            <a:pPr indent="0" marL="0">
              <a:buNone/>
            </a:pPr>
            <a:r>
              <a:rPr lang="en-US" sz="800" dirty="0">
                <a:solidFill>
                  <a:srgbClr val="007B55"/>
                </a:solidFill>
                <a:latin typeface="Calibri" pitchFamily="34" charset="0"/>
                <a:ea typeface="Calibri" pitchFamily="34" charset="-122"/>
                <a:cs typeface="Calibri" pitchFamily="34" charset="-120"/>
              </a:rPr>
              <a:t>Impact: +$4.7B in ICT</a:t>
            </a:r>
            <a:endParaRPr lang="en-US" sz="800" dirty="0"/>
          </a:p>
        </p:txBody>
      </p:sp>
      <p:sp>
        <p:nvSpPr>
          <p:cNvPr id="84" name="Text 82"/>
          <p:cNvSpPr/>
          <p:nvPr/>
        </p:nvSpPr>
        <p:spPr>
          <a:xfrm>
            <a:off x="2560320" y="4425696"/>
            <a:ext cx="1810512" cy="201168"/>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Timeline: 5–7 Yrs</a:t>
            </a:r>
            <a:endParaRPr lang="en-US" sz="800" dirty="0"/>
          </a:p>
        </p:txBody>
      </p:sp>
      <p:sp>
        <p:nvSpPr>
          <p:cNvPr id="85" name="Shape 83"/>
          <p:cNvSpPr/>
          <p:nvPr/>
        </p:nvSpPr>
        <p:spPr>
          <a:xfrm>
            <a:off x="4590288" y="3639312"/>
            <a:ext cx="1993392" cy="1115568"/>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86" name="Shape 84"/>
          <p:cNvSpPr/>
          <p:nvPr/>
        </p:nvSpPr>
        <p:spPr>
          <a:xfrm>
            <a:off x="4590288" y="3639312"/>
            <a:ext cx="1993392" cy="54864"/>
          </a:xfrm>
          <a:prstGeom prst="rect">
            <a:avLst/>
          </a:prstGeom>
          <a:solidFill>
            <a:srgbClr val="007B55"/>
          </a:solidFill>
          <a:ln w="12700">
            <a:solidFill>
              <a:srgbClr val="007B55"/>
            </a:solidFill>
            <a:prstDash val="solid"/>
          </a:ln>
        </p:spPr>
      </p:sp>
      <p:sp>
        <p:nvSpPr>
          <p:cNvPr id="87" name="Shape 85"/>
          <p:cNvSpPr/>
          <p:nvPr/>
        </p:nvSpPr>
        <p:spPr>
          <a:xfrm>
            <a:off x="4590288" y="3639312"/>
            <a:ext cx="347472" cy="256032"/>
          </a:xfrm>
          <a:prstGeom prst="rect">
            <a:avLst/>
          </a:prstGeom>
          <a:solidFill>
            <a:srgbClr val="007B55"/>
          </a:solidFill>
          <a:ln w="12700">
            <a:solidFill>
              <a:srgbClr val="007B55"/>
            </a:solidFill>
            <a:prstDash val="solid"/>
          </a:ln>
        </p:spPr>
      </p:sp>
      <p:sp>
        <p:nvSpPr>
          <p:cNvPr id="88" name="Text 86"/>
          <p:cNvSpPr/>
          <p:nvPr/>
        </p:nvSpPr>
        <p:spPr>
          <a:xfrm>
            <a:off x="4590288" y="3639312"/>
            <a:ext cx="34747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R11</a:t>
            </a:r>
            <a:endParaRPr lang="en-US" sz="900" dirty="0"/>
          </a:p>
        </p:txBody>
      </p:sp>
      <p:sp>
        <p:nvSpPr>
          <p:cNvPr id="89" name="Text 87"/>
          <p:cNvSpPr/>
          <p:nvPr/>
        </p:nvSpPr>
        <p:spPr>
          <a:xfrm>
            <a:off x="4992624" y="3694176"/>
            <a:ext cx="1097280" cy="164592"/>
          </a:xfrm>
          <a:prstGeom prst="rect">
            <a:avLst/>
          </a:prstGeom>
          <a:noFill/>
          <a:ln/>
        </p:spPr>
        <p:txBody>
          <a:bodyPr wrap="square" lIns="0" tIns="0" rIns="0" bIns="0" rtlCol="0" anchor="ctr"/>
          <a:lstStyle/>
          <a:p>
            <a:pPr indent="0" marL="0">
              <a:buNone/>
            </a:pPr>
            <a:r>
              <a:rPr lang="en-US" sz="700" b="1" dirty="0">
                <a:solidFill>
                  <a:srgbClr val="007B55"/>
                </a:solidFill>
                <a:latin typeface="Calibri" pitchFamily="34" charset="0"/>
                <a:ea typeface="Calibri" pitchFamily="34" charset="-122"/>
                <a:cs typeface="Calibri" pitchFamily="34" charset="-120"/>
              </a:rPr>
              <a:t>MEDIUM</a:t>
            </a:r>
            <a:endParaRPr lang="en-US" sz="700" dirty="0"/>
          </a:p>
        </p:txBody>
      </p:sp>
      <p:sp>
        <p:nvSpPr>
          <p:cNvPr id="90" name="Text 88"/>
          <p:cNvSpPr/>
          <p:nvPr/>
        </p:nvSpPr>
        <p:spPr>
          <a:xfrm>
            <a:off x="4681728" y="3931920"/>
            <a:ext cx="1810512" cy="256032"/>
          </a:xfrm>
          <a:prstGeom prst="rect">
            <a:avLst/>
          </a:prstGeom>
          <a:noFill/>
          <a:ln/>
        </p:spPr>
        <p:txBody>
          <a:bodyPr wrap="square" lIns="0" tIns="0" rIns="0" bIns="0" rtlCol="0" anchor="ctr"/>
          <a:lstStyle/>
          <a:p>
            <a:pPr indent="0" marL="0">
              <a:buNone/>
            </a:pPr>
            <a:r>
              <a:rPr lang="en-US" sz="900" b="1" dirty="0">
                <a:solidFill>
                  <a:srgbClr val="0A2342"/>
                </a:solidFill>
                <a:latin typeface="Calibri" pitchFamily="34" charset="0"/>
                <a:ea typeface="Calibri" pitchFamily="34" charset="-122"/>
                <a:cs typeface="Calibri" pitchFamily="34" charset="-120"/>
              </a:rPr>
              <a:t>Suez Canal Revenue</a:t>
            </a:r>
            <a:endParaRPr lang="en-US" sz="900" dirty="0"/>
          </a:p>
        </p:txBody>
      </p:sp>
      <p:sp>
        <p:nvSpPr>
          <p:cNvPr id="91" name="Text 89"/>
          <p:cNvSpPr/>
          <p:nvPr/>
        </p:nvSpPr>
        <p:spPr>
          <a:xfrm>
            <a:off x="4681728" y="4206240"/>
            <a:ext cx="1810512" cy="201168"/>
          </a:xfrm>
          <a:prstGeom prst="rect">
            <a:avLst/>
          </a:prstGeom>
          <a:noFill/>
          <a:ln/>
        </p:spPr>
        <p:txBody>
          <a:bodyPr wrap="square" lIns="0" tIns="0" rIns="0" bIns="0" rtlCol="0" anchor="ctr"/>
          <a:lstStyle/>
          <a:p>
            <a:pPr indent="0" marL="0">
              <a:buNone/>
            </a:pPr>
            <a:r>
              <a:rPr lang="en-US" sz="800" dirty="0">
                <a:solidFill>
                  <a:srgbClr val="007B55"/>
                </a:solidFill>
                <a:latin typeface="Calibri" pitchFamily="34" charset="0"/>
                <a:ea typeface="Calibri" pitchFamily="34" charset="-122"/>
                <a:cs typeface="Calibri" pitchFamily="34" charset="-120"/>
              </a:rPr>
              <a:t>Impact: +$6B by 2030</a:t>
            </a:r>
            <a:endParaRPr lang="en-US" sz="800" dirty="0"/>
          </a:p>
        </p:txBody>
      </p:sp>
      <p:sp>
        <p:nvSpPr>
          <p:cNvPr id="92" name="Text 90"/>
          <p:cNvSpPr/>
          <p:nvPr/>
        </p:nvSpPr>
        <p:spPr>
          <a:xfrm>
            <a:off x="4681728" y="4425696"/>
            <a:ext cx="1810512" cy="201168"/>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Timeline: 3–7 Yrs</a:t>
            </a:r>
            <a:endParaRPr lang="en-US" sz="800" dirty="0"/>
          </a:p>
        </p:txBody>
      </p:sp>
      <p:sp>
        <p:nvSpPr>
          <p:cNvPr id="93" name="Shape 91"/>
          <p:cNvSpPr/>
          <p:nvPr/>
        </p:nvSpPr>
        <p:spPr>
          <a:xfrm>
            <a:off x="6711696" y="3639312"/>
            <a:ext cx="1993392" cy="1115568"/>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94" name="Shape 92"/>
          <p:cNvSpPr/>
          <p:nvPr/>
        </p:nvSpPr>
        <p:spPr>
          <a:xfrm>
            <a:off x="6711696" y="3639312"/>
            <a:ext cx="1993392" cy="54864"/>
          </a:xfrm>
          <a:prstGeom prst="rect">
            <a:avLst/>
          </a:prstGeom>
          <a:solidFill>
            <a:srgbClr val="C0392B"/>
          </a:solidFill>
          <a:ln w="12700">
            <a:solidFill>
              <a:srgbClr val="C0392B"/>
            </a:solidFill>
            <a:prstDash val="solid"/>
          </a:ln>
        </p:spPr>
      </p:sp>
      <p:sp>
        <p:nvSpPr>
          <p:cNvPr id="95" name="Shape 93"/>
          <p:cNvSpPr/>
          <p:nvPr/>
        </p:nvSpPr>
        <p:spPr>
          <a:xfrm>
            <a:off x="6711696" y="3639312"/>
            <a:ext cx="347472" cy="256032"/>
          </a:xfrm>
          <a:prstGeom prst="rect">
            <a:avLst/>
          </a:prstGeom>
          <a:solidFill>
            <a:srgbClr val="C0392B"/>
          </a:solidFill>
          <a:ln w="12700">
            <a:solidFill>
              <a:srgbClr val="C0392B"/>
            </a:solidFill>
            <a:prstDash val="solid"/>
          </a:ln>
        </p:spPr>
      </p:sp>
      <p:sp>
        <p:nvSpPr>
          <p:cNvPr id="96" name="Text 94"/>
          <p:cNvSpPr/>
          <p:nvPr/>
        </p:nvSpPr>
        <p:spPr>
          <a:xfrm>
            <a:off x="6711696" y="3639312"/>
            <a:ext cx="34747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R12</a:t>
            </a:r>
            <a:endParaRPr lang="en-US" sz="900" dirty="0"/>
          </a:p>
        </p:txBody>
      </p:sp>
      <p:sp>
        <p:nvSpPr>
          <p:cNvPr id="97" name="Text 95"/>
          <p:cNvSpPr/>
          <p:nvPr/>
        </p:nvSpPr>
        <p:spPr>
          <a:xfrm>
            <a:off x="7114032" y="3694176"/>
            <a:ext cx="1097280" cy="164592"/>
          </a:xfrm>
          <a:prstGeom prst="rect">
            <a:avLst/>
          </a:prstGeom>
          <a:noFill/>
          <a:ln/>
        </p:spPr>
        <p:txBody>
          <a:bodyPr wrap="square" lIns="0" tIns="0" rIns="0" bIns="0" rtlCol="0" anchor="ctr"/>
          <a:lstStyle/>
          <a:p>
            <a:pPr indent="0" marL="0">
              <a:buNone/>
            </a:pPr>
            <a:r>
              <a:rPr lang="en-US" sz="700" b="1" dirty="0">
                <a:solidFill>
                  <a:srgbClr val="C0392B"/>
                </a:solidFill>
                <a:latin typeface="Calibri" pitchFamily="34" charset="0"/>
                <a:ea typeface="Calibri" pitchFamily="34" charset="-122"/>
                <a:cs typeface="Calibri" pitchFamily="34" charset="-120"/>
              </a:rPr>
              <a:t>CRITICAL</a:t>
            </a:r>
            <a:endParaRPr lang="en-US" sz="700" dirty="0"/>
          </a:p>
        </p:txBody>
      </p:sp>
      <p:sp>
        <p:nvSpPr>
          <p:cNvPr id="98" name="Text 96"/>
          <p:cNvSpPr/>
          <p:nvPr/>
        </p:nvSpPr>
        <p:spPr>
          <a:xfrm>
            <a:off x="6803136" y="3931920"/>
            <a:ext cx="1810512" cy="256032"/>
          </a:xfrm>
          <a:prstGeom prst="rect">
            <a:avLst/>
          </a:prstGeom>
          <a:noFill/>
          <a:ln/>
        </p:spPr>
        <p:txBody>
          <a:bodyPr wrap="square" lIns="0" tIns="0" rIns="0" bIns="0" rtlCol="0" anchor="ctr"/>
          <a:lstStyle/>
          <a:p>
            <a:pPr indent="0" marL="0">
              <a:buNone/>
            </a:pPr>
            <a:r>
              <a:rPr lang="en-US" sz="900" b="1" dirty="0">
                <a:solidFill>
                  <a:srgbClr val="0A2342"/>
                </a:solidFill>
                <a:latin typeface="Calibri" pitchFamily="34" charset="0"/>
                <a:ea typeface="Calibri" pitchFamily="34" charset="-122"/>
                <a:cs typeface="Calibri" pitchFamily="34" charset="-120"/>
              </a:rPr>
              <a:t>Attract Manufacturing FDI</a:t>
            </a:r>
            <a:endParaRPr lang="en-US" sz="900" dirty="0"/>
          </a:p>
        </p:txBody>
      </p:sp>
      <p:sp>
        <p:nvSpPr>
          <p:cNvPr id="99" name="Text 97"/>
          <p:cNvSpPr/>
          <p:nvPr/>
        </p:nvSpPr>
        <p:spPr>
          <a:xfrm>
            <a:off x="6803136" y="4206240"/>
            <a:ext cx="1810512" cy="201168"/>
          </a:xfrm>
          <a:prstGeom prst="rect">
            <a:avLst/>
          </a:prstGeom>
          <a:noFill/>
          <a:ln/>
        </p:spPr>
        <p:txBody>
          <a:bodyPr wrap="square" lIns="0" tIns="0" rIns="0" bIns="0" rtlCol="0" anchor="ctr"/>
          <a:lstStyle/>
          <a:p>
            <a:pPr indent="0" marL="0">
              <a:buNone/>
            </a:pPr>
            <a:r>
              <a:rPr lang="en-US" sz="800" dirty="0">
                <a:solidFill>
                  <a:srgbClr val="007B55"/>
                </a:solidFill>
                <a:latin typeface="Calibri" pitchFamily="34" charset="0"/>
                <a:ea typeface="Calibri" pitchFamily="34" charset="-122"/>
                <a:cs typeface="Calibri" pitchFamily="34" charset="-120"/>
              </a:rPr>
              <a:t>Impact: +$20B FDI → $60B</a:t>
            </a:r>
            <a:endParaRPr lang="en-US" sz="800" dirty="0"/>
          </a:p>
        </p:txBody>
      </p:sp>
      <p:sp>
        <p:nvSpPr>
          <p:cNvPr id="100" name="Text 98"/>
          <p:cNvSpPr/>
          <p:nvPr/>
        </p:nvSpPr>
        <p:spPr>
          <a:xfrm>
            <a:off x="6803136" y="4425696"/>
            <a:ext cx="1810512" cy="201168"/>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Timeline: 3–7 Yrs</a:t>
            </a:r>
            <a:endParaRPr lang="en-US" sz="800" dirty="0"/>
          </a:p>
        </p:txBody>
      </p:sp>
      <p:sp>
        <p:nvSpPr>
          <p:cNvPr id="101" name="Shape 99"/>
          <p:cNvSpPr/>
          <p:nvPr/>
        </p:nvSpPr>
        <p:spPr>
          <a:xfrm>
            <a:off x="0" y="4873752"/>
            <a:ext cx="9144000" cy="269748"/>
          </a:xfrm>
          <a:prstGeom prst="rect">
            <a:avLst/>
          </a:prstGeom>
          <a:solidFill>
            <a:srgbClr val="0A2342"/>
          </a:solidFill>
          <a:ln w="12700">
            <a:solidFill>
              <a:srgbClr val="0A2342"/>
            </a:solidFill>
            <a:prstDash val="solid"/>
          </a:ln>
        </p:spPr>
      </p:sp>
      <p:sp>
        <p:nvSpPr>
          <p:cNvPr id="102" name="Text 100"/>
          <p:cNvSpPr/>
          <p:nvPr/>
        </p:nvSpPr>
        <p:spPr>
          <a:xfrm>
            <a:off x="274320" y="4882896"/>
            <a:ext cx="8595360" cy="246888"/>
          </a:xfrm>
          <a:prstGeom prst="rect">
            <a:avLst/>
          </a:prstGeom>
          <a:noFill/>
          <a:ln/>
        </p:spPr>
        <p:txBody>
          <a:bodyPr wrap="square" lIns="0" tIns="0" rIns="0" bIns="0" rtlCol="0" anchor="ctr"/>
          <a:lstStyle/>
          <a:p>
            <a:pPr indent="0" marL="0">
              <a:buNone/>
            </a:pPr>
            <a:r>
              <a:rPr lang="en-US" sz="800" dirty="0">
                <a:solidFill>
                  <a:srgbClr val="C9943A"/>
                </a:solidFill>
                <a:latin typeface="Calibri" pitchFamily="34" charset="0"/>
                <a:ea typeface="Calibri" pitchFamily="34" charset="-122"/>
                <a:cs typeface="Calibri" pitchFamily="34" charset="-120"/>
              </a:rPr>
              <a:t>Egyptian Export Observatory  |  DEPI Data Analysis Track  |  CLS-EGX-TRADEG1-T1  |  2025</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502920"/>
          </a:xfrm>
          <a:prstGeom prst="rect">
            <a:avLst/>
          </a:prstGeom>
          <a:noFill/>
          <a:ln/>
        </p:spPr>
        <p:txBody>
          <a:bodyPr wrap="square" lIns="0" tIns="0" rIns="0" bIns="0" rtlCol="0" anchor="ctr"/>
          <a:lstStyle/>
          <a:p>
            <a:pPr indent="0" marL="0">
              <a:buNone/>
            </a:pPr>
            <a:r>
              <a:rPr lang="en-US" sz="2600" b="1" dirty="0">
                <a:solidFill>
                  <a:srgbClr val="0A2342"/>
                </a:solidFill>
                <a:latin typeface="Calibri" pitchFamily="34" charset="0"/>
                <a:ea typeface="Calibri" pitchFamily="34" charset="-122"/>
                <a:cs typeface="Calibri" pitchFamily="34" charset="-120"/>
              </a:rPr>
              <a:t>KPIs &amp; Success Metrics</a:t>
            </a:r>
            <a:endParaRPr lang="en-US" sz="2600" dirty="0"/>
          </a:p>
        </p:txBody>
      </p:sp>
      <p:sp>
        <p:nvSpPr>
          <p:cNvPr id="3" name="Text 1"/>
          <p:cNvSpPr/>
          <p:nvPr/>
        </p:nvSpPr>
        <p:spPr>
          <a:xfrm>
            <a:off x="457200" y="694944"/>
            <a:ext cx="8229600" cy="2743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Analytical Dashboard KPIs · Current Status · Vision 2030 Targets</a:t>
            </a:r>
            <a:endParaRPr lang="en-US" sz="1200" dirty="0"/>
          </a:p>
        </p:txBody>
      </p:sp>
      <p:sp>
        <p:nvSpPr>
          <p:cNvPr id="4" name="Shape 2"/>
          <p:cNvSpPr/>
          <p:nvPr/>
        </p:nvSpPr>
        <p:spPr>
          <a:xfrm>
            <a:off x="457200" y="1024128"/>
            <a:ext cx="8229600" cy="27432"/>
          </a:xfrm>
          <a:prstGeom prst="rect">
            <a:avLst/>
          </a:prstGeom>
          <a:solidFill>
            <a:srgbClr val="C9943A"/>
          </a:solidFill>
          <a:ln w="12700">
            <a:solidFill>
              <a:srgbClr val="C9943A"/>
            </a:solidFill>
            <a:prstDash val="solid"/>
          </a:ln>
        </p:spPr>
      </p:sp>
      <p:sp>
        <p:nvSpPr>
          <p:cNvPr id="5" name="Shape 3"/>
          <p:cNvSpPr/>
          <p:nvPr/>
        </p:nvSpPr>
        <p:spPr>
          <a:xfrm>
            <a:off x="365760" y="1170432"/>
            <a:ext cx="1344168" cy="987552"/>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6" name="Shape 4"/>
          <p:cNvSpPr/>
          <p:nvPr/>
        </p:nvSpPr>
        <p:spPr>
          <a:xfrm>
            <a:off x="365760" y="1170432"/>
            <a:ext cx="54864" cy="987552"/>
          </a:xfrm>
          <a:prstGeom prst="rect">
            <a:avLst/>
          </a:prstGeom>
          <a:solidFill>
            <a:srgbClr val="C9943A"/>
          </a:solidFill>
          <a:ln w="12700">
            <a:solidFill>
              <a:srgbClr val="C9943A"/>
            </a:solidFill>
            <a:prstDash val="solid"/>
          </a:ln>
        </p:spPr>
      </p:sp>
      <p:sp>
        <p:nvSpPr>
          <p:cNvPr id="7" name="Text 5"/>
          <p:cNvSpPr/>
          <p:nvPr/>
        </p:nvSpPr>
        <p:spPr>
          <a:xfrm>
            <a:off x="502920" y="1243584"/>
            <a:ext cx="1161288" cy="384048"/>
          </a:xfrm>
          <a:prstGeom prst="rect">
            <a:avLst/>
          </a:prstGeom>
          <a:noFill/>
          <a:ln/>
        </p:spPr>
        <p:txBody>
          <a:bodyPr wrap="square" lIns="0" tIns="0" rIns="0" bIns="0" rtlCol="0" anchor="ctr"/>
          <a:lstStyle/>
          <a:p>
            <a:pPr indent="0" marL="0">
              <a:buNone/>
            </a:pPr>
            <a:r>
              <a:rPr lang="en-US" sz="2200" b="1" dirty="0">
                <a:solidFill>
                  <a:srgbClr val="0A2342"/>
                </a:solidFill>
                <a:latin typeface="Calibri" pitchFamily="34" charset="0"/>
                <a:ea typeface="Calibri" pitchFamily="34" charset="-122"/>
                <a:cs typeface="Calibri" pitchFamily="34" charset="-120"/>
              </a:rPr>
              <a:t>$32.6B</a:t>
            </a:r>
            <a:endParaRPr lang="en-US" sz="2200" dirty="0"/>
          </a:p>
        </p:txBody>
      </p:sp>
      <p:sp>
        <p:nvSpPr>
          <p:cNvPr id="8" name="Text 6"/>
          <p:cNvSpPr/>
          <p:nvPr/>
        </p:nvSpPr>
        <p:spPr>
          <a:xfrm>
            <a:off x="502920" y="1645920"/>
            <a:ext cx="1161288" cy="201168"/>
          </a:xfrm>
          <a:prstGeom prst="rect">
            <a:avLst/>
          </a:prstGeom>
          <a:noFill/>
          <a:ln/>
        </p:spPr>
        <p:txBody>
          <a:bodyPr wrap="square" lIns="0" tIns="0" rIns="0" bIns="0" rtlCol="0" anchor="ctr"/>
          <a:lstStyle/>
          <a:p>
            <a:pPr indent="0" marL="0">
              <a:buNone/>
            </a:pPr>
            <a:r>
              <a:rPr lang="en-US" sz="1000" b="1" dirty="0">
                <a:solidFill>
                  <a:srgbClr val="475569"/>
                </a:solidFill>
                <a:latin typeface="Calibri" pitchFamily="34" charset="0"/>
                <a:ea typeface="Calibri" pitchFamily="34" charset="-122"/>
                <a:cs typeface="Calibri" pitchFamily="34" charset="-120"/>
              </a:rPr>
              <a:t>Total Exports 2024</a:t>
            </a:r>
            <a:endParaRPr lang="en-US" sz="1000" dirty="0"/>
          </a:p>
        </p:txBody>
      </p:sp>
      <p:sp>
        <p:nvSpPr>
          <p:cNvPr id="9" name="Text 7"/>
          <p:cNvSpPr/>
          <p:nvPr/>
        </p:nvSpPr>
        <p:spPr>
          <a:xfrm>
            <a:off x="502920" y="1865376"/>
            <a:ext cx="1161288" cy="16459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Target: $104B by 2030</a:t>
            </a:r>
            <a:endParaRPr lang="en-US" sz="900" dirty="0"/>
          </a:p>
        </p:txBody>
      </p:sp>
      <p:sp>
        <p:nvSpPr>
          <p:cNvPr id="10" name="Shape 8"/>
          <p:cNvSpPr/>
          <p:nvPr/>
        </p:nvSpPr>
        <p:spPr>
          <a:xfrm>
            <a:off x="1783080" y="1170432"/>
            <a:ext cx="1344168" cy="987552"/>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11" name="Shape 9"/>
          <p:cNvSpPr/>
          <p:nvPr/>
        </p:nvSpPr>
        <p:spPr>
          <a:xfrm>
            <a:off x="1783080" y="1170432"/>
            <a:ext cx="54864" cy="987552"/>
          </a:xfrm>
          <a:prstGeom prst="rect">
            <a:avLst/>
          </a:prstGeom>
          <a:solidFill>
            <a:srgbClr val="C9943A"/>
          </a:solidFill>
          <a:ln w="12700">
            <a:solidFill>
              <a:srgbClr val="C9943A"/>
            </a:solidFill>
            <a:prstDash val="solid"/>
          </a:ln>
        </p:spPr>
      </p:sp>
      <p:sp>
        <p:nvSpPr>
          <p:cNvPr id="12" name="Text 10"/>
          <p:cNvSpPr/>
          <p:nvPr/>
        </p:nvSpPr>
        <p:spPr>
          <a:xfrm>
            <a:off x="1920240" y="1243584"/>
            <a:ext cx="1161288" cy="384048"/>
          </a:xfrm>
          <a:prstGeom prst="rect">
            <a:avLst/>
          </a:prstGeom>
          <a:noFill/>
          <a:ln/>
        </p:spPr>
        <p:txBody>
          <a:bodyPr wrap="square" lIns="0" tIns="0" rIns="0" bIns="0" rtlCol="0" anchor="ctr"/>
          <a:lstStyle/>
          <a:p>
            <a:pPr indent="0" marL="0">
              <a:buNone/>
            </a:pPr>
            <a:r>
              <a:rPr lang="en-US" sz="2200" b="1" dirty="0">
                <a:solidFill>
                  <a:srgbClr val="C0392B"/>
                </a:solidFill>
                <a:latin typeface="Calibri" pitchFamily="34" charset="0"/>
                <a:ea typeface="Calibri" pitchFamily="34" charset="-122"/>
                <a:cs typeface="Calibri" pitchFamily="34" charset="-120"/>
              </a:rPr>
              <a:t>-$50B</a:t>
            </a:r>
            <a:endParaRPr lang="en-US" sz="2200" dirty="0"/>
          </a:p>
        </p:txBody>
      </p:sp>
      <p:sp>
        <p:nvSpPr>
          <p:cNvPr id="13" name="Text 11"/>
          <p:cNvSpPr/>
          <p:nvPr/>
        </p:nvSpPr>
        <p:spPr>
          <a:xfrm>
            <a:off x="1920240" y="1645920"/>
            <a:ext cx="1161288" cy="201168"/>
          </a:xfrm>
          <a:prstGeom prst="rect">
            <a:avLst/>
          </a:prstGeom>
          <a:noFill/>
          <a:ln/>
        </p:spPr>
        <p:txBody>
          <a:bodyPr wrap="square" lIns="0" tIns="0" rIns="0" bIns="0" rtlCol="0" anchor="ctr"/>
          <a:lstStyle/>
          <a:p>
            <a:pPr indent="0" marL="0">
              <a:buNone/>
            </a:pPr>
            <a:r>
              <a:rPr lang="en-US" sz="1000" b="1" dirty="0">
                <a:solidFill>
                  <a:srgbClr val="475569"/>
                </a:solidFill>
                <a:latin typeface="Calibri" pitchFamily="34" charset="0"/>
                <a:ea typeface="Calibri" pitchFamily="34" charset="-122"/>
                <a:cs typeface="Calibri" pitchFamily="34" charset="-120"/>
              </a:rPr>
              <a:t>Trade Deficit 2024</a:t>
            </a:r>
            <a:endParaRPr lang="en-US" sz="1000" dirty="0"/>
          </a:p>
        </p:txBody>
      </p:sp>
      <p:sp>
        <p:nvSpPr>
          <p:cNvPr id="14" name="Text 12"/>
          <p:cNvSpPr/>
          <p:nvPr/>
        </p:nvSpPr>
        <p:spPr>
          <a:xfrm>
            <a:off x="1920240" y="1865376"/>
            <a:ext cx="1161288" cy="16459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Target: Reduce to -$20B</a:t>
            </a:r>
            <a:endParaRPr lang="en-US" sz="900" dirty="0"/>
          </a:p>
        </p:txBody>
      </p:sp>
      <p:sp>
        <p:nvSpPr>
          <p:cNvPr id="15" name="Shape 13"/>
          <p:cNvSpPr/>
          <p:nvPr/>
        </p:nvSpPr>
        <p:spPr>
          <a:xfrm>
            <a:off x="3200400" y="1170432"/>
            <a:ext cx="1344168" cy="987552"/>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16" name="Shape 14"/>
          <p:cNvSpPr/>
          <p:nvPr/>
        </p:nvSpPr>
        <p:spPr>
          <a:xfrm>
            <a:off x="3200400" y="1170432"/>
            <a:ext cx="54864" cy="987552"/>
          </a:xfrm>
          <a:prstGeom prst="rect">
            <a:avLst/>
          </a:prstGeom>
          <a:solidFill>
            <a:srgbClr val="C9943A"/>
          </a:solidFill>
          <a:ln w="12700">
            <a:solidFill>
              <a:srgbClr val="C9943A"/>
            </a:solidFill>
            <a:prstDash val="solid"/>
          </a:ln>
        </p:spPr>
      </p:sp>
      <p:sp>
        <p:nvSpPr>
          <p:cNvPr id="17" name="Text 15"/>
          <p:cNvSpPr/>
          <p:nvPr/>
        </p:nvSpPr>
        <p:spPr>
          <a:xfrm>
            <a:off x="3337560" y="1243584"/>
            <a:ext cx="1161288" cy="384048"/>
          </a:xfrm>
          <a:prstGeom prst="rect">
            <a:avLst/>
          </a:prstGeom>
          <a:noFill/>
          <a:ln/>
        </p:spPr>
        <p:txBody>
          <a:bodyPr wrap="square" lIns="0" tIns="0" rIns="0" bIns="0" rtlCol="0" anchor="ctr"/>
          <a:lstStyle/>
          <a:p>
            <a:pPr indent="0" marL="0">
              <a:buNone/>
            </a:pPr>
            <a:r>
              <a:rPr lang="en-US" sz="2200" b="1" dirty="0">
                <a:solidFill>
                  <a:srgbClr val="C9943A"/>
                </a:solidFill>
                <a:latin typeface="Calibri" pitchFamily="34" charset="0"/>
                <a:ea typeface="Calibri" pitchFamily="34" charset="-122"/>
                <a:cs typeface="Calibri" pitchFamily="34" charset="-120"/>
              </a:rPr>
              <a:t>43%</a:t>
            </a:r>
            <a:endParaRPr lang="en-US" sz="2200" dirty="0"/>
          </a:p>
        </p:txBody>
      </p:sp>
      <p:sp>
        <p:nvSpPr>
          <p:cNvPr id="18" name="Text 16"/>
          <p:cNvSpPr/>
          <p:nvPr/>
        </p:nvSpPr>
        <p:spPr>
          <a:xfrm>
            <a:off x="3337560" y="1645920"/>
            <a:ext cx="1161288" cy="201168"/>
          </a:xfrm>
          <a:prstGeom prst="rect">
            <a:avLst/>
          </a:prstGeom>
          <a:noFill/>
          <a:ln/>
        </p:spPr>
        <p:txBody>
          <a:bodyPr wrap="square" lIns="0" tIns="0" rIns="0" bIns="0" rtlCol="0" anchor="ctr"/>
          <a:lstStyle/>
          <a:p>
            <a:pPr indent="0" marL="0">
              <a:buNone/>
            </a:pPr>
            <a:r>
              <a:rPr lang="en-US" sz="1000" b="1" dirty="0">
                <a:solidFill>
                  <a:srgbClr val="475569"/>
                </a:solidFill>
                <a:latin typeface="Calibri" pitchFamily="34" charset="0"/>
                <a:ea typeface="Calibri" pitchFamily="34" charset="-122"/>
                <a:cs typeface="Calibri" pitchFamily="34" charset="-120"/>
              </a:rPr>
              <a:t>Vision Achievement</a:t>
            </a:r>
            <a:endParaRPr lang="en-US" sz="1000" dirty="0"/>
          </a:p>
        </p:txBody>
      </p:sp>
      <p:sp>
        <p:nvSpPr>
          <p:cNvPr id="19" name="Text 17"/>
          <p:cNvSpPr/>
          <p:nvPr/>
        </p:nvSpPr>
        <p:spPr>
          <a:xfrm>
            <a:off x="3337560" y="1865376"/>
            <a:ext cx="1161288" cy="16459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Target: 100% by 2030</a:t>
            </a:r>
            <a:endParaRPr lang="en-US" sz="900" dirty="0"/>
          </a:p>
        </p:txBody>
      </p:sp>
      <p:sp>
        <p:nvSpPr>
          <p:cNvPr id="20" name="Shape 18"/>
          <p:cNvSpPr/>
          <p:nvPr/>
        </p:nvSpPr>
        <p:spPr>
          <a:xfrm>
            <a:off x="4617720" y="1170432"/>
            <a:ext cx="1344168" cy="987552"/>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21" name="Shape 19"/>
          <p:cNvSpPr/>
          <p:nvPr/>
        </p:nvSpPr>
        <p:spPr>
          <a:xfrm>
            <a:off x="4617720" y="1170432"/>
            <a:ext cx="54864" cy="987552"/>
          </a:xfrm>
          <a:prstGeom prst="rect">
            <a:avLst/>
          </a:prstGeom>
          <a:solidFill>
            <a:srgbClr val="C9943A"/>
          </a:solidFill>
          <a:ln w="12700">
            <a:solidFill>
              <a:srgbClr val="C9943A"/>
            </a:solidFill>
            <a:prstDash val="solid"/>
          </a:ln>
        </p:spPr>
      </p:sp>
      <p:sp>
        <p:nvSpPr>
          <p:cNvPr id="22" name="Text 20"/>
          <p:cNvSpPr/>
          <p:nvPr/>
        </p:nvSpPr>
        <p:spPr>
          <a:xfrm>
            <a:off x="4754880" y="1243584"/>
            <a:ext cx="1161288" cy="384048"/>
          </a:xfrm>
          <a:prstGeom prst="rect">
            <a:avLst/>
          </a:prstGeom>
          <a:noFill/>
          <a:ln/>
        </p:spPr>
        <p:txBody>
          <a:bodyPr wrap="square" lIns="0" tIns="0" rIns="0" bIns="0" rtlCol="0" anchor="ctr"/>
          <a:lstStyle/>
          <a:p>
            <a:pPr indent="0" marL="0">
              <a:buNone/>
            </a:pPr>
            <a:r>
              <a:rPr lang="en-US" sz="2200" b="1" dirty="0">
                <a:solidFill>
                  <a:srgbClr val="C0392B"/>
                </a:solidFill>
                <a:latin typeface="Calibri" pitchFamily="34" charset="0"/>
                <a:ea typeface="Calibri" pitchFamily="34" charset="-122"/>
                <a:cs typeface="Calibri" pitchFamily="34" charset="-120"/>
              </a:rPr>
              <a:t>31%</a:t>
            </a:r>
            <a:endParaRPr lang="en-US" sz="2200" dirty="0"/>
          </a:p>
        </p:txBody>
      </p:sp>
      <p:sp>
        <p:nvSpPr>
          <p:cNvPr id="23" name="Text 21"/>
          <p:cNvSpPr/>
          <p:nvPr/>
        </p:nvSpPr>
        <p:spPr>
          <a:xfrm>
            <a:off x="4754880" y="1645920"/>
            <a:ext cx="1161288" cy="201168"/>
          </a:xfrm>
          <a:prstGeom prst="rect">
            <a:avLst/>
          </a:prstGeom>
          <a:noFill/>
          <a:ln/>
        </p:spPr>
        <p:txBody>
          <a:bodyPr wrap="square" lIns="0" tIns="0" rIns="0" bIns="0" rtlCol="0" anchor="ctr"/>
          <a:lstStyle/>
          <a:p>
            <a:pPr indent="0" marL="0">
              <a:buNone/>
            </a:pPr>
            <a:r>
              <a:rPr lang="en-US" sz="1000" b="1" dirty="0">
                <a:solidFill>
                  <a:srgbClr val="475569"/>
                </a:solidFill>
                <a:latin typeface="Calibri" pitchFamily="34" charset="0"/>
                <a:ea typeface="Calibri" pitchFamily="34" charset="-122"/>
                <a:cs typeface="Calibri" pitchFamily="34" charset="-120"/>
              </a:rPr>
              <a:t>Vision 2030 Progress</a:t>
            </a:r>
            <a:endParaRPr lang="en-US" sz="1000" dirty="0"/>
          </a:p>
        </p:txBody>
      </p:sp>
      <p:sp>
        <p:nvSpPr>
          <p:cNvPr id="24" name="Text 22"/>
          <p:cNvSpPr/>
          <p:nvPr/>
        </p:nvSpPr>
        <p:spPr>
          <a:xfrm>
            <a:off x="4754880" y="1865376"/>
            <a:ext cx="1161288" cy="16459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18% CAGR required</a:t>
            </a:r>
            <a:endParaRPr lang="en-US" sz="900" dirty="0"/>
          </a:p>
        </p:txBody>
      </p:sp>
      <p:sp>
        <p:nvSpPr>
          <p:cNvPr id="25" name="Shape 23"/>
          <p:cNvSpPr/>
          <p:nvPr/>
        </p:nvSpPr>
        <p:spPr>
          <a:xfrm>
            <a:off x="6035040" y="1170432"/>
            <a:ext cx="1344168" cy="987552"/>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26" name="Shape 24"/>
          <p:cNvSpPr/>
          <p:nvPr/>
        </p:nvSpPr>
        <p:spPr>
          <a:xfrm>
            <a:off x="6035040" y="1170432"/>
            <a:ext cx="54864" cy="987552"/>
          </a:xfrm>
          <a:prstGeom prst="rect">
            <a:avLst/>
          </a:prstGeom>
          <a:solidFill>
            <a:srgbClr val="C9943A"/>
          </a:solidFill>
          <a:ln w="12700">
            <a:solidFill>
              <a:srgbClr val="C9943A"/>
            </a:solidFill>
            <a:prstDash val="solid"/>
          </a:ln>
        </p:spPr>
      </p:sp>
      <p:sp>
        <p:nvSpPr>
          <p:cNvPr id="27" name="Text 25"/>
          <p:cNvSpPr/>
          <p:nvPr/>
        </p:nvSpPr>
        <p:spPr>
          <a:xfrm>
            <a:off x="6172200" y="1243584"/>
            <a:ext cx="1161288" cy="384048"/>
          </a:xfrm>
          <a:prstGeom prst="rect">
            <a:avLst/>
          </a:prstGeom>
          <a:noFill/>
          <a:ln/>
        </p:spPr>
        <p:txBody>
          <a:bodyPr wrap="square" lIns="0" tIns="0" rIns="0" bIns="0" rtlCol="0" anchor="ctr"/>
          <a:lstStyle/>
          <a:p>
            <a:pPr indent="0" marL="0">
              <a:buNone/>
            </a:pPr>
            <a:r>
              <a:rPr lang="en-US" sz="2200" b="1" dirty="0">
                <a:solidFill>
                  <a:srgbClr val="007B55"/>
                </a:solidFill>
                <a:latin typeface="Calibri" pitchFamily="34" charset="0"/>
                <a:ea typeface="Calibri" pitchFamily="34" charset="-122"/>
                <a:cs typeface="Calibri" pitchFamily="34" charset="-120"/>
              </a:rPr>
              <a:t>55%</a:t>
            </a:r>
            <a:endParaRPr lang="en-US" sz="2200" dirty="0"/>
          </a:p>
        </p:txBody>
      </p:sp>
      <p:sp>
        <p:nvSpPr>
          <p:cNvPr id="28" name="Text 26"/>
          <p:cNvSpPr/>
          <p:nvPr/>
        </p:nvSpPr>
        <p:spPr>
          <a:xfrm>
            <a:off x="6172200" y="1645920"/>
            <a:ext cx="1161288" cy="201168"/>
          </a:xfrm>
          <a:prstGeom prst="rect">
            <a:avLst/>
          </a:prstGeom>
          <a:noFill/>
          <a:ln/>
        </p:spPr>
        <p:txBody>
          <a:bodyPr wrap="square" lIns="0" tIns="0" rIns="0" bIns="0" rtlCol="0" anchor="ctr"/>
          <a:lstStyle/>
          <a:p>
            <a:pPr indent="0" marL="0">
              <a:buNone/>
            </a:pPr>
            <a:r>
              <a:rPr lang="en-US" sz="1000" b="1" dirty="0">
                <a:solidFill>
                  <a:srgbClr val="475569"/>
                </a:solidFill>
                <a:latin typeface="Calibri" pitchFamily="34" charset="0"/>
                <a:ea typeface="Calibri" pitchFamily="34" charset="-122"/>
                <a:cs typeface="Calibri" pitchFamily="34" charset="-120"/>
              </a:rPr>
              <a:t>Non-Oil Export Share</a:t>
            </a:r>
            <a:endParaRPr lang="en-US" sz="1000" dirty="0"/>
          </a:p>
        </p:txBody>
      </p:sp>
      <p:sp>
        <p:nvSpPr>
          <p:cNvPr id="29" name="Text 27"/>
          <p:cNvSpPr/>
          <p:nvPr/>
        </p:nvSpPr>
        <p:spPr>
          <a:xfrm>
            <a:off x="6172200" y="1865376"/>
            <a:ext cx="1161288" cy="16459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Target: 75%</a:t>
            </a:r>
            <a:endParaRPr lang="en-US" sz="900" dirty="0"/>
          </a:p>
        </p:txBody>
      </p:sp>
      <p:sp>
        <p:nvSpPr>
          <p:cNvPr id="30" name="Shape 28"/>
          <p:cNvSpPr/>
          <p:nvPr/>
        </p:nvSpPr>
        <p:spPr>
          <a:xfrm>
            <a:off x="7452360" y="1170432"/>
            <a:ext cx="1344168" cy="987552"/>
          </a:xfrm>
          <a:prstGeom prst="rect">
            <a:avLst/>
          </a:prstGeom>
          <a:solidFill>
            <a:srgbClr val="FFFFFF"/>
          </a:solidFill>
          <a:ln w="12700">
            <a:solidFill>
              <a:srgbClr val="E8EEF4"/>
            </a:solidFill>
            <a:prstDash val="solid"/>
          </a:ln>
          <a:effectLst>
            <a:outerShdw sx="100000" sy="100000" kx="0" ky="0" algn="bl" rotWithShape="0" blurRad="101600" dist="25400" dir="8100000">
              <a:srgbClr val="000000">
                <a:alpha val="13000"/>
              </a:srgbClr>
            </a:outerShdw>
          </a:effectLst>
        </p:spPr>
      </p:sp>
      <p:sp>
        <p:nvSpPr>
          <p:cNvPr id="31" name="Shape 29"/>
          <p:cNvSpPr/>
          <p:nvPr/>
        </p:nvSpPr>
        <p:spPr>
          <a:xfrm>
            <a:off x="7452360" y="1170432"/>
            <a:ext cx="54864" cy="987552"/>
          </a:xfrm>
          <a:prstGeom prst="rect">
            <a:avLst/>
          </a:prstGeom>
          <a:solidFill>
            <a:srgbClr val="C9943A"/>
          </a:solidFill>
          <a:ln w="12700">
            <a:solidFill>
              <a:srgbClr val="C9943A"/>
            </a:solidFill>
            <a:prstDash val="solid"/>
          </a:ln>
        </p:spPr>
      </p:sp>
      <p:sp>
        <p:nvSpPr>
          <p:cNvPr id="32" name="Text 30"/>
          <p:cNvSpPr/>
          <p:nvPr/>
        </p:nvSpPr>
        <p:spPr>
          <a:xfrm>
            <a:off x="7589520" y="1243584"/>
            <a:ext cx="1161288" cy="384048"/>
          </a:xfrm>
          <a:prstGeom prst="rect">
            <a:avLst/>
          </a:prstGeom>
          <a:noFill/>
          <a:ln/>
        </p:spPr>
        <p:txBody>
          <a:bodyPr wrap="square" lIns="0" tIns="0" rIns="0" bIns="0" rtlCol="0" anchor="ctr"/>
          <a:lstStyle/>
          <a:p>
            <a:pPr indent="0" marL="0">
              <a:buNone/>
            </a:pPr>
            <a:r>
              <a:rPr lang="en-US" sz="2200" b="1" dirty="0">
                <a:solidFill>
                  <a:srgbClr val="475569"/>
                </a:solidFill>
                <a:latin typeface="Calibri" pitchFamily="34" charset="0"/>
                <a:ea typeface="Calibri" pitchFamily="34" charset="-122"/>
                <a:cs typeface="Calibri" pitchFamily="34" charset="-120"/>
              </a:rPr>
              <a:t>2.7%</a:t>
            </a:r>
            <a:endParaRPr lang="en-US" sz="2200" dirty="0"/>
          </a:p>
        </p:txBody>
      </p:sp>
      <p:sp>
        <p:nvSpPr>
          <p:cNvPr id="33" name="Text 31"/>
          <p:cNvSpPr/>
          <p:nvPr/>
        </p:nvSpPr>
        <p:spPr>
          <a:xfrm>
            <a:off x="7589520" y="1645920"/>
            <a:ext cx="1161288" cy="201168"/>
          </a:xfrm>
          <a:prstGeom prst="rect">
            <a:avLst/>
          </a:prstGeom>
          <a:noFill/>
          <a:ln/>
        </p:spPr>
        <p:txBody>
          <a:bodyPr wrap="square" lIns="0" tIns="0" rIns="0" bIns="0" rtlCol="0" anchor="ctr"/>
          <a:lstStyle/>
          <a:p>
            <a:pPr indent="0" marL="0">
              <a:buNone/>
            </a:pPr>
            <a:r>
              <a:rPr lang="en-US" sz="1000" b="1" dirty="0">
                <a:solidFill>
                  <a:srgbClr val="475569"/>
                </a:solidFill>
                <a:latin typeface="Calibri" pitchFamily="34" charset="0"/>
                <a:ea typeface="Calibri" pitchFamily="34" charset="-122"/>
                <a:cs typeface="Calibri" pitchFamily="34" charset="-120"/>
              </a:rPr>
              <a:t>Exports CAGR 2010–24</a:t>
            </a:r>
            <a:endParaRPr lang="en-US" sz="1000" dirty="0"/>
          </a:p>
        </p:txBody>
      </p:sp>
      <p:sp>
        <p:nvSpPr>
          <p:cNvPr id="34" name="Text 32"/>
          <p:cNvSpPr/>
          <p:nvPr/>
        </p:nvSpPr>
        <p:spPr>
          <a:xfrm>
            <a:off x="7589520" y="1865376"/>
            <a:ext cx="1161288" cy="16459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Vietnam: 14.2%</a:t>
            </a:r>
            <a:endParaRPr lang="en-US" sz="900" dirty="0"/>
          </a:p>
        </p:txBody>
      </p:sp>
      <p:sp>
        <p:nvSpPr>
          <p:cNvPr id="35" name="Shape 33"/>
          <p:cNvSpPr/>
          <p:nvPr/>
        </p:nvSpPr>
        <p:spPr>
          <a:xfrm>
            <a:off x="365760" y="2267712"/>
            <a:ext cx="8412480" cy="274320"/>
          </a:xfrm>
          <a:prstGeom prst="rect">
            <a:avLst/>
          </a:prstGeom>
          <a:solidFill>
            <a:srgbClr val="0A2342"/>
          </a:solidFill>
          <a:ln w="12700">
            <a:solidFill>
              <a:srgbClr val="0A2342"/>
            </a:solidFill>
            <a:prstDash val="solid"/>
          </a:ln>
        </p:spPr>
      </p:sp>
      <p:sp>
        <p:nvSpPr>
          <p:cNvPr id="36" name="Text 34"/>
          <p:cNvSpPr/>
          <p:nvPr/>
        </p:nvSpPr>
        <p:spPr>
          <a:xfrm>
            <a:off x="365760" y="2286000"/>
            <a:ext cx="3200400" cy="237744"/>
          </a:xfrm>
          <a:prstGeom prst="rect">
            <a:avLst/>
          </a:prstGeom>
          <a:noFill/>
          <a:ln/>
        </p:spPr>
        <p:txBody>
          <a:bodyPr wrap="square" lIns="0" tIns="0" rIns="0" bIns="0" rtlCol="0" anchor="ctr"/>
          <a:lstStyle/>
          <a:p>
            <a:pPr indent="0" marL="0">
              <a:buNone/>
            </a:pPr>
            <a:r>
              <a:rPr lang="en-US" sz="900" b="1" dirty="0">
                <a:solidFill>
                  <a:srgbClr val="C9943A"/>
                </a:solidFill>
                <a:latin typeface="Calibri" pitchFamily="34" charset="0"/>
                <a:ea typeface="Calibri" pitchFamily="34" charset="-122"/>
                <a:cs typeface="Calibri" pitchFamily="34" charset="-120"/>
              </a:rPr>
              <a:t>KPI</a:t>
            </a:r>
            <a:endParaRPr lang="en-US" sz="900" dirty="0"/>
          </a:p>
        </p:txBody>
      </p:sp>
      <p:sp>
        <p:nvSpPr>
          <p:cNvPr id="37" name="Text 35"/>
          <p:cNvSpPr/>
          <p:nvPr/>
        </p:nvSpPr>
        <p:spPr>
          <a:xfrm>
            <a:off x="3520440" y="2286000"/>
            <a:ext cx="3200400" cy="237744"/>
          </a:xfrm>
          <a:prstGeom prst="rect">
            <a:avLst/>
          </a:prstGeom>
          <a:noFill/>
          <a:ln/>
        </p:spPr>
        <p:txBody>
          <a:bodyPr wrap="square" lIns="0" tIns="0" rIns="0" bIns="0" rtlCol="0" anchor="ctr"/>
          <a:lstStyle/>
          <a:p>
            <a:pPr indent="0" marL="0">
              <a:buNone/>
            </a:pPr>
            <a:r>
              <a:rPr lang="en-US" sz="900" b="1" dirty="0">
                <a:solidFill>
                  <a:srgbClr val="C9943A"/>
                </a:solidFill>
                <a:latin typeface="Calibri" pitchFamily="34" charset="0"/>
                <a:ea typeface="Calibri" pitchFamily="34" charset="-122"/>
                <a:cs typeface="Calibri" pitchFamily="34" charset="-120"/>
              </a:rPr>
              <a:t>Current</a:t>
            </a:r>
            <a:endParaRPr lang="en-US" sz="900" dirty="0"/>
          </a:p>
        </p:txBody>
      </p:sp>
      <p:sp>
        <p:nvSpPr>
          <p:cNvPr id="38" name="Text 36"/>
          <p:cNvSpPr/>
          <p:nvPr/>
        </p:nvSpPr>
        <p:spPr>
          <a:xfrm>
            <a:off x="4663440" y="2286000"/>
            <a:ext cx="3200400" cy="237744"/>
          </a:xfrm>
          <a:prstGeom prst="rect">
            <a:avLst/>
          </a:prstGeom>
          <a:noFill/>
          <a:ln/>
        </p:spPr>
        <p:txBody>
          <a:bodyPr wrap="square" lIns="0" tIns="0" rIns="0" bIns="0" rtlCol="0" anchor="ctr"/>
          <a:lstStyle/>
          <a:p>
            <a:pPr indent="0" marL="0">
              <a:buNone/>
            </a:pPr>
            <a:r>
              <a:rPr lang="en-US" sz="900" b="1" dirty="0">
                <a:solidFill>
                  <a:srgbClr val="C9943A"/>
                </a:solidFill>
                <a:latin typeface="Calibri" pitchFamily="34" charset="0"/>
                <a:ea typeface="Calibri" pitchFamily="34" charset="-122"/>
                <a:cs typeface="Calibri" pitchFamily="34" charset="-120"/>
              </a:rPr>
              <a:t>2030 Target</a:t>
            </a:r>
            <a:endParaRPr lang="en-US" sz="900" dirty="0"/>
          </a:p>
        </p:txBody>
      </p:sp>
      <p:sp>
        <p:nvSpPr>
          <p:cNvPr id="39" name="Text 37"/>
          <p:cNvSpPr/>
          <p:nvPr/>
        </p:nvSpPr>
        <p:spPr>
          <a:xfrm>
            <a:off x="5897880" y="2286000"/>
            <a:ext cx="3200400" cy="237744"/>
          </a:xfrm>
          <a:prstGeom prst="rect">
            <a:avLst/>
          </a:prstGeom>
          <a:noFill/>
          <a:ln/>
        </p:spPr>
        <p:txBody>
          <a:bodyPr wrap="square" lIns="0" tIns="0" rIns="0" bIns="0" rtlCol="0" anchor="ctr"/>
          <a:lstStyle/>
          <a:p>
            <a:pPr indent="0" marL="0">
              <a:buNone/>
            </a:pPr>
            <a:r>
              <a:rPr lang="en-US" sz="900" b="1" dirty="0">
                <a:solidFill>
                  <a:srgbClr val="C9943A"/>
                </a:solidFill>
                <a:latin typeface="Calibri" pitchFamily="34" charset="0"/>
                <a:ea typeface="Calibri" pitchFamily="34" charset="-122"/>
                <a:cs typeface="Calibri" pitchFamily="34" charset="-120"/>
              </a:rPr>
              <a:t>Status / Action</a:t>
            </a:r>
            <a:endParaRPr lang="en-US" sz="900" dirty="0"/>
          </a:p>
        </p:txBody>
      </p:sp>
      <p:sp>
        <p:nvSpPr>
          <p:cNvPr id="40" name="Shape 38"/>
          <p:cNvSpPr/>
          <p:nvPr/>
        </p:nvSpPr>
        <p:spPr>
          <a:xfrm>
            <a:off x="365760" y="2578608"/>
            <a:ext cx="8412480" cy="256032"/>
          </a:xfrm>
          <a:prstGeom prst="rect">
            <a:avLst/>
          </a:prstGeom>
          <a:solidFill>
            <a:srgbClr val="F4F6F8"/>
          </a:solidFill>
          <a:ln w="12700">
            <a:solidFill>
              <a:srgbClr val="E8EEF4"/>
            </a:solidFill>
            <a:prstDash val="solid"/>
          </a:ln>
        </p:spPr>
      </p:sp>
      <p:sp>
        <p:nvSpPr>
          <p:cNvPr id="41" name="Text 39"/>
          <p:cNvSpPr/>
          <p:nvPr/>
        </p:nvSpPr>
        <p:spPr>
          <a:xfrm>
            <a:off x="502920" y="2615184"/>
            <a:ext cx="2926080" cy="182880"/>
          </a:xfrm>
          <a:prstGeom prst="rect">
            <a:avLst/>
          </a:prstGeom>
          <a:noFill/>
          <a:ln/>
        </p:spPr>
        <p:txBody>
          <a:bodyPr wrap="square" lIns="0" tIns="0" rIns="0" bIns="0" rtlCol="0" anchor="ctr"/>
          <a:lstStyle/>
          <a:p>
            <a:pPr indent="0" marL="0">
              <a:buNone/>
            </a:pPr>
            <a:r>
              <a:rPr lang="en-US" sz="850" dirty="0">
                <a:solidFill>
                  <a:srgbClr val="0A2342"/>
                </a:solidFill>
                <a:latin typeface="Calibri" pitchFamily="34" charset="0"/>
                <a:ea typeface="Calibri" pitchFamily="34" charset="-122"/>
                <a:cs typeface="Calibri" pitchFamily="34" charset="-120"/>
              </a:rPr>
              <a:t>Total Exports USD M</a:t>
            </a:r>
            <a:endParaRPr lang="en-US" sz="850" dirty="0"/>
          </a:p>
        </p:txBody>
      </p:sp>
      <p:sp>
        <p:nvSpPr>
          <p:cNvPr id="42" name="Text 40"/>
          <p:cNvSpPr/>
          <p:nvPr/>
        </p:nvSpPr>
        <p:spPr>
          <a:xfrm>
            <a:off x="3520440" y="2615184"/>
            <a:ext cx="1097280" cy="182880"/>
          </a:xfrm>
          <a:prstGeom prst="rect">
            <a:avLst/>
          </a:prstGeom>
          <a:noFill/>
          <a:ln/>
        </p:spPr>
        <p:txBody>
          <a:bodyPr wrap="square" lIns="0" tIns="0" rIns="0" bIns="0" rtlCol="0" anchor="ctr"/>
          <a:lstStyle/>
          <a:p>
            <a:pPr algn="ctr" indent="0" marL="0">
              <a:buNone/>
            </a:pPr>
            <a:r>
              <a:rPr lang="en-US" sz="850" b="1" dirty="0">
                <a:solidFill>
                  <a:srgbClr val="C0392B"/>
                </a:solidFill>
                <a:latin typeface="Calibri" pitchFamily="34" charset="0"/>
                <a:ea typeface="Calibri" pitchFamily="34" charset="-122"/>
                <a:cs typeface="Calibri" pitchFamily="34" charset="-120"/>
              </a:rPr>
              <a:t>$32.6B</a:t>
            </a:r>
            <a:endParaRPr lang="en-US" sz="850" dirty="0"/>
          </a:p>
        </p:txBody>
      </p:sp>
      <p:sp>
        <p:nvSpPr>
          <p:cNvPr id="43" name="Text 41"/>
          <p:cNvSpPr/>
          <p:nvPr/>
        </p:nvSpPr>
        <p:spPr>
          <a:xfrm>
            <a:off x="4663440" y="2615184"/>
            <a:ext cx="1188720" cy="182880"/>
          </a:xfrm>
          <a:prstGeom prst="rect">
            <a:avLst/>
          </a:prstGeom>
          <a:noFill/>
          <a:ln/>
        </p:spPr>
        <p:txBody>
          <a:bodyPr wrap="square" lIns="0" tIns="0" rIns="0" bIns="0" rtlCol="0" anchor="ctr"/>
          <a:lstStyle/>
          <a:p>
            <a:pPr algn="ctr" indent="0" marL="0">
              <a:buNone/>
            </a:pPr>
            <a:r>
              <a:rPr lang="en-US" sz="850" dirty="0">
                <a:solidFill>
                  <a:srgbClr val="007B55"/>
                </a:solidFill>
                <a:latin typeface="Calibri" pitchFamily="34" charset="0"/>
                <a:ea typeface="Calibri" pitchFamily="34" charset="-122"/>
                <a:cs typeface="Calibri" pitchFamily="34" charset="-120"/>
              </a:rPr>
              <a:t>$104B</a:t>
            </a:r>
            <a:endParaRPr lang="en-US" sz="850" dirty="0"/>
          </a:p>
        </p:txBody>
      </p:sp>
      <p:sp>
        <p:nvSpPr>
          <p:cNvPr id="44" name="Text 42"/>
          <p:cNvSpPr/>
          <p:nvPr/>
        </p:nvSpPr>
        <p:spPr>
          <a:xfrm>
            <a:off x="5897880" y="2615184"/>
            <a:ext cx="2834640" cy="182880"/>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18% CAGR Required</a:t>
            </a:r>
            <a:endParaRPr lang="en-US" sz="800" dirty="0"/>
          </a:p>
        </p:txBody>
      </p:sp>
      <p:sp>
        <p:nvSpPr>
          <p:cNvPr id="45" name="Shape 43"/>
          <p:cNvSpPr/>
          <p:nvPr/>
        </p:nvSpPr>
        <p:spPr>
          <a:xfrm>
            <a:off x="365760" y="2852928"/>
            <a:ext cx="8412480" cy="256032"/>
          </a:xfrm>
          <a:prstGeom prst="rect">
            <a:avLst/>
          </a:prstGeom>
          <a:solidFill>
            <a:srgbClr val="FFFFFF"/>
          </a:solidFill>
          <a:ln w="12700">
            <a:solidFill>
              <a:srgbClr val="E8EEF4"/>
            </a:solidFill>
            <a:prstDash val="solid"/>
          </a:ln>
        </p:spPr>
      </p:sp>
      <p:sp>
        <p:nvSpPr>
          <p:cNvPr id="46" name="Text 44"/>
          <p:cNvSpPr/>
          <p:nvPr/>
        </p:nvSpPr>
        <p:spPr>
          <a:xfrm>
            <a:off x="502920" y="2889504"/>
            <a:ext cx="2926080" cy="182880"/>
          </a:xfrm>
          <a:prstGeom prst="rect">
            <a:avLst/>
          </a:prstGeom>
          <a:noFill/>
          <a:ln/>
        </p:spPr>
        <p:txBody>
          <a:bodyPr wrap="square" lIns="0" tIns="0" rIns="0" bIns="0" rtlCol="0" anchor="ctr"/>
          <a:lstStyle/>
          <a:p>
            <a:pPr indent="0" marL="0">
              <a:buNone/>
            </a:pPr>
            <a:r>
              <a:rPr lang="en-US" sz="850" dirty="0">
                <a:solidFill>
                  <a:srgbClr val="0A2342"/>
                </a:solidFill>
                <a:latin typeface="Calibri" pitchFamily="34" charset="0"/>
                <a:ea typeface="Calibri" pitchFamily="34" charset="-122"/>
                <a:cs typeface="Calibri" pitchFamily="34" charset="-120"/>
              </a:rPr>
              <a:t>Trade Balance USD M</a:t>
            </a:r>
            <a:endParaRPr lang="en-US" sz="850" dirty="0"/>
          </a:p>
        </p:txBody>
      </p:sp>
      <p:sp>
        <p:nvSpPr>
          <p:cNvPr id="47" name="Text 45"/>
          <p:cNvSpPr/>
          <p:nvPr/>
        </p:nvSpPr>
        <p:spPr>
          <a:xfrm>
            <a:off x="3520440" y="2889504"/>
            <a:ext cx="1097280" cy="182880"/>
          </a:xfrm>
          <a:prstGeom prst="rect">
            <a:avLst/>
          </a:prstGeom>
          <a:noFill/>
          <a:ln/>
        </p:spPr>
        <p:txBody>
          <a:bodyPr wrap="square" lIns="0" tIns="0" rIns="0" bIns="0" rtlCol="0" anchor="ctr"/>
          <a:lstStyle/>
          <a:p>
            <a:pPr algn="ctr" indent="0" marL="0">
              <a:buNone/>
            </a:pPr>
            <a:r>
              <a:rPr lang="en-US" sz="850" b="1" dirty="0">
                <a:solidFill>
                  <a:srgbClr val="C0392B"/>
                </a:solidFill>
                <a:latin typeface="Calibri" pitchFamily="34" charset="0"/>
                <a:ea typeface="Calibri" pitchFamily="34" charset="-122"/>
                <a:cs typeface="Calibri" pitchFamily="34" charset="-120"/>
              </a:rPr>
              <a:t>-$50B</a:t>
            </a:r>
            <a:endParaRPr lang="en-US" sz="850" dirty="0"/>
          </a:p>
        </p:txBody>
      </p:sp>
      <p:sp>
        <p:nvSpPr>
          <p:cNvPr id="48" name="Text 46"/>
          <p:cNvSpPr/>
          <p:nvPr/>
        </p:nvSpPr>
        <p:spPr>
          <a:xfrm>
            <a:off x="4663440" y="2889504"/>
            <a:ext cx="1188720" cy="182880"/>
          </a:xfrm>
          <a:prstGeom prst="rect">
            <a:avLst/>
          </a:prstGeom>
          <a:noFill/>
          <a:ln/>
        </p:spPr>
        <p:txBody>
          <a:bodyPr wrap="square" lIns="0" tIns="0" rIns="0" bIns="0" rtlCol="0" anchor="ctr"/>
          <a:lstStyle/>
          <a:p>
            <a:pPr algn="ctr" indent="0" marL="0">
              <a:buNone/>
            </a:pPr>
            <a:r>
              <a:rPr lang="en-US" sz="850" dirty="0">
                <a:solidFill>
                  <a:srgbClr val="007B55"/>
                </a:solidFill>
                <a:latin typeface="Calibri" pitchFamily="34" charset="0"/>
                <a:ea typeface="Calibri" pitchFamily="34" charset="-122"/>
                <a:cs typeface="Calibri" pitchFamily="34" charset="-120"/>
              </a:rPr>
              <a:t>-$20B</a:t>
            </a:r>
            <a:endParaRPr lang="en-US" sz="850" dirty="0"/>
          </a:p>
        </p:txBody>
      </p:sp>
      <p:sp>
        <p:nvSpPr>
          <p:cNvPr id="49" name="Text 47"/>
          <p:cNvSpPr/>
          <p:nvPr/>
        </p:nvSpPr>
        <p:spPr>
          <a:xfrm>
            <a:off x="5897880" y="2889504"/>
            <a:ext cx="2834640" cy="182880"/>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Structural Reform Needed</a:t>
            </a:r>
            <a:endParaRPr lang="en-US" sz="800" dirty="0"/>
          </a:p>
        </p:txBody>
      </p:sp>
      <p:sp>
        <p:nvSpPr>
          <p:cNvPr id="50" name="Shape 48"/>
          <p:cNvSpPr/>
          <p:nvPr/>
        </p:nvSpPr>
        <p:spPr>
          <a:xfrm>
            <a:off x="365760" y="3127248"/>
            <a:ext cx="8412480" cy="256032"/>
          </a:xfrm>
          <a:prstGeom prst="rect">
            <a:avLst/>
          </a:prstGeom>
          <a:solidFill>
            <a:srgbClr val="F4F6F8"/>
          </a:solidFill>
          <a:ln w="12700">
            <a:solidFill>
              <a:srgbClr val="E8EEF4"/>
            </a:solidFill>
            <a:prstDash val="solid"/>
          </a:ln>
        </p:spPr>
      </p:sp>
      <p:sp>
        <p:nvSpPr>
          <p:cNvPr id="51" name="Text 49"/>
          <p:cNvSpPr/>
          <p:nvPr/>
        </p:nvSpPr>
        <p:spPr>
          <a:xfrm>
            <a:off x="502920" y="3163824"/>
            <a:ext cx="2926080" cy="182880"/>
          </a:xfrm>
          <a:prstGeom prst="rect">
            <a:avLst/>
          </a:prstGeom>
          <a:noFill/>
          <a:ln/>
        </p:spPr>
        <p:txBody>
          <a:bodyPr wrap="square" lIns="0" tIns="0" rIns="0" bIns="0" rtlCol="0" anchor="ctr"/>
          <a:lstStyle/>
          <a:p>
            <a:pPr indent="0" marL="0">
              <a:buNone/>
            </a:pPr>
            <a:r>
              <a:rPr lang="en-US" sz="850" dirty="0">
                <a:solidFill>
                  <a:srgbClr val="0A2342"/>
                </a:solidFill>
                <a:latin typeface="Calibri" pitchFamily="34" charset="0"/>
                <a:ea typeface="Calibri" pitchFamily="34" charset="-122"/>
                <a:cs typeface="Calibri" pitchFamily="34" charset="-120"/>
              </a:rPr>
              <a:t>Non-Oil Export Share %</a:t>
            </a:r>
            <a:endParaRPr lang="en-US" sz="850" dirty="0"/>
          </a:p>
        </p:txBody>
      </p:sp>
      <p:sp>
        <p:nvSpPr>
          <p:cNvPr id="52" name="Text 50"/>
          <p:cNvSpPr/>
          <p:nvPr/>
        </p:nvSpPr>
        <p:spPr>
          <a:xfrm>
            <a:off x="3520440" y="3163824"/>
            <a:ext cx="1097280" cy="182880"/>
          </a:xfrm>
          <a:prstGeom prst="rect">
            <a:avLst/>
          </a:prstGeom>
          <a:noFill/>
          <a:ln/>
        </p:spPr>
        <p:txBody>
          <a:bodyPr wrap="square" lIns="0" tIns="0" rIns="0" bIns="0" rtlCol="0" anchor="ctr"/>
          <a:lstStyle/>
          <a:p>
            <a:pPr algn="ctr" indent="0" marL="0">
              <a:buNone/>
            </a:pPr>
            <a:r>
              <a:rPr lang="en-US" sz="850" b="1" dirty="0">
                <a:solidFill>
                  <a:srgbClr val="C9943A"/>
                </a:solidFill>
                <a:latin typeface="Calibri" pitchFamily="34" charset="0"/>
                <a:ea typeface="Calibri" pitchFamily="34" charset="-122"/>
                <a:cs typeface="Calibri" pitchFamily="34" charset="-120"/>
              </a:rPr>
              <a:t>55%</a:t>
            </a:r>
            <a:endParaRPr lang="en-US" sz="850" dirty="0"/>
          </a:p>
        </p:txBody>
      </p:sp>
      <p:sp>
        <p:nvSpPr>
          <p:cNvPr id="53" name="Text 51"/>
          <p:cNvSpPr/>
          <p:nvPr/>
        </p:nvSpPr>
        <p:spPr>
          <a:xfrm>
            <a:off x="4663440" y="3163824"/>
            <a:ext cx="1188720" cy="182880"/>
          </a:xfrm>
          <a:prstGeom prst="rect">
            <a:avLst/>
          </a:prstGeom>
          <a:noFill/>
          <a:ln/>
        </p:spPr>
        <p:txBody>
          <a:bodyPr wrap="square" lIns="0" tIns="0" rIns="0" bIns="0" rtlCol="0" anchor="ctr"/>
          <a:lstStyle/>
          <a:p>
            <a:pPr algn="ctr" indent="0" marL="0">
              <a:buNone/>
            </a:pPr>
            <a:r>
              <a:rPr lang="en-US" sz="850" dirty="0">
                <a:solidFill>
                  <a:srgbClr val="007B55"/>
                </a:solidFill>
                <a:latin typeface="Calibri" pitchFamily="34" charset="0"/>
                <a:ea typeface="Calibri" pitchFamily="34" charset="-122"/>
                <a:cs typeface="Calibri" pitchFamily="34" charset="-120"/>
              </a:rPr>
              <a:t>75%</a:t>
            </a:r>
            <a:endParaRPr lang="en-US" sz="850" dirty="0"/>
          </a:p>
        </p:txBody>
      </p:sp>
      <p:sp>
        <p:nvSpPr>
          <p:cNvPr id="54" name="Text 52"/>
          <p:cNvSpPr/>
          <p:nvPr/>
        </p:nvSpPr>
        <p:spPr>
          <a:xfrm>
            <a:off x="5897880" y="3163824"/>
            <a:ext cx="2834640" cy="182880"/>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1.9% CAGR — Progressing</a:t>
            </a:r>
            <a:endParaRPr lang="en-US" sz="800" dirty="0"/>
          </a:p>
        </p:txBody>
      </p:sp>
      <p:sp>
        <p:nvSpPr>
          <p:cNvPr id="55" name="Shape 53"/>
          <p:cNvSpPr/>
          <p:nvPr/>
        </p:nvSpPr>
        <p:spPr>
          <a:xfrm>
            <a:off x="365760" y="3401568"/>
            <a:ext cx="8412480" cy="256032"/>
          </a:xfrm>
          <a:prstGeom prst="rect">
            <a:avLst/>
          </a:prstGeom>
          <a:solidFill>
            <a:srgbClr val="FFFFFF"/>
          </a:solidFill>
          <a:ln w="12700">
            <a:solidFill>
              <a:srgbClr val="E8EEF4"/>
            </a:solidFill>
            <a:prstDash val="solid"/>
          </a:ln>
        </p:spPr>
      </p:sp>
      <p:sp>
        <p:nvSpPr>
          <p:cNvPr id="56" name="Text 54"/>
          <p:cNvSpPr/>
          <p:nvPr/>
        </p:nvSpPr>
        <p:spPr>
          <a:xfrm>
            <a:off x="502920" y="3438144"/>
            <a:ext cx="2926080" cy="182880"/>
          </a:xfrm>
          <a:prstGeom prst="rect">
            <a:avLst/>
          </a:prstGeom>
          <a:noFill/>
          <a:ln/>
        </p:spPr>
        <p:txBody>
          <a:bodyPr wrap="square" lIns="0" tIns="0" rIns="0" bIns="0" rtlCol="0" anchor="ctr"/>
          <a:lstStyle/>
          <a:p>
            <a:pPr indent="0" marL="0">
              <a:buNone/>
            </a:pPr>
            <a:r>
              <a:rPr lang="en-US" sz="850" dirty="0">
                <a:solidFill>
                  <a:srgbClr val="0A2342"/>
                </a:solidFill>
                <a:latin typeface="Calibri" pitchFamily="34" charset="0"/>
                <a:ea typeface="Calibri" pitchFamily="34" charset="-122"/>
                <a:cs typeface="Calibri" pitchFamily="34" charset="-120"/>
              </a:rPr>
              <a:t>Vision KPI Achievement %</a:t>
            </a:r>
            <a:endParaRPr lang="en-US" sz="850" dirty="0"/>
          </a:p>
        </p:txBody>
      </p:sp>
      <p:sp>
        <p:nvSpPr>
          <p:cNvPr id="57" name="Text 55"/>
          <p:cNvSpPr/>
          <p:nvPr/>
        </p:nvSpPr>
        <p:spPr>
          <a:xfrm>
            <a:off x="3520440" y="3438144"/>
            <a:ext cx="1097280" cy="182880"/>
          </a:xfrm>
          <a:prstGeom prst="rect">
            <a:avLst/>
          </a:prstGeom>
          <a:noFill/>
          <a:ln/>
        </p:spPr>
        <p:txBody>
          <a:bodyPr wrap="square" lIns="0" tIns="0" rIns="0" bIns="0" rtlCol="0" anchor="ctr"/>
          <a:lstStyle/>
          <a:p>
            <a:pPr algn="ctr" indent="0" marL="0">
              <a:buNone/>
            </a:pPr>
            <a:r>
              <a:rPr lang="en-US" sz="850" b="1" dirty="0">
                <a:solidFill>
                  <a:srgbClr val="C0392B"/>
                </a:solidFill>
                <a:latin typeface="Calibri" pitchFamily="34" charset="0"/>
                <a:ea typeface="Calibri" pitchFamily="34" charset="-122"/>
                <a:cs typeface="Calibri" pitchFamily="34" charset="-120"/>
              </a:rPr>
              <a:t>43%</a:t>
            </a:r>
            <a:endParaRPr lang="en-US" sz="850" dirty="0"/>
          </a:p>
        </p:txBody>
      </p:sp>
      <p:sp>
        <p:nvSpPr>
          <p:cNvPr id="58" name="Text 56"/>
          <p:cNvSpPr/>
          <p:nvPr/>
        </p:nvSpPr>
        <p:spPr>
          <a:xfrm>
            <a:off x="4663440" y="3438144"/>
            <a:ext cx="1188720" cy="182880"/>
          </a:xfrm>
          <a:prstGeom prst="rect">
            <a:avLst/>
          </a:prstGeom>
          <a:noFill/>
          <a:ln/>
        </p:spPr>
        <p:txBody>
          <a:bodyPr wrap="square" lIns="0" tIns="0" rIns="0" bIns="0" rtlCol="0" anchor="ctr"/>
          <a:lstStyle/>
          <a:p>
            <a:pPr algn="ctr" indent="0" marL="0">
              <a:buNone/>
            </a:pPr>
            <a:r>
              <a:rPr lang="en-US" sz="850" dirty="0">
                <a:solidFill>
                  <a:srgbClr val="007B55"/>
                </a:solidFill>
                <a:latin typeface="Calibri" pitchFamily="34" charset="0"/>
                <a:ea typeface="Calibri" pitchFamily="34" charset="-122"/>
                <a:cs typeface="Calibri" pitchFamily="34" charset="-120"/>
              </a:rPr>
              <a:t>100%</a:t>
            </a:r>
            <a:endParaRPr lang="en-US" sz="850" dirty="0"/>
          </a:p>
        </p:txBody>
      </p:sp>
      <p:sp>
        <p:nvSpPr>
          <p:cNvPr id="59" name="Text 57"/>
          <p:cNvSpPr/>
          <p:nvPr/>
        </p:nvSpPr>
        <p:spPr>
          <a:xfrm>
            <a:off x="5897880" y="3438144"/>
            <a:ext cx="2834640" cy="182880"/>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6 KPIs Critical</a:t>
            </a:r>
            <a:endParaRPr lang="en-US" sz="800" dirty="0"/>
          </a:p>
        </p:txBody>
      </p:sp>
      <p:sp>
        <p:nvSpPr>
          <p:cNvPr id="60" name="Shape 58"/>
          <p:cNvSpPr/>
          <p:nvPr/>
        </p:nvSpPr>
        <p:spPr>
          <a:xfrm>
            <a:off x="365760" y="3675888"/>
            <a:ext cx="8412480" cy="256032"/>
          </a:xfrm>
          <a:prstGeom prst="rect">
            <a:avLst/>
          </a:prstGeom>
          <a:solidFill>
            <a:srgbClr val="F4F6F8"/>
          </a:solidFill>
          <a:ln w="12700">
            <a:solidFill>
              <a:srgbClr val="E8EEF4"/>
            </a:solidFill>
            <a:prstDash val="solid"/>
          </a:ln>
        </p:spPr>
      </p:sp>
      <p:sp>
        <p:nvSpPr>
          <p:cNvPr id="61" name="Text 59"/>
          <p:cNvSpPr/>
          <p:nvPr/>
        </p:nvSpPr>
        <p:spPr>
          <a:xfrm>
            <a:off x="502920" y="3712464"/>
            <a:ext cx="2926080" cy="182880"/>
          </a:xfrm>
          <a:prstGeom prst="rect">
            <a:avLst/>
          </a:prstGeom>
          <a:noFill/>
          <a:ln/>
        </p:spPr>
        <p:txBody>
          <a:bodyPr wrap="square" lIns="0" tIns="0" rIns="0" bIns="0" rtlCol="0" anchor="ctr"/>
          <a:lstStyle/>
          <a:p>
            <a:pPr indent="0" marL="0">
              <a:buNone/>
            </a:pPr>
            <a:r>
              <a:rPr lang="en-US" sz="850" dirty="0">
                <a:solidFill>
                  <a:srgbClr val="0A2342"/>
                </a:solidFill>
                <a:latin typeface="Calibri" pitchFamily="34" charset="0"/>
                <a:ea typeface="Calibri" pitchFamily="34" charset="-122"/>
                <a:cs typeface="Calibri" pitchFamily="34" charset="-120"/>
              </a:rPr>
              <a:t>Total Annual Revenue Lost</a:t>
            </a:r>
            <a:endParaRPr lang="en-US" sz="850" dirty="0"/>
          </a:p>
        </p:txBody>
      </p:sp>
      <p:sp>
        <p:nvSpPr>
          <p:cNvPr id="62" name="Text 60"/>
          <p:cNvSpPr/>
          <p:nvPr/>
        </p:nvSpPr>
        <p:spPr>
          <a:xfrm>
            <a:off x="3520440" y="3712464"/>
            <a:ext cx="1097280" cy="182880"/>
          </a:xfrm>
          <a:prstGeom prst="rect">
            <a:avLst/>
          </a:prstGeom>
          <a:noFill/>
          <a:ln/>
        </p:spPr>
        <p:txBody>
          <a:bodyPr wrap="square" lIns="0" tIns="0" rIns="0" bIns="0" rtlCol="0" anchor="ctr"/>
          <a:lstStyle/>
          <a:p>
            <a:pPr algn="ctr" indent="0" marL="0">
              <a:buNone/>
            </a:pPr>
            <a:r>
              <a:rPr lang="en-US" sz="850" b="1" dirty="0">
                <a:solidFill>
                  <a:srgbClr val="C0392B"/>
                </a:solidFill>
                <a:latin typeface="Calibri" pitchFamily="34" charset="0"/>
                <a:ea typeface="Calibri" pitchFamily="34" charset="-122"/>
                <a:cs typeface="Calibri" pitchFamily="34" charset="-120"/>
              </a:rPr>
              <a:t>$3.2B</a:t>
            </a:r>
            <a:endParaRPr lang="en-US" sz="850" dirty="0"/>
          </a:p>
        </p:txBody>
      </p:sp>
      <p:sp>
        <p:nvSpPr>
          <p:cNvPr id="63" name="Text 61"/>
          <p:cNvSpPr/>
          <p:nvPr/>
        </p:nvSpPr>
        <p:spPr>
          <a:xfrm>
            <a:off x="4663440" y="3712464"/>
            <a:ext cx="1188720" cy="182880"/>
          </a:xfrm>
          <a:prstGeom prst="rect">
            <a:avLst/>
          </a:prstGeom>
          <a:noFill/>
          <a:ln/>
        </p:spPr>
        <p:txBody>
          <a:bodyPr wrap="square" lIns="0" tIns="0" rIns="0" bIns="0" rtlCol="0" anchor="ctr"/>
          <a:lstStyle/>
          <a:p>
            <a:pPr algn="ctr" indent="0" marL="0">
              <a:buNone/>
            </a:pPr>
            <a:r>
              <a:rPr lang="en-US" sz="850" dirty="0">
                <a:solidFill>
                  <a:srgbClr val="007B55"/>
                </a:solidFill>
                <a:latin typeface="Calibri" pitchFamily="34" charset="0"/>
                <a:ea typeface="Calibri" pitchFamily="34" charset="-122"/>
                <a:cs typeface="Calibri" pitchFamily="34" charset="-120"/>
              </a:rPr>
              <a:t>&lt;$500M</a:t>
            </a:r>
            <a:endParaRPr lang="en-US" sz="850" dirty="0"/>
          </a:p>
        </p:txBody>
      </p:sp>
      <p:sp>
        <p:nvSpPr>
          <p:cNvPr id="64" name="Text 62"/>
          <p:cNvSpPr/>
          <p:nvPr/>
        </p:nvSpPr>
        <p:spPr>
          <a:xfrm>
            <a:off x="5897880" y="3712464"/>
            <a:ext cx="2834640" cy="182880"/>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Fix Pricing — Immediate</a:t>
            </a:r>
            <a:endParaRPr lang="en-US" sz="800" dirty="0"/>
          </a:p>
        </p:txBody>
      </p:sp>
      <p:sp>
        <p:nvSpPr>
          <p:cNvPr id="65" name="Shape 63"/>
          <p:cNvSpPr/>
          <p:nvPr/>
        </p:nvSpPr>
        <p:spPr>
          <a:xfrm>
            <a:off x="365760" y="3950208"/>
            <a:ext cx="8412480" cy="256032"/>
          </a:xfrm>
          <a:prstGeom prst="rect">
            <a:avLst/>
          </a:prstGeom>
          <a:solidFill>
            <a:srgbClr val="FFFFFF"/>
          </a:solidFill>
          <a:ln w="12700">
            <a:solidFill>
              <a:srgbClr val="E8EEF4"/>
            </a:solidFill>
            <a:prstDash val="solid"/>
          </a:ln>
        </p:spPr>
      </p:sp>
      <p:sp>
        <p:nvSpPr>
          <p:cNvPr id="66" name="Text 64"/>
          <p:cNvSpPr/>
          <p:nvPr/>
        </p:nvSpPr>
        <p:spPr>
          <a:xfrm>
            <a:off x="502920" y="3986784"/>
            <a:ext cx="2926080" cy="182880"/>
          </a:xfrm>
          <a:prstGeom prst="rect">
            <a:avLst/>
          </a:prstGeom>
          <a:noFill/>
          <a:ln/>
        </p:spPr>
        <p:txBody>
          <a:bodyPr wrap="square" lIns="0" tIns="0" rIns="0" bIns="0" rtlCol="0" anchor="ctr"/>
          <a:lstStyle/>
          <a:p>
            <a:pPr indent="0" marL="0">
              <a:buNone/>
            </a:pPr>
            <a:r>
              <a:rPr lang="en-US" sz="850" dirty="0">
                <a:solidFill>
                  <a:srgbClr val="0A2342"/>
                </a:solidFill>
                <a:latin typeface="Calibri" pitchFamily="34" charset="0"/>
                <a:ea typeface="Calibri" pitchFamily="34" charset="-122"/>
                <a:cs typeface="Calibri" pitchFamily="34" charset="-120"/>
              </a:rPr>
              <a:t>Geographic HHI</a:t>
            </a:r>
            <a:endParaRPr lang="en-US" sz="850" dirty="0"/>
          </a:p>
        </p:txBody>
      </p:sp>
      <p:sp>
        <p:nvSpPr>
          <p:cNvPr id="67" name="Text 65"/>
          <p:cNvSpPr/>
          <p:nvPr/>
        </p:nvSpPr>
        <p:spPr>
          <a:xfrm>
            <a:off x="3520440" y="3986784"/>
            <a:ext cx="1097280" cy="182880"/>
          </a:xfrm>
          <a:prstGeom prst="rect">
            <a:avLst/>
          </a:prstGeom>
          <a:noFill/>
          <a:ln/>
        </p:spPr>
        <p:txBody>
          <a:bodyPr wrap="square" lIns="0" tIns="0" rIns="0" bIns="0" rtlCol="0" anchor="ctr"/>
          <a:lstStyle/>
          <a:p>
            <a:pPr algn="ctr" indent="0" marL="0">
              <a:buNone/>
            </a:pPr>
            <a:r>
              <a:rPr lang="en-US" sz="850" b="1" dirty="0">
                <a:solidFill>
                  <a:srgbClr val="C9943A"/>
                </a:solidFill>
                <a:latin typeface="Calibri" pitchFamily="34" charset="0"/>
                <a:ea typeface="Calibri" pitchFamily="34" charset="-122"/>
                <a:cs typeface="Calibri" pitchFamily="34" charset="-120"/>
              </a:rPr>
              <a:t>~0.22</a:t>
            </a:r>
            <a:endParaRPr lang="en-US" sz="850" dirty="0"/>
          </a:p>
        </p:txBody>
      </p:sp>
      <p:sp>
        <p:nvSpPr>
          <p:cNvPr id="68" name="Text 66"/>
          <p:cNvSpPr/>
          <p:nvPr/>
        </p:nvSpPr>
        <p:spPr>
          <a:xfrm>
            <a:off x="4663440" y="3986784"/>
            <a:ext cx="1188720" cy="182880"/>
          </a:xfrm>
          <a:prstGeom prst="rect">
            <a:avLst/>
          </a:prstGeom>
          <a:noFill/>
          <a:ln/>
        </p:spPr>
        <p:txBody>
          <a:bodyPr wrap="square" lIns="0" tIns="0" rIns="0" bIns="0" rtlCol="0" anchor="ctr"/>
          <a:lstStyle/>
          <a:p>
            <a:pPr algn="ctr" indent="0" marL="0">
              <a:buNone/>
            </a:pPr>
            <a:r>
              <a:rPr lang="en-US" sz="850" dirty="0">
                <a:solidFill>
                  <a:srgbClr val="007B55"/>
                </a:solidFill>
                <a:latin typeface="Calibri" pitchFamily="34" charset="0"/>
                <a:ea typeface="Calibri" pitchFamily="34" charset="-122"/>
                <a:cs typeface="Calibri" pitchFamily="34" charset="-120"/>
              </a:rPr>
              <a:t>&lt;0.15</a:t>
            </a:r>
            <a:endParaRPr lang="en-US" sz="850" dirty="0"/>
          </a:p>
        </p:txBody>
      </p:sp>
      <p:sp>
        <p:nvSpPr>
          <p:cNvPr id="69" name="Text 67"/>
          <p:cNvSpPr/>
          <p:nvPr/>
        </p:nvSpPr>
        <p:spPr>
          <a:xfrm>
            <a:off x="5897880" y="3986784"/>
            <a:ext cx="2834640" cy="182880"/>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Approaching Concentrated</a:t>
            </a:r>
            <a:endParaRPr lang="en-US" sz="800" dirty="0"/>
          </a:p>
        </p:txBody>
      </p:sp>
      <p:sp>
        <p:nvSpPr>
          <p:cNvPr id="70" name="Shape 68"/>
          <p:cNvSpPr/>
          <p:nvPr/>
        </p:nvSpPr>
        <p:spPr>
          <a:xfrm>
            <a:off x="365760" y="4224528"/>
            <a:ext cx="8412480" cy="256032"/>
          </a:xfrm>
          <a:prstGeom prst="rect">
            <a:avLst/>
          </a:prstGeom>
          <a:solidFill>
            <a:srgbClr val="F4F6F8"/>
          </a:solidFill>
          <a:ln w="12700">
            <a:solidFill>
              <a:srgbClr val="E8EEF4"/>
            </a:solidFill>
            <a:prstDash val="solid"/>
          </a:ln>
        </p:spPr>
      </p:sp>
      <p:sp>
        <p:nvSpPr>
          <p:cNvPr id="71" name="Text 69"/>
          <p:cNvSpPr/>
          <p:nvPr/>
        </p:nvSpPr>
        <p:spPr>
          <a:xfrm>
            <a:off x="502920" y="4261104"/>
            <a:ext cx="2926080" cy="182880"/>
          </a:xfrm>
          <a:prstGeom prst="rect">
            <a:avLst/>
          </a:prstGeom>
          <a:noFill/>
          <a:ln/>
        </p:spPr>
        <p:txBody>
          <a:bodyPr wrap="square" lIns="0" tIns="0" rIns="0" bIns="0" rtlCol="0" anchor="ctr"/>
          <a:lstStyle/>
          <a:p>
            <a:pPr indent="0" marL="0">
              <a:buNone/>
            </a:pPr>
            <a:r>
              <a:rPr lang="en-US" sz="850" dirty="0">
                <a:solidFill>
                  <a:srgbClr val="0A2342"/>
                </a:solidFill>
                <a:latin typeface="Calibri" pitchFamily="34" charset="0"/>
                <a:ea typeface="Calibri" pitchFamily="34" charset="-122"/>
                <a:cs typeface="Calibri" pitchFamily="34" charset="-120"/>
              </a:rPr>
              <a:t>Exports per Capita</a:t>
            </a:r>
            <a:endParaRPr lang="en-US" sz="850" dirty="0"/>
          </a:p>
        </p:txBody>
      </p:sp>
      <p:sp>
        <p:nvSpPr>
          <p:cNvPr id="72" name="Text 70"/>
          <p:cNvSpPr/>
          <p:nvPr/>
        </p:nvSpPr>
        <p:spPr>
          <a:xfrm>
            <a:off x="3520440" y="4261104"/>
            <a:ext cx="1097280" cy="182880"/>
          </a:xfrm>
          <a:prstGeom prst="rect">
            <a:avLst/>
          </a:prstGeom>
          <a:noFill/>
          <a:ln/>
        </p:spPr>
        <p:txBody>
          <a:bodyPr wrap="square" lIns="0" tIns="0" rIns="0" bIns="0" rtlCol="0" anchor="ctr"/>
          <a:lstStyle/>
          <a:p>
            <a:pPr algn="ctr" indent="0" marL="0">
              <a:buNone/>
            </a:pPr>
            <a:r>
              <a:rPr lang="en-US" sz="850" b="1" dirty="0">
                <a:solidFill>
                  <a:srgbClr val="007B55"/>
                </a:solidFill>
                <a:latin typeface="Calibri" pitchFamily="34" charset="0"/>
                <a:ea typeface="Calibri" pitchFamily="34" charset="-122"/>
                <a:cs typeface="Calibri" pitchFamily="34" charset="-120"/>
              </a:rPr>
              <a:t>$310</a:t>
            </a:r>
            <a:endParaRPr lang="en-US" sz="850" dirty="0"/>
          </a:p>
        </p:txBody>
      </p:sp>
      <p:sp>
        <p:nvSpPr>
          <p:cNvPr id="73" name="Text 71"/>
          <p:cNvSpPr/>
          <p:nvPr/>
        </p:nvSpPr>
        <p:spPr>
          <a:xfrm>
            <a:off x="4663440" y="4261104"/>
            <a:ext cx="1188720" cy="182880"/>
          </a:xfrm>
          <a:prstGeom prst="rect">
            <a:avLst/>
          </a:prstGeom>
          <a:noFill/>
          <a:ln/>
        </p:spPr>
        <p:txBody>
          <a:bodyPr wrap="square" lIns="0" tIns="0" rIns="0" bIns="0" rtlCol="0" anchor="ctr"/>
          <a:lstStyle/>
          <a:p>
            <a:pPr algn="ctr" indent="0" marL="0">
              <a:buNone/>
            </a:pPr>
            <a:r>
              <a:rPr lang="en-US" sz="850" dirty="0">
                <a:solidFill>
                  <a:srgbClr val="007B55"/>
                </a:solidFill>
                <a:latin typeface="Calibri" pitchFamily="34" charset="0"/>
                <a:ea typeface="Calibri" pitchFamily="34" charset="-122"/>
                <a:cs typeface="Calibri" pitchFamily="34" charset="-120"/>
              </a:rPr>
              <a:t>$2,000+</a:t>
            </a:r>
            <a:endParaRPr lang="en-US" sz="850" dirty="0"/>
          </a:p>
        </p:txBody>
      </p:sp>
      <p:sp>
        <p:nvSpPr>
          <p:cNvPr id="74" name="Text 72"/>
          <p:cNvSpPr/>
          <p:nvPr/>
        </p:nvSpPr>
        <p:spPr>
          <a:xfrm>
            <a:off x="5897880" y="4261104"/>
            <a:ext cx="2834640" cy="182880"/>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Turkey: $2,700</a:t>
            </a:r>
            <a:endParaRPr lang="en-US" sz="800" dirty="0"/>
          </a:p>
        </p:txBody>
      </p:sp>
      <p:sp>
        <p:nvSpPr>
          <p:cNvPr id="75" name="Shape 73"/>
          <p:cNvSpPr/>
          <p:nvPr/>
        </p:nvSpPr>
        <p:spPr>
          <a:xfrm>
            <a:off x="365760" y="4498848"/>
            <a:ext cx="8412480" cy="256032"/>
          </a:xfrm>
          <a:prstGeom prst="rect">
            <a:avLst/>
          </a:prstGeom>
          <a:solidFill>
            <a:srgbClr val="FFFFFF"/>
          </a:solidFill>
          <a:ln w="12700">
            <a:solidFill>
              <a:srgbClr val="E8EEF4"/>
            </a:solidFill>
            <a:prstDash val="solid"/>
          </a:ln>
        </p:spPr>
      </p:sp>
      <p:sp>
        <p:nvSpPr>
          <p:cNvPr id="76" name="Text 74"/>
          <p:cNvSpPr/>
          <p:nvPr/>
        </p:nvSpPr>
        <p:spPr>
          <a:xfrm>
            <a:off x="502920" y="4535424"/>
            <a:ext cx="2926080" cy="182880"/>
          </a:xfrm>
          <a:prstGeom prst="rect">
            <a:avLst/>
          </a:prstGeom>
          <a:noFill/>
          <a:ln/>
        </p:spPr>
        <p:txBody>
          <a:bodyPr wrap="square" lIns="0" tIns="0" rIns="0" bIns="0" rtlCol="0" anchor="ctr"/>
          <a:lstStyle/>
          <a:p>
            <a:pPr indent="0" marL="0">
              <a:buNone/>
            </a:pPr>
            <a:r>
              <a:rPr lang="en-US" sz="850" dirty="0">
                <a:solidFill>
                  <a:srgbClr val="0A2342"/>
                </a:solidFill>
                <a:latin typeface="Calibri" pitchFamily="34" charset="0"/>
                <a:ea typeface="Calibri" pitchFamily="34" charset="-122"/>
                <a:cs typeface="Calibri" pitchFamily="34" charset="-120"/>
              </a:rPr>
              <a:t>Manufacturing Export Share</a:t>
            </a:r>
            <a:endParaRPr lang="en-US" sz="850" dirty="0"/>
          </a:p>
        </p:txBody>
      </p:sp>
      <p:sp>
        <p:nvSpPr>
          <p:cNvPr id="77" name="Text 75"/>
          <p:cNvSpPr/>
          <p:nvPr/>
        </p:nvSpPr>
        <p:spPr>
          <a:xfrm>
            <a:off x="3520440" y="4535424"/>
            <a:ext cx="1097280" cy="182880"/>
          </a:xfrm>
          <a:prstGeom prst="rect">
            <a:avLst/>
          </a:prstGeom>
          <a:noFill/>
          <a:ln/>
        </p:spPr>
        <p:txBody>
          <a:bodyPr wrap="square" lIns="0" tIns="0" rIns="0" bIns="0" rtlCol="0" anchor="ctr"/>
          <a:lstStyle/>
          <a:p>
            <a:pPr algn="ctr" indent="0" marL="0">
              <a:buNone/>
            </a:pPr>
            <a:r>
              <a:rPr lang="en-US" sz="850" b="1" dirty="0">
                <a:solidFill>
                  <a:srgbClr val="C9943A"/>
                </a:solidFill>
                <a:latin typeface="Calibri" pitchFamily="34" charset="0"/>
                <a:ea typeface="Calibri" pitchFamily="34" charset="-122"/>
                <a:cs typeface="Calibri" pitchFamily="34" charset="-120"/>
              </a:rPr>
              <a:t>~12%</a:t>
            </a:r>
            <a:endParaRPr lang="en-US" sz="850" dirty="0"/>
          </a:p>
        </p:txBody>
      </p:sp>
      <p:sp>
        <p:nvSpPr>
          <p:cNvPr id="78" name="Text 76"/>
          <p:cNvSpPr/>
          <p:nvPr/>
        </p:nvSpPr>
        <p:spPr>
          <a:xfrm>
            <a:off x="4663440" y="4535424"/>
            <a:ext cx="1188720" cy="182880"/>
          </a:xfrm>
          <a:prstGeom prst="rect">
            <a:avLst/>
          </a:prstGeom>
          <a:noFill/>
          <a:ln/>
        </p:spPr>
        <p:txBody>
          <a:bodyPr wrap="square" lIns="0" tIns="0" rIns="0" bIns="0" rtlCol="0" anchor="ctr"/>
          <a:lstStyle/>
          <a:p>
            <a:pPr algn="ctr" indent="0" marL="0">
              <a:buNone/>
            </a:pPr>
            <a:r>
              <a:rPr lang="en-US" sz="850" dirty="0">
                <a:solidFill>
                  <a:srgbClr val="007B55"/>
                </a:solidFill>
                <a:latin typeface="Calibri" pitchFamily="34" charset="0"/>
                <a:ea typeface="Calibri" pitchFamily="34" charset="-122"/>
                <a:cs typeface="Calibri" pitchFamily="34" charset="-120"/>
              </a:rPr>
              <a:t>60%</a:t>
            </a:r>
            <a:endParaRPr lang="en-US" sz="850" dirty="0"/>
          </a:p>
        </p:txBody>
      </p:sp>
      <p:sp>
        <p:nvSpPr>
          <p:cNvPr id="79" name="Text 77"/>
          <p:cNvSpPr/>
          <p:nvPr/>
        </p:nvSpPr>
        <p:spPr>
          <a:xfrm>
            <a:off x="5897880" y="4535424"/>
            <a:ext cx="2834640" cy="182880"/>
          </a:xfrm>
          <a:prstGeom prst="rect">
            <a:avLst/>
          </a:prstGeom>
          <a:noFill/>
          <a:ln/>
        </p:spPr>
        <p:txBody>
          <a:bodyPr wrap="square" lIns="0" tIns="0" rIns="0" bIns="0" rtlCol="0" anchor="ctr"/>
          <a:lstStyle/>
          <a:p>
            <a:pPr indent="0" marL="0">
              <a:buNone/>
            </a:pPr>
            <a:r>
              <a:rPr lang="en-US" sz="800" dirty="0">
                <a:solidFill>
                  <a:srgbClr val="475569"/>
                </a:solidFill>
                <a:latin typeface="Calibri" pitchFamily="34" charset="0"/>
                <a:ea typeface="Calibri" pitchFamily="34" charset="-122"/>
                <a:cs typeface="Calibri" pitchFamily="34" charset="-120"/>
              </a:rPr>
              <a:t>Vietnam Path Available</a:t>
            </a:r>
            <a:endParaRPr lang="en-US" sz="800" dirty="0"/>
          </a:p>
        </p:txBody>
      </p:sp>
      <p:sp>
        <p:nvSpPr>
          <p:cNvPr id="80" name="Shape 78"/>
          <p:cNvSpPr/>
          <p:nvPr/>
        </p:nvSpPr>
        <p:spPr>
          <a:xfrm>
            <a:off x="0" y="4873752"/>
            <a:ext cx="9144000" cy="269748"/>
          </a:xfrm>
          <a:prstGeom prst="rect">
            <a:avLst/>
          </a:prstGeom>
          <a:solidFill>
            <a:srgbClr val="0A2342"/>
          </a:solidFill>
          <a:ln w="12700">
            <a:solidFill>
              <a:srgbClr val="0A2342"/>
            </a:solidFill>
            <a:prstDash val="solid"/>
          </a:ln>
        </p:spPr>
      </p:sp>
      <p:sp>
        <p:nvSpPr>
          <p:cNvPr id="81" name="Text 79"/>
          <p:cNvSpPr/>
          <p:nvPr/>
        </p:nvSpPr>
        <p:spPr>
          <a:xfrm>
            <a:off x="274320" y="4882896"/>
            <a:ext cx="8595360" cy="246888"/>
          </a:xfrm>
          <a:prstGeom prst="rect">
            <a:avLst/>
          </a:prstGeom>
          <a:noFill/>
          <a:ln/>
        </p:spPr>
        <p:txBody>
          <a:bodyPr wrap="square" lIns="0" tIns="0" rIns="0" bIns="0" rtlCol="0" anchor="ctr"/>
          <a:lstStyle/>
          <a:p>
            <a:pPr indent="0" marL="0">
              <a:buNone/>
            </a:pPr>
            <a:r>
              <a:rPr lang="en-US" sz="800" dirty="0">
                <a:solidFill>
                  <a:srgbClr val="C9943A"/>
                </a:solidFill>
                <a:latin typeface="Calibri" pitchFamily="34" charset="0"/>
                <a:ea typeface="Calibri" pitchFamily="34" charset="-122"/>
                <a:cs typeface="Calibri" pitchFamily="34" charset="-120"/>
              </a:rPr>
              <a:t>Egyptian Export Observatory  |  DEPI Data Analysis Track  |  CLS-EGX-TRADEG1-T1  |  2025</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2342"/>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Path Forward</a:t>
            </a:r>
            <a:endParaRPr lang="en-US" sz="3000" dirty="0"/>
          </a:p>
        </p:txBody>
      </p:sp>
      <p:sp>
        <p:nvSpPr>
          <p:cNvPr id="3" name="Text 1"/>
          <p:cNvSpPr/>
          <p:nvPr/>
        </p:nvSpPr>
        <p:spPr>
          <a:xfrm>
            <a:off x="457200" y="868680"/>
            <a:ext cx="8229600" cy="274320"/>
          </a:xfrm>
          <a:prstGeom prst="rect">
            <a:avLst/>
          </a:prstGeom>
          <a:noFill/>
          <a:ln/>
        </p:spPr>
        <p:txBody>
          <a:bodyPr wrap="square" lIns="0" tIns="0" rIns="0" bIns="0" rtlCol="0" anchor="ctr"/>
          <a:lstStyle/>
          <a:p>
            <a:pPr indent="0" marL="0">
              <a:buNone/>
            </a:pPr>
            <a:r>
              <a:rPr lang="en-US" sz="1200" dirty="0">
                <a:solidFill>
                  <a:srgbClr val="C9943A"/>
                </a:solidFill>
                <a:latin typeface="Calibri" pitchFamily="34" charset="0"/>
                <a:ea typeface="Calibri" pitchFamily="34" charset="-122"/>
                <a:cs typeface="Calibri" pitchFamily="34" charset="-120"/>
              </a:rPr>
              <a:t>Egyptian Export Observatory — Vision 2030 Roadmap</a:t>
            </a:r>
            <a:endParaRPr lang="en-US" sz="1200" dirty="0"/>
          </a:p>
        </p:txBody>
      </p:sp>
      <p:sp>
        <p:nvSpPr>
          <p:cNvPr id="4" name="Shape 2"/>
          <p:cNvSpPr/>
          <p:nvPr/>
        </p:nvSpPr>
        <p:spPr>
          <a:xfrm>
            <a:off x="457200" y="1207008"/>
            <a:ext cx="8229600" cy="27432"/>
          </a:xfrm>
          <a:prstGeom prst="rect">
            <a:avLst/>
          </a:prstGeom>
          <a:solidFill>
            <a:srgbClr val="C9943A"/>
          </a:solidFill>
          <a:ln w="12700">
            <a:solidFill>
              <a:srgbClr val="C9943A"/>
            </a:solidFill>
            <a:prstDash val="solid"/>
          </a:ln>
        </p:spPr>
      </p:sp>
      <p:sp>
        <p:nvSpPr>
          <p:cNvPr id="5" name="Text 3"/>
          <p:cNvSpPr/>
          <p:nvPr/>
        </p:nvSpPr>
        <p:spPr>
          <a:xfrm>
            <a:off x="731520" y="1325880"/>
            <a:ext cx="7680960" cy="457200"/>
          </a:xfrm>
          <a:prstGeom prst="rect">
            <a:avLst/>
          </a:prstGeom>
          <a:noFill/>
          <a:ln/>
        </p:spPr>
        <p:txBody>
          <a:bodyPr wrap="square" lIns="0" tIns="0" rIns="0" bIns="0" rtlCol="0" anchor="ctr"/>
          <a:lstStyle/>
          <a:p>
            <a:pPr algn="ctr" indent="0" marL="0">
              <a:buNone/>
            </a:pPr>
            <a:r>
              <a:rPr lang="en-US" sz="1300" i="1" dirty="0">
                <a:solidFill>
                  <a:srgbClr val="C9943A"/>
                </a:solidFill>
                <a:latin typeface="Calibri" pitchFamily="34" charset="0"/>
                <a:ea typeface="Calibri" pitchFamily="34" charset="-122"/>
                <a:cs typeface="Calibri" pitchFamily="34" charset="-120"/>
              </a:rPr>
              <a:t>"The data is clear. The path is mapped. The question is: who takes action?"</a:t>
            </a:r>
            <a:endParaRPr lang="en-US" sz="1300" dirty="0"/>
          </a:p>
        </p:txBody>
      </p:sp>
      <p:sp>
        <p:nvSpPr>
          <p:cNvPr id="6" name="Shape 4"/>
          <p:cNvSpPr/>
          <p:nvPr/>
        </p:nvSpPr>
        <p:spPr>
          <a:xfrm>
            <a:off x="365760" y="1901952"/>
            <a:ext cx="1993392" cy="1261872"/>
          </a:xfrm>
          <a:prstGeom prst="rect">
            <a:avLst/>
          </a:prstGeom>
          <a:solidFill>
            <a:srgbClr val="163A60"/>
          </a:solidFill>
          <a:ln w="12700">
            <a:solidFill>
              <a:srgbClr val="C9943A"/>
            </a:solidFill>
            <a:prstDash val="solid"/>
          </a:ln>
        </p:spPr>
      </p:sp>
      <p:sp>
        <p:nvSpPr>
          <p:cNvPr id="7" name="Text 5"/>
          <p:cNvSpPr/>
          <p:nvPr/>
        </p:nvSpPr>
        <p:spPr>
          <a:xfrm>
            <a:off x="457200" y="1965960"/>
            <a:ext cx="1810512" cy="411480"/>
          </a:xfrm>
          <a:prstGeom prst="rect">
            <a:avLst/>
          </a:prstGeom>
          <a:noFill/>
          <a:ln/>
        </p:spPr>
        <p:txBody>
          <a:bodyPr wrap="square" lIns="0" tIns="0" rIns="0" bIns="0" rtlCol="0" anchor="ctr"/>
          <a:lstStyle/>
          <a:p>
            <a:pPr algn="ctr" indent="0" marL="0">
              <a:buNone/>
            </a:pPr>
            <a:r>
              <a:rPr lang="en-US" sz="2600" b="1" dirty="0">
                <a:solidFill>
                  <a:srgbClr val="C9943A"/>
                </a:solidFill>
                <a:latin typeface="Calibri" pitchFamily="34" charset="0"/>
                <a:ea typeface="Calibri" pitchFamily="34" charset="-122"/>
                <a:cs typeface="Calibri" pitchFamily="34" charset="-120"/>
              </a:rPr>
              <a:t>$3.2B</a:t>
            </a:r>
            <a:endParaRPr lang="en-US" sz="2600" dirty="0"/>
          </a:p>
        </p:txBody>
      </p:sp>
      <p:sp>
        <p:nvSpPr>
          <p:cNvPr id="8" name="Text 6"/>
          <p:cNvSpPr/>
          <p:nvPr/>
        </p:nvSpPr>
        <p:spPr>
          <a:xfrm>
            <a:off x="457200" y="2395728"/>
            <a:ext cx="1810512" cy="685800"/>
          </a:xfrm>
          <a:prstGeom prst="rect">
            <a:avLst/>
          </a:prstGeom>
          <a:noFill/>
          <a:ln/>
        </p:spPr>
        <p:txBody>
          <a:bodyPr wrap="square" lIns="0" tIns="0" rIns="0" bIns="0" rtlCol="0" anchor="ctr"/>
          <a:lstStyle/>
          <a:p>
            <a:pPr algn="ctr" indent="0" marL="0">
              <a:buNone/>
            </a:pPr>
            <a:r>
              <a:rPr lang="en-US" sz="800" dirty="0">
                <a:solidFill>
                  <a:srgbClr val="A0B8D0"/>
                </a:solidFill>
                <a:latin typeface="Calibri" pitchFamily="34" charset="0"/>
                <a:ea typeface="Calibri" pitchFamily="34" charset="-122"/>
                <a:cs typeface="Calibri" pitchFamily="34" charset="-120"/>
              </a:rPr>
              <a:t>Revenue recoverable through pricing alone — immediate, no volume change needed</a:t>
            </a:r>
            <a:endParaRPr lang="en-US" sz="800" dirty="0"/>
          </a:p>
        </p:txBody>
      </p:sp>
      <p:sp>
        <p:nvSpPr>
          <p:cNvPr id="9" name="Shape 7"/>
          <p:cNvSpPr/>
          <p:nvPr/>
        </p:nvSpPr>
        <p:spPr>
          <a:xfrm>
            <a:off x="2542032" y="1901952"/>
            <a:ext cx="1993392" cy="1261872"/>
          </a:xfrm>
          <a:prstGeom prst="rect">
            <a:avLst/>
          </a:prstGeom>
          <a:solidFill>
            <a:srgbClr val="163A60"/>
          </a:solidFill>
          <a:ln w="12700">
            <a:solidFill>
              <a:srgbClr val="C9943A"/>
            </a:solidFill>
            <a:prstDash val="solid"/>
          </a:ln>
        </p:spPr>
      </p:sp>
      <p:sp>
        <p:nvSpPr>
          <p:cNvPr id="10" name="Text 8"/>
          <p:cNvSpPr/>
          <p:nvPr/>
        </p:nvSpPr>
        <p:spPr>
          <a:xfrm>
            <a:off x="2633472" y="1965960"/>
            <a:ext cx="1810512" cy="411480"/>
          </a:xfrm>
          <a:prstGeom prst="rect">
            <a:avLst/>
          </a:prstGeom>
          <a:noFill/>
          <a:ln/>
        </p:spPr>
        <p:txBody>
          <a:bodyPr wrap="square" lIns="0" tIns="0" rIns="0" bIns="0" rtlCol="0" anchor="ctr"/>
          <a:lstStyle/>
          <a:p>
            <a:pPr algn="ctr" indent="0" marL="0">
              <a:buNone/>
            </a:pPr>
            <a:r>
              <a:rPr lang="en-US" sz="2600" b="1" dirty="0">
                <a:solidFill>
                  <a:srgbClr val="C9943A"/>
                </a:solidFill>
                <a:latin typeface="Calibri" pitchFamily="34" charset="0"/>
                <a:ea typeface="Calibri" pitchFamily="34" charset="-122"/>
                <a:cs typeface="Calibri" pitchFamily="34" charset="-120"/>
              </a:rPr>
              <a:t>$71.4B</a:t>
            </a:r>
            <a:endParaRPr lang="en-US" sz="2600" dirty="0"/>
          </a:p>
        </p:txBody>
      </p:sp>
      <p:sp>
        <p:nvSpPr>
          <p:cNvPr id="11" name="Text 9"/>
          <p:cNvSpPr/>
          <p:nvPr/>
        </p:nvSpPr>
        <p:spPr>
          <a:xfrm>
            <a:off x="2633472" y="2395728"/>
            <a:ext cx="1810512" cy="685800"/>
          </a:xfrm>
          <a:prstGeom prst="rect">
            <a:avLst/>
          </a:prstGeom>
          <a:noFill/>
          <a:ln/>
        </p:spPr>
        <p:txBody>
          <a:bodyPr wrap="square" lIns="0" tIns="0" rIns="0" bIns="0" rtlCol="0" anchor="ctr"/>
          <a:lstStyle/>
          <a:p>
            <a:pPr algn="ctr" indent="0" marL="0">
              <a:buNone/>
            </a:pPr>
            <a:r>
              <a:rPr lang="en-US" sz="800" dirty="0">
                <a:solidFill>
                  <a:srgbClr val="A0B8D0"/>
                </a:solidFill>
                <a:latin typeface="Calibri" pitchFamily="34" charset="0"/>
                <a:ea typeface="Calibri" pitchFamily="34" charset="-122"/>
                <a:cs typeface="Calibri" pitchFamily="34" charset="-120"/>
              </a:rPr>
              <a:t>Export gap to Vision 2030 target — requires 18% CAGR and structural transformation</a:t>
            </a:r>
            <a:endParaRPr lang="en-US" sz="800" dirty="0"/>
          </a:p>
        </p:txBody>
      </p:sp>
      <p:sp>
        <p:nvSpPr>
          <p:cNvPr id="12" name="Shape 10"/>
          <p:cNvSpPr/>
          <p:nvPr/>
        </p:nvSpPr>
        <p:spPr>
          <a:xfrm>
            <a:off x="4718304" y="1901952"/>
            <a:ext cx="1993392" cy="1261872"/>
          </a:xfrm>
          <a:prstGeom prst="rect">
            <a:avLst/>
          </a:prstGeom>
          <a:solidFill>
            <a:srgbClr val="163A60"/>
          </a:solidFill>
          <a:ln w="12700">
            <a:solidFill>
              <a:srgbClr val="C9943A"/>
            </a:solidFill>
            <a:prstDash val="solid"/>
          </a:ln>
        </p:spPr>
      </p:sp>
      <p:sp>
        <p:nvSpPr>
          <p:cNvPr id="13" name="Text 11"/>
          <p:cNvSpPr/>
          <p:nvPr/>
        </p:nvSpPr>
        <p:spPr>
          <a:xfrm>
            <a:off x="4809744" y="1965960"/>
            <a:ext cx="1810512" cy="411480"/>
          </a:xfrm>
          <a:prstGeom prst="rect">
            <a:avLst/>
          </a:prstGeom>
          <a:noFill/>
          <a:ln/>
        </p:spPr>
        <p:txBody>
          <a:bodyPr wrap="square" lIns="0" tIns="0" rIns="0" bIns="0" rtlCol="0" anchor="ctr"/>
          <a:lstStyle/>
          <a:p>
            <a:pPr algn="ctr" indent="0" marL="0">
              <a:buNone/>
            </a:pPr>
            <a:r>
              <a:rPr lang="en-US" sz="2600" b="1" dirty="0">
                <a:solidFill>
                  <a:srgbClr val="C9943A"/>
                </a:solidFill>
                <a:latin typeface="Calibri" pitchFamily="34" charset="0"/>
                <a:ea typeface="Calibri" pitchFamily="34" charset="-122"/>
                <a:cs typeface="Calibri" pitchFamily="34" charset="-120"/>
              </a:rPr>
              <a:t>6 KPIs</a:t>
            </a:r>
            <a:endParaRPr lang="en-US" sz="2600" dirty="0"/>
          </a:p>
        </p:txBody>
      </p:sp>
      <p:sp>
        <p:nvSpPr>
          <p:cNvPr id="14" name="Text 12"/>
          <p:cNvSpPr/>
          <p:nvPr/>
        </p:nvSpPr>
        <p:spPr>
          <a:xfrm>
            <a:off x="4809744" y="2395728"/>
            <a:ext cx="1810512" cy="685800"/>
          </a:xfrm>
          <a:prstGeom prst="rect">
            <a:avLst/>
          </a:prstGeom>
          <a:noFill/>
          <a:ln/>
        </p:spPr>
        <p:txBody>
          <a:bodyPr wrap="square" lIns="0" tIns="0" rIns="0" bIns="0" rtlCol="0" anchor="ctr"/>
          <a:lstStyle/>
          <a:p>
            <a:pPr algn="ctr" indent="0" marL="0">
              <a:buNone/>
            </a:pPr>
            <a:r>
              <a:rPr lang="en-US" sz="800" dirty="0">
                <a:solidFill>
                  <a:srgbClr val="A0B8D0"/>
                </a:solidFill>
                <a:latin typeface="Calibri" pitchFamily="34" charset="0"/>
                <a:ea typeface="Calibri" pitchFamily="34" charset="-122"/>
                <a:cs typeface="Calibri" pitchFamily="34" charset="-120"/>
              </a:rPr>
              <a:t>Critical Vision 2030 indicators at serious risk — requiring urgent policy intervention</a:t>
            </a:r>
            <a:endParaRPr lang="en-US" sz="800" dirty="0"/>
          </a:p>
        </p:txBody>
      </p:sp>
      <p:sp>
        <p:nvSpPr>
          <p:cNvPr id="15" name="Shape 13"/>
          <p:cNvSpPr/>
          <p:nvPr/>
        </p:nvSpPr>
        <p:spPr>
          <a:xfrm>
            <a:off x="6894576" y="1901952"/>
            <a:ext cx="1993392" cy="1261872"/>
          </a:xfrm>
          <a:prstGeom prst="rect">
            <a:avLst/>
          </a:prstGeom>
          <a:solidFill>
            <a:srgbClr val="163A60"/>
          </a:solidFill>
          <a:ln w="12700">
            <a:solidFill>
              <a:srgbClr val="C9943A"/>
            </a:solidFill>
            <a:prstDash val="solid"/>
          </a:ln>
        </p:spPr>
      </p:sp>
      <p:sp>
        <p:nvSpPr>
          <p:cNvPr id="16" name="Text 14"/>
          <p:cNvSpPr/>
          <p:nvPr/>
        </p:nvSpPr>
        <p:spPr>
          <a:xfrm>
            <a:off x="6986016" y="1965960"/>
            <a:ext cx="1810512" cy="411480"/>
          </a:xfrm>
          <a:prstGeom prst="rect">
            <a:avLst/>
          </a:prstGeom>
          <a:noFill/>
          <a:ln/>
        </p:spPr>
        <p:txBody>
          <a:bodyPr wrap="square" lIns="0" tIns="0" rIns="0" bIns="0" rtlCol="0" anchor="ctr"/>
          <a:lstStyle/>
          <a:p>
            <a:pPr algn="ctr" indent="0" marL="0">
              <a:buNone/>
            </a:pPr>
            <a:r>
              <a:rPr lang="en-US" sz="2600" b="1" dirty="0">
                <a:solidFill>
                  <a:srgbClr val="C9943A"/>
                </a:solidFill>
                <a:latin typeface="Calibri" pitchFamily="34" charset="0"/>
                <a:ea typeface="Calibri" pitchFamily="34" charset="-122"/>
                <a:cs typeface="Calibri" pitchFamily="34" charset="-120"/>
              </a:rPr>
              <a:t>11×</a:t>
            </a:r>
            <a:endParaRPr lang="en-US" sz="2600" dirty="0"/>
          </a:p>
        </p:txBody>
      </p:sp>
      <p:sp>
        <p:nvSpPr>
          <p:cNvPr id="17" name="Text 15"/>
          <p:cNvSpPr/>
          <p:nvPr/>
        </p:nvSpPr>
        <p:spPr>
          <a:xfrm>
            <a:off x="6986016" y="2395728"/>
            <a:ext cx="1810512" cy="685800"/>
          </a:xfrm>
          <a:prstGeom prst="rect">
            <a:avLst/>
          </a:prstGeom>
          <a:noFill/>
          <a:ln/>
        </p:spPr>
        <p:txBody>
          <a:bodyPr wrap="square" lIns="0" tIns="0" rIns="0" bIns="0" rtlCol="0" anchor="ctr"/>
          <a:lstStyle/>
          <a:p>
            <a:pPr algn="ctr" indent="0" marL="0">
              <a:buNone/>
            </a:pPr>
            <a:r>
              <a:rPr lang="en-US" sz="800" dirty="0">
                <a:solidFill>
                  <a:srgbClr val="A0B8D0"/>
                </a:solidFill>
                <a:latin typeface="Calibri" pitchFamily="34" charset="0"/>
                <a:ea typeface="Calibri" pitchFamily="34" charset="-122"/>
                <a:cs typeface="Calibri" pitchFamily="34" charset="-120"/>
              </a:rPr>
              <a:t>Vietnam's exports vs. Egypt — proof that the transformation is achievable in 15 years</a:t>
            </a:r>
            <a:endParaRPr lang="en-US" sz="800" dirty="0"/>
          </a:p>
        </p:txBody>
      </p:sp>
      <p:sp>
        <p:nvSpPr>
          <p:cNvPr id="18" name="Text 16"/>
          <p:cNvSpPr/>
          <p:nvPr/>
        </p:nvSpPr>
        <p:spPr>
          <a:xfrm>
            <a:off x="457200" y="3291840"/>
            <a:ext cx="8229600" cy="822960"/>
          </a:xfrm>
          <a:prstGeom prst="rect">
            <a:avLst/>
          </a:prstGeom>
          <a:noFill/>
          <a:ln/>
        </p:spPr>
        <p:txBody>
          <a:bodyPr wrap="square" lIns="0" tIns="0" rIns="0" bIns="0" rtlCol="0" anchor="ctr"/>
          <a:lstStyle/>
          <a:p>
            <a:pPr indent="0" marL="0">
              <a:buNone/>
            </a:pPr>
            <a:r>
              <a:rPr lang="en-US" sz="950" dirty="0">
                <a:solidFill>
                  <a:srgbClr val="C0D0E0"/>
                </a:solidFill>
                <a:latin typeface="Calibri" pitchFamily="34" charset="0"/>
                <a:ea typeface="Calibri" pitchFamily="34" charset="-122"/>
                <a:cs typeface="Calibri" pitchFamily="34" charset="-120"/>
              </a:rPr>
              <a:t>Three Immediate Actions: (1) Launch a national export pricing intelligence unit — $3.2B recoverable without additional export volume. (2) Establish an Asian market penetration task force — Asia drives 60% of global GDP growth while receiving only 18% of Egyptian exports. (3) Fast-track manufacturing FDI incentives in EPZs — Vietnam's model proves $1B manufacturing FDI generates ~$3B in exports within 5 years.</a:t>
            </a:r>
            <a:endParaRPr lang="en-US" sz="950" dirty="0"/>
          </a:p>
        </p:txBody>
      </p:sp>
      <p:sp>
        <p:nvSpPr>
          <p:cNvPr id="19" name="Shape 17"/>
          <p:cNvSpPr/>
          <p:nvPr/>
        </p:nvSpPr>
        <p:spPr>
          <a:xfrm>
            <a:off x="0" y="4663440"/>
            <a:ext cx="9144000" cy="480060"/>
          </a:xfrm>
          <a:prstGeom prst="rect">
            <a:avLst/>
          </a:prstGeom>
          <a:solidFill>
            <a:srgbClr val="163A60"/>
          </a:solidFill>
          <a:ln w="12700">
            <a:solidFill>
              <a:srgbClr val="163A60"/>
            </a:solidFill>
            <a:prstDash val="solid"/>
          </a:ln>
        </p:spPr>
      </p:sp>
      <p:sp>
        <p:nvSpPr>
          <p:cNvPr id="20" name="Text 18"/>
          <p:cNvSpPr/>
          <p:nvPr/>
        </p:nvSpPr>
        <p:spPr>
          <a:xfrm>
            <a:off x="274320" y="4690872"/>
            <a:ext cx="8595360" cy="246888"/>
          </a:xfrm>
          <a:prstGeom prst="rect">
            <a:avLst/>
          </a:prstGeom>
          <a:noFill/>
          <a:ln/>
        </p:spPr>
        <p:txBody>
          <a:bodyPr wrap="square" lIns="0" tIns="0" rIns="0" bIns="0" rtlCol="0" anchor="ctr"/>
          <a:lstStyle/>
          <a:p>
            <a:pPr algn="ctr" indent="0" marL="0">
              <a:buNone/>
            </a:pPr>
            <a:r>
              <a:rPr lang="en-US" sz="800" b="1" spc="200" kern="0" dirty="0">
                <a:solidFill>
                  <a:srgbClr val="C9943A"/>
                </a:solidFill>
                <a:latin typeface="Calibri" pitchFamily="34" charset="0"/>
                <a:ea typeface="Calibri" pitchFamily="34" charset="-122"/>
                <a:cs typeface="Calibri" pitchFamily="34" charset="-120"/>
              </a:rPr>
              <a:t>DIGITAL EGYPT PIONEERS INITIATIVE  ·  DEPI DATA ANALYSIS TRACK  ·  CLS-EGX-TRADEG1-T1  ·  2025</a:t>
            </a:r>
            <a:endParaRPr lang="en-US" sz="800" dirty="0"/>
          </a:p>
        </p:txBody>
      </p:sp>
      <p:sp>
        <p:nvSpPr>
          <p:cNvPr id="21" name="Text 19"/>
          <p:cNvSpPr/>
          <p:nvPr/>
        </p:nvSpPr>
        <p:spPr>
          <a:xfrm>
            <a:off x="274320" y="4937760"/>
            <a:ext cx="8595360" cy="182880"/>
          </a:xfrm>
          <a:prstGeom prst="rect">
            <a:avLst/>
          </a:prstGeom>
          <a:noFill/>
          <a:ln/>
        </p:spPr>
        <p:txBody>
          <a:bodyPr wrap="square" lIns="0" tIns="0" rIns="0" bIns="0" rtlCol="0" anchor="ctr"/>
          <a:lstStyle/>
          <a:p>
            <a:pPr algn="ctr" indent="0" marL="0">
              <a:buNone/>
            </a:pPr>
            <a:r>
              <a:rPr lang="en-US" sz="700" dirty="0">
                <a:solidFill>
                  <a:srgbClr val="607080"/>
                </a:solidFill>
                <a:latin typeface="Calibri" pitchFamily="34" charset="0"/>
                <a:ea typeface="Calibri" pitchFamily="34" charset="-122"/>
                <a:cs typeface="Calibri" pitchFamily="34" charset="-120"/>
              </a:rPr>
              <a:t>Data Sources: CAPMAS 2024 · UN Comtrade · WTO · World Bank · ITC TradeMap · Confidential — For Presentation Use Only</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2342"/>
        </a:solidFill>
      </p:bgPr>
    </p:bg>
    <p:spTree>
      <p:nvGrpSpPr>
        <p:cNvPr id="1" name=""/>
        <p:cNvGrpSpPr/>
        <p:nvPr/>
      </p:nvGrpSpPr>
      <p:grpSpPr>
        <a:xfrm>
          <a:off x="0" y="0"/>
          <a:ext cx="0" cy="0"/>
          <a:chOff x="0" y="0"/>
          <a:chExt cx="0" cy="0"/>
        </a:xfrm>
      </p:grpSpPr>
      <p:sp>
        <p:nvSpPr>
          <p:cNvPr id="2" name="Shape 0"/>
          <p:cNvSpPr/>
          <p:nvPr/>
        </p:nvSpPr>
        <p:spPr>
          <a:xfrm>
            <a:off x="0" y="0"/>
            <a:ext cx="9144000" cy="1078992"/>
          </a:xfrm>
          <a:prstGeom prst="rect">
            <a:avLst/>
          </a:prstGeom>
          <a:solidFill>
            <a:srgbClr val="163A60"/>
          </a:solidFill>
          <a:ln w="12700">
            <a:solidFill>
              <a:srgbClr val="163A60"/>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Project Team</a:t>
            </a:r>
            <a:endParaRPr lang="en-US" sz="2800" dirty="0"/>
          </a:p>
        </p:txBody>
      </p:sp>
      <p:sp>
        <p:nvSpPr>
          <p:cNvPr id="4" name="Text 2"/>
          <p:cNvSpPr/>
          <p:nvPr/>
        </p:nvSpPr>
        <p:spPr>
          <a:xfrm>
            <a:off x="457200" y="694944"/>
            <a:ext cx="8229600" cy="274320"/>
          </a:xfrm>
          <a:prstGeom prst="rect">
            <a:avLst/>
          </a:prstGeom>
          <a:noFill/>
          <a:ln/>
        </p:spPr>
        <p:txBody>
          <a:bodyPr wrap="square" lIns="0" tIns="0" rIns="0" bIns="0" rtlCol="0" anchor="ctr"/>
          <a:lstStyle/>
          <a:p>
            <a:pPr indent="0" marL="0">
              <a:buNone/>
            </a:pPr>
            <a:r>
              <a:rPr lang="en-US" sz="1000" dirty="0">
                <a:solidFill>
                  <a:srgbClr val="C9943A"/>
                </a:solidFill>
                <a:latin typeface="Calibri" pitchFamily="34" charset="0"/>
                <a:ea typeface="Calibri" pitchFamily="34" charset="-122"/>
                <a:cs typeface="Calibri" pitchFamily="34" charset="-120"/>
              </a:rPr>
              <a:t>Egyptian Export Observatory — DEPI Data Analysis Track — CLS-EGX-TRADEG1-T1</a:t>
            </a:r>
            <a:endParaRPr lang="en-US" sz="1000" dirty="0"/>
          </a:p>
        </p:txBody>
      </p:sp>
      <p:sp>
        <p:nvSpPr>
          <p:cNvPr id="5" name="Shape 3"/>
          <p:cNvSpPr/>
          <p:nvPr/>
        </p:nvSpPr>
        <p:spPr>
          <a:xfrm>
            <a:off x="320040" y="1170432"/>
            <a:ext cx="1600200" cy="3017520"/>
          </a:xfrm>
          <a:prstGeom prst="rect">
            <a:avLst/>
          </a:prstGeom>
          <a:solidFill>
            <a:srgbClr val="163A60"/>
          </a:solidFill>
          <a:ln w="12700">
            <a:solidFill>
              <a:srgbClr val="C9943A"/>
            </a:solidFill>
            <a:prstDash val="solid"/>
          </a:ln>
          <a:effectLst>
            <a:outerShdw sx="100000" sy="100000" kx="0" ky="0" algn="bl" rotWithShape="0" blurRad="101600" dist="25400" dir="8100000">
              <a:srgbClr val="000000">
                <a:alpha val="13000"/>
              </a:srgbClr>
            </a:outerShdw>
          </a:effectLst>
        </p:spPr>
      </p:sp>
      <p:sp>
        <p:nvSpPr>
          <p:cNvPr id="6" name="Shape 4"/>
          <p:cNvSpPr/>
          <p:nvPr/>
        </p:nvSpPr>
        <p:spPr>
          <a:xfrm>
            <a:off x="662940" y="1325880"/>
            <a:ext cx="914400" cy="914400"/>
          </a:xfrm>
          <a:prstGeom prst="ellipse">
            <a:avLst/>
          </a:prstGeom>
          <a:solidFill>
            <a:srgbClr val="0A2342"/>
          </a:solidFill>
          <a:ln w="25400">
            <a:solidFill>
              <a:srgbClr val="C9943A"/>
            </a:solidFill>
            <a:prstDash val="solid"/>
          </a:ln>
        </p:spPr>
      </p:sp>
      <p:sp>
        <p:nvSpPr>
          <p:cNvPr id="7" name="Text 5"/>
          <p:cNvSpPr/>
          <p:nvPr/>
        </p:nvSpPr>
        <p:spPr>
          <a:xfrm>
            <a:off x="662940" y="1325880"/>
            <a:ext cx="914400" cy="914400"/>
          </a:xfrm>
          <a:prstGeom prst="rect">
            <a:avLst/>
          </a:prstGeom>
          <a:noFill/>
          <a:ln/>
        </p:spPr>
        <p:txBody>
          <a:bodyPr wrap="square" lIns="0" tIns="0" rIns="0" bIns="0" rtlCol="0" anchor="ctr"/>
          <a:lstStyle/>
          <a:p>
            <a:pPr algn="ctr" indent="0" marL="0">
              <a:buNone/>
            </a:pPr>
            <a:r>
              <a:rPr lang="en-US" sz="2200" b="1" dirty="0">
                <a:solidFill>
                  <a:srgbClr val="C9943A"/>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411480" y="2331720"/>
            <a:ext cx="1417320" cy="5486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Weam Ahmed Ibrahim</a:t>
            </a:r>
            <a:endParaRPr lang="en-US" sz="900" dirty="0"/>
          </a:p>
        </p:txBody>
      </p:sp>
      <p:sp>
        <p:nvSpPr>
          <p:cNvPr id="9" name="Shape 7"/>
          <p:cNvSpPr/>
          <p:nvPr/>
        </p:nvSpPr>
        <p:spPr>
          <a:xfrm>
            <a:off x="502920" y="2944368"/>
            <a:ext cx="1234440" cy="27432"/>
          </a:xfrm>
          <a:prstGeom prst="rect">
            <a:avLst/>
          </a:prstGeom>
          <a:solidFill>
            <a:srgbClr val="C9943A"/>
          </a:solidFill>
          <a:ln w="12700">
            <a:solidFill>
              <a:srgbClr val="C9943A"/>
            </a:solidFill>
            <a:prstDash val="solid"/>
          </a:ln>
        </p:spPr>
      </p:sp>
      <p:sp>
        <p:nvSpPr>
          <p:cNvPr id="10" name="Text 8"/>
          <p:cNvSpPr/>
          <p:nvPr/>
        </p:nvSpPr>
        <p:spPr>
          <a:xfrm>
            <a:off x="411480" y="3017520"/>
            <a:ext cx="1417320" cy="201168"/>
          </a:xfrm>
          <a:prstGeom prst="rect">
            <a:avLst/>
          </a:prstGeom>
          <a:noFill/>
          <a:ln/>
        </p:spPr>
        <p:txBody>
          <a:bodyPr wrap="square" lIns="0" tIns="0" rIns="0" bIns="0" rtlCol="0" anchor="ctr"/>
          <a:lstStyle/>
          <a:p>
            <a:pPr algn="ctr" indent="0" marL="0">
              <a:buNone/>
            </a:pPr>
            <a:r>
              <a:rPr lang="en-US" sz="800" b="1" dirty="0">
                <a:solidFill>
                  <a:srgbClr val="C9943A"/>
                </a:solidFill>
                <a:latin typeface="Calibri" pitchFamily="34" charset="0"/>
                <a:ea typeface="Calibri" pitchFamily="34" charset="-122"/>
                <a:cs typeface="Calibri" pitchFamily="34" charset="-120"/>
              </a:rPr>
              <a:t>🔗 LinkedIn</a:t>
            </a:r>
            <a:endParaRPr lang="en-US" sz="800" dirty="0"/>
          </a:p>
        </p:txBody>
      </p:sp>
      <p:sp>
        <p:nvSpPr>
          <p:cNvPr id="11" name="Text 9">
            <a:hlinkClick r:id="rId1" tooltip=""/>
          </p:cNvPr>
          <p:cNvSpPr/>
          <p:nvPr/>
        </p:nvSpPr>
        <p:spPr>
          <a:xfrm>
            <a:off x="365760" y="3236976"/>
            <a:ext cx="1508760" cy="548640"/>
          </a:xfrm>
          <a:prstGeom prst="rect">
            <a:avLst/>
          </a:prstGeom>
          <a:noFill/>
          <a:ln/>
        </p:spPr>
        <p:txBody>
          <a:bodyPr wrap="square" lIns="0" tIns="0" rIns="0" bIns="0" rtlCol="0" anchor="ctr"/>
          <a:lstStyle/>
          <a:p>
            <a:pPr algn="ctr" indent="0" marL="0">
              <a:buNone/>
            </a:pPr>
            <a:r>
              <a:rPr lang="en-US" sz="650" u="sng" dirty="0">
                <a:solidFill>
                  <a:srgbClr val="A0B8D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linkedin.com/in/weam-ahmed-966b47333/</a:t>
            </a:r>
            <a:endParaRPr lang="en-US" sz="650" dirty="0"/>
          </a:p>
        </p:txBody>
      </p:sp>
      <p:sp>
        <p:nvSpPr>
          <p:cNvPr id="12" name="Shape 10"/>
          <p:cNvSpPr/>
          <p:nvPr/>
        </p:nvSpPr>
        <p:spPr>
          <a:xfrm>
            <a:off x="2057400" y="1170432"/>
            <a:ext cx="1600200" cy="3017520"/>
          </a:xfrm>
          <a:prstGeom prst="rect">
            <a:avLst/>
          </a:prstGeom>
          <a:solidFill>
            <a:srgbClr val="163A60"/>
          </a:solidFill>
          <a:ln w="12700">
            <a:solidFill>
              <a:srgbClr val="C9943A"/>
            </a:solidFill>
            <a:prstDash val="solid"/>
          </a:ln>
          <a:effectLst>
            <a:outerShdw sx="100000" sy="100000" kx="0" ky="0" algn="bl" rotWithShape="0" blurRad="101600" dist="25400" dir="8100000">
              <a:srgbClr val="000000">
                <a:alpha val="13000"/>
              </a:srgbClr>
            </a:outerShdw>
          </a:effectLst>
        </p:spPr>
      </p:sp>
      <p:sp>
        <p:nvSpPr>
          <p:cNvPr id="13" name="Shape 11"/>
          <p:cNvSpPr/>
          <p:nvPr/>
        </p:nvSpPr>
        <p:spPr>
          <a:xfrm>
            <a:off x="2400300" y="1325880"/>
            <a:ext cx="914400" cy="914400"/>
          </a:xfrm>
          <a:prstGeom prst="ellipse">
            <a:avLst/>
          </a:prstGeom>
          <a:solidFill>
            <a:srgbClr val="0A2342"/>
          </a:solidFill>
          <a:ln w="25400">
            <a:solidFill>
              <a:srgbClr val="C9943A"/>
            </a:solidFill>
            <a:prstDash val="solid"/>
          </a:ln>
        </p:spPr>
      </p:sp>
      <p:sp>
        <p:nvSpPr>
          <p:cNvPr id="14" name="Text 12"/>
          <p:cNvSpPr/>
          <p:nvPr/>
        </p:nvSpPr>
        <p:spPr>
          <a:xfrm>
            <a:off x="2400300" y="1325880"/>
            <a:ext cx="914400" cy="914400"/>
          </a:xfrm>
          <a:prstGeom prst="rect">
            <a:avLst/>
          </a:prstGeom>
          <a:noFill/>
          <a:ln/>
        </p:spPr>
        <p:txBody>
          <a:bodyPr wrap="square" lIns="0" tIns="0" rIns="0" bIns="0" rtlCol="0" anchor="ctr"/>
          <a:lstStyle/>
          <a:p>
            <a:pPr algn="ctr" indent="0" marL="0">
              <a:buNone/>
            </a:pPr>
            <a:r>
              <a:rPr lang="en-US" sz="2200" b="1" dirty="0">
                <a:solidFill>
                  <a:srgbClr val="C9943A"/>
                </a:solidFill>
                <a:latin typeface="Calibri" pitchFamily="34" charset="0"/>
                <a:ea typeface="Calibri" pitchFamily="34" charset="-122"/>
                <a:cs typeface="Calibri" pitchFamily="34" charset="-120"/>
              </a:rPr>
              <a:t>2</a:t>
            </a:r>
            <a:endParaRPr lang="en-US" sz="2200" dirty="0"/>
          </a:p>
        </p:txBody>
      </p:sp>
      <p:sp>
        <p:nvSpPr>
          <p:cNvPr id="15" name="Text 13"/>
          <p:cNvSpPr/>
          <p:nvPr/>
        </p:nvSpPr>
        <p:spPr>
          <a:xfrm>
            <a:off x="2148840" y="2331720"/>
            <a:ext cx="1417320" cy="5486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Abdelrhman Safaa Allah Abdelmoneim</a:t>
            </a:r>
            <a:endParaRPr lang="en-US" sz="900" dirty="0"/>
          </a:p>
        </p:txBody>
      </p:sp>
      <p:sp>
        <p:nvSpPr>
          <p:cNvPr id="16" name="Shape 14"/>
          <p:cNvSpPr/>
          <p:nvPr/>
        </p:nvSpPr>
        <p:spPr>
          <a:xfrm>
            <a:off x="2240280" y="2944368"/>
            <a:ext cx="1234440" cy="27432"/>
          </a:xfrm>
          <a:prstGeom prst="rect">
            <a:avLst/>
          </a:prstGeom>
          <a:solidFill>
            <a:srgbClr val="C9943A"/>
          </a:solidFill>
          <a:ln w="12700">
            <a:solidFill>
              <a:srgbClr val="C9943A"/>
            </a:solidFill>
            <a:prstDash val="solid"/>
          </a:ln>
        </p:spPr>
      </p:sp>
      <p:sp>
        <p:nvSpPr>
          <p:cNvPr id="17" name="Text 15"/>
          <p:cNvSpPr/>
          <p:nvPr/>
        </p:nvSpPr>
        <p:spPr>
          <a:xfrm>
            <a:off x="2148840" y="3017520"/>
            <a:ext cx="1417320" cy="201168"/>
          </a:xfrm>
          <a:prstGeom prst="rect">
            <a:avLst/>
          </a:prstGeom>
          <a:noFill/>
          <a:ln/>
        </p:spPr>
        <p:txBody>
          <a:bodyPr wrap="square" lIns="0" tIns="0" rIns="0" bIns="0" rtlCol="0" anchor="ctr"/>
          <a:lstStyle/>
          <a:p>
            <a:pPr algn="ctr" indent="0" marL="0">
              <a:buNone/>
            </a:pPr>
            <a:r>
              <a:rPr lang="en-US" sz="800" b="1" dirty="0">
                <a:solidFill>
                  <a:srgbClr val="C9943A"/>
                </a:solidFill>
                <a:latin typeface="Calibri" pitchFamily="34" charset="0"/>
                <a:ea typeface="Calibri" pitchFamily="34" charset="-122"/>
                <a:cs typeface="Calibri" pitchFamily="34" charset="-120"/>
              </a:rPr>
              <a:t>🔗 LinkedIn</a:t>
            </a:r>
            <a:endParaRPr lang="en-US" sz="800" dirty="0"/>
          </a:p>
        </p:txBody>
      </p:sp>
      <p:sp>
        <p:nvSpPr>
          <p:cNvPr id="18" name="Text 16">
            <a:hlinkClick r:id="rId2" tooltip=""/>
          </p:cNvPr>
          <p:cNvSpPr/>
          <p:nvPr/>
        </p:nvSpPr>
        <p:spPr>
          <a:xfrm>
            <a:off x="2103120" y="3236976"/>
            <a:ext cx="1508760" cy="548640"/>
          </a:xfrm>
          <a:prstGeom prst="rect">
            <a:avLst/>
          </a:prstGeom>
          <a:noFill/>
          <a:ln/>
        </p:spPr>
        <p:txBody>
          <a:bodyPr wrap="square" lIns="0" tIns="0" rIns="0" bIns="0" rtlCol="0" anchor="ctr"/>
          <a:lstStyle/>
          <a:p>
            <a:pPr algn="ctr" indent="0" marL="0">
              <a:buNone/>
            </a:pPr>
            <a:r>
              <a:rPr lang="en-US" sz="650" u="sng" dirty="0">
                <a:solidFill>
                  <a:srgbClr val="A0B8D0"/>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linkedin.com/in/abdelrhman-safaa</a:t>
            </a:r>
            <a:endParaRPr lang="en-US" sz="650" dirty="0"/>
          </a:p>
        </p:txBody>
      </p:sp>
      <p:sp>
        <p:nvSpPr>
          <p:cNvPr id="19" name="Shape 17"/>
          <p:cNvSpPr/>
          <p:nvPr/>
        </p:nvSpPr>
        <p:spPr>
          <a:xfrm>
            <a:off x="3794760" y="1170432"/>
            <a:ext cx="1600200" cy="3017520"/>
          </a:xfrm>
          <a:prstGeom prst="rect">
            <a:avLst/>
          </a:prstGeom>
          <a:solidFill>
            <a:srgbClr val="163A60"/>
          </a:solidFill>
          <a:ln w="12700">
            <a:solidFill>
              <a:srgbClr val="C9943A"/>
            </a:solidFill>
            <a:prstDash val="solid"/>
          </a:ln>
          <a:effectLst>
            <a:outerShdw sx="100000" sy="100000" kx="0" ky="0" algn="bl" rotWithShape="0" blurRad="101600" dist="25400" dir="8100000">
              <a:srgbClr val="000000">
                <a:alpha val="13000"/>
              </a:srgbClr>
            </a:outerShdw>
          </a:effectLst>
        </p:spPr>
      </p:sp>
      <p:sp>
        <p:nvSpPr>
          <p:cNvPr id="20" name="Shape 18"/>
          <p:cNvSpPr/>
          <p:nvPr/>
        </p:nvSpPr>
        <p:spPr>
          <a:xfrm>
            <a:off x="4137660" y="1325880"/>
            <a:ext cx="914400" cy="914400"/>
          </a:xfrm>
          <a:prstGeom prst="ellipse">
            <a:avLst/>
          </a:prstGeom>
          <a:solidFill>
            <a:srgbClr val="0A2342"/>
          </a:solidFill>
          <a:ln w="25400">
            <a:solidFill>
              <a:srgbClr val="C9943A"/>
            </a:solidFill>
            <a:prstDash val="solid"/>
          </a:ln>
        </p:spPr>
      </p:sp>
      <p:sp>
        <p:nvSpPr>
          <p:cNvPr id="21" name="Text 19"/>
          <p:cNvSpPr/>
          <p:nvPr/>
        </p:nvSpPr>
        <p:spPr>
          <a:xfrm>
            <a:off x="4137660" y="1325880"/>
            <a:ext cx="914400" cy="914400"/>
          </a:xfrm>
          <a:prstGeom prst="rect">
            <a:avLst/>
          </a:prstGeom>
          <a:noFill/>
          <a:ln/>
        </p:spPr>
        <p:txBody>
          <a:bodyPr wrap="square" lIns="0" tIns="0" rIns="0" bIns="0" rtlCol="0" anchor="ctr"/>
          <a:lstStyle/>
          <a:p>
            <a:pPr algn="ctr" indent="0" marL="0">
              <a:buNone/>
            </a:pPr>
            <a:r>
              <a:rPr lang="en-US" sz="2200" b="1" dirty="0">
                <a:solidFill>
                  <a:srgbClr val="C9943A"/>
                </a:solidFill>
                <a:latin typeface="Calibri" pitchFamily="34" charset="0"/>
                <a:ea typeface="Calibri" pitchFamily="34" charset="-122"/>
                <a:cs typeface="Calibri" pitchFamily="34" charset="-120"/>
              </a:rPr>
              <a:t>3</a:t>
            </a:r>
            <a:endParaRPr lang="en-US" sz="2200" dirty="0"/>
          </a:p>
        </p:txBody>
      </p:sp>
      <p:sp>
        <p:nvSpPr>
          <p:cNvPr id="22" name="Text 20"/>
          <p:cNvSpPr/>
          <p:nvPr/>
        </p:nvSpPr>
        <p:spPr>
          <a:xfrm>
            <a:off x="3886200" y="2331720"/>
            <a:ext cx="1417320" cy="5486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Abdelrahman Hossam Abdelhamed</a:t>
            </a:r>
            <a:endParaRPr lang="en-US" sz="900" dirty="0"/>
          </a:p>
        </p:txBody>
      </p:sp>
      <p:sp>
        <p:nvSpPr>
          <p:cNvPr id="23" name="Shape 21"/>
          <p:cNvSpPr/>
          <p:nvPr/>
        </p:nvSpPr>
        <p:spPr>
          <a:xfrm>
            <a:off x="3977640" y="2944368"/>
            <a:ext cx="1234440" cy="27432"/>
          </a:xfrm>
          <a:prstGeom prst="rect">
            <a:avLst/>
          </a:prstGeom>
          <a:solidFill>
            <a:srgbClr val="C9943A"/>
          </a:solidFill>
          <a:ln w="12700">
            <a:solidFill>
              <a:srgbClr val="C9943A"/>
            </a:solidFill>
            <a:prstDash val="solid"/>
          </a:ln>
        </p:spPr>
      </p:sp>
      <p:sp>
        <p:nvSpPr>
          <p:cNvPr id="24" name="Text 22"/>
          <p:cNvSpPr/>
          <p:nvPr/>
        </p:nvSpPr>
        <p:spPr>
          <a:xfrm>
            <a:off x="3886200" y="3017520"/>
            <a:ext cx="1417320" cy="201168"/>
          </a:xfrm>
          <a:prstGeom prst="rect">
            <a:avLst/>
          </a:prstGeom>
          <a:noFill/>
          <a:ln/>
        </p:spPr>
        <p:txBody>
          <a:bodyPr wrap="square" lIns="0" tIns="0" rIns="0" bIns="0" rtlCol="0" anchor="ctr"/>
          <a:lstStyle/>
          <a:p>
            <a:pPr algn="ctr" indent="0" marL="0">
              <a:buNone/>
            </a:pPr>
            <a:r>
              <a:rPr lang="en-US" sz="800" b="1" dirty="0">
                <a:solidFill>
                  <a:srgbClr val="C9943A"/>
                </a:solidFill>
                <a:latin typeface="Calibri" pitchFamily="34" charset="0"/>
                <a:ea typeface="Calibri" pitchFamily="34" charset="-122"/>
                <a:cs typeface="Calibri" pitchFamily="34" charset="-120"/>
              </a:rPr>
              <a:t>🔗 LinkedIn</a:t>
            </a:r>
            <a:endParaRPr lang="en-US" sz="800" dirty="0"/>
          </a:p>
        </p:txBody>
      </p:sp>
      <p:sp>
        <p:nvSpPr>
          <p:cNvPr id="25" name="Text 23">
            <a:hlinkClick r:id="rId3" tooltip=""/>
          </p:cNvPr>
          <p:cNvSpPr/>
          <p:nvPr/>
        </p:nvSpPr>
        <p:spPr>
          <a:xfrm>
            <a:off x="3840480" y="3236976"/>
            <a:ext cx="1508760" cy="548640"/>
          </a:xfrm>
          <a:prstGeom prst="rect">
            <a:avLst/>
          </a:prstGeom>
          <a:noFill/>
          <a:ln/>
        </p:spPr>
        <p:txBody>
          <a:bodyPr wrap="square" lIns="0" tIns="0" rIns="0" bIns="0" rtlCol="0" anchor="ctr"/>
          <a:lstStyle/>
          <a:p>
            <a:pPr algn="ctr" indent="0" marL="0">
              <a:buNone/>
            </a:pPr>
            <a:r>
              <a:rPr lang="en-US" sz="650" u="sng" dirty="0">
                <a:solidFill>
                  <a:srgbClr val="A0B8D0"/>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linkedin.com/in/abdelrahman-hossam-7427552b0/</a:t>
            </a:r>
            <a:endParaRPr lang="en-US" sz="650" dirty="0"/>
          </a:p>
        </p:txBody>
      </p:sp>
      <p:sp>
        <p:nvSpPr>
          <p:cNvPr id="26" name="Shape 24"/>
          <p:cNvSpPr/>
          <p:nvPr/>
        </p:nvSpPr>
        <p:spPr>
          <a:xfrm>
            <a:off x="5532120" y="1170432"/>
            <a:ext cx="1600200" cy="3017520"/>
          </a:xfrm>
          <a:prstGeom prst="rect">
            <a:avLst/>
          </a:prstGeom>
          <a:solidFill>
            <a:srgbClr val="163A60"/>
          </a:solidFill>
          <a:ln w="12700">
            <a:solidFill>
              <a:srgbClr val="C9943A"/>
            </a:solidFill>
            <a:prstDash val="solid"/>
          </a:ln>
          <a:effectLst>
            <a:outerShdw sx="100000" sy="100000" kx="0" ky="0" algn="bl" rotWithShape="0" blurRad="101600" dist="25400" dir="8100000">
              <a:srgbClr val="000000">
                <a:alpha val="13000"/>
              </a:srgbClr>
            </a:outerShdw>
          </a:effectLst>
        </p:spPr>
      </p:sp>
      <p:sp>
        <p:nvSpPr>
          <p:cNvPr id="27" name="Shape 25"/>
          <p:cNvSpPr/>
          <p:nvPr/>
        </p:nvSpPr>
        <p:spPr>
          <a:xfrm>
            <a:off x="5875020" y="1325880"/>
            <a:ext cx="914400" cy="914400"/>
          </a:xfrm>
          <a:prstGeom prst="ellipse">
            <a:avLst/>
          </a:prstGeom>
          <a:solidFill>
            <a:srgbClr val="0A2342"/>
          </a:solidFill>
          <a:ln w="25400">
            <a:solidFill>
              <a:srgbClr val="C9943A"/>
            </a:solidFill>
            <a:prstDash val="solid"/>
          </a:ln>
        </p:spPr>
      </p:sp>
      <p:sp>
        <p:nvSpPr>
          <p:cNvPr id="28" name="Text 26"/>
          <p:cNvSpPr/>
          <p:nvPr/>
        </p:nvSpPr>
        <p:spPr>
          <a:xfrm>
            <a:off x="5875020" y="1325880"/>
            <a:ext cx="914400" cy="914400"/>
          </a:xfrm>
          <a:prstGeom prst="rect">
            <a:avLst/>
          </a:prstGeom>
          <a:noFill/>
          <a:ln/>
        </p:spPr>
        <p:txBody>
          <a:bodyPr wrap="square" lIns="0" tIns="0" rIns="0" bIns="0" rtlCol="0" anchor="ctr"/>
          <a:lstStyle/>
          <a:p>
            <a:pPr algn="ctr" indent="0" marL="0">
              <a:buNone/>
            </a:pPr>
            <a:r>
              <a:rPr lang="en-US" sz="2200" b="1" dirty="0">
                <a:solidFill>
                  <a:srgbClr val="C9943A"/>
                </a:solidFill>
                <a:latin typeface="Calibri" pitchFamily="34" charset="0"/>
                <a:ea typeface="Calibri" pitchFamily="34" charset="-122"/>
                <a:cs typeface="Calibri" pitchFamily="34" charset="-120"/>
              </a:rPr>
              <a:t>4</a:t>
            </a:r>
            <a:endParaRPr lang="en-US" sz="2200" dirty="0"/>
          </a:p>
        </p:txBody>
      </p:sp>
      <p:sp>
        <p:nvSpPr>
          <p:cNvPr id="29" name="Text 27"/>
          <p:cNvSpPr/>
          <p:nvPr/>
        </p:nvSpPr>
        <p:spPr>
          <a:xfrm>
            <a:off x="5623560" y="2331720"/>
            <a:ext cx="1417320" cy="5486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Andrew Medhat Isacc Hakim</a:t>
            </a:r>
            <a:endParaRPr lang="en-US" sz="900" dirty="0"/>
          </a:p>
        </p:txBody>
      </p:sp>
      <p:sp>
        <p:nvSpPr>
          <p:cNvPr id="30" name="Shape 28"/>
          <p:cNvSpPr/>
          <p:nvPr/>
        </p:nvSpPr>
        <p:spPr>
          <a:xfrm>
            <a:off x="5715000" y="2944368"/>
            <a:ext cx="1234440" cy="27432"/>
          </a:xfrm>
          <a:prstGeom prst="rect">
            <a:avLst/>
          </a:prstGeom>
          <a:solidFill>
            <a:srgbClr val="C9943A"/>
          </a:solidFill>
          <a:ln w="12700">
            <a:solidFill>
              <a:srgbClr val="C9943A"/>
            </a:solidFill>
            <a:prstDash val="solid"/>
          </a:ln>
        </p:spPr>
      </p:sp>
      <p:sp>
        <p:nvSpPr>
          <p:cNvPr id="31" name="Text 29"/>
          <p:cNvSpPr/>
          <p:nvPr/>
        </p:nvSpPr>
        <p:spPr>
          <a:xfrm>
            <a:off x="5623560" y="3017520"/>
            <a:ext cx="1417320" cy="201168"/>
          </a:xfrm>
          <a:prstGeom prst="rect">
            <a:avLst/>
          </a:prstGeom>
          <a:noFill/>
          <a:ln/>
        </p:spPr>
        <p:txBody>
          <a:bodyPr wrap="square" lIns="0" tIns="0" rIns="0" bIns="0" rtlCol="0" anchor="ctr"/>
          <a:lstStyle/>
          <a:p>
            <a:pPr algn="ctr" indent="0" marL="0">
              <a:buNone/>
            </a:pPr>
            <a:r>
              <a:rPr lang="en-US" sz="800" b="1" dirty="0">
                <a:solidFill>
                  <a:srgbClr val="C9943A"/>
                </a:solidFill>
                <a:latin typeface="Calibri" pitchFamily="34" charset="0"/>
                <a:ea typeface="Calibri" pitchFamily="34" charset="-122"/>
                <a:cs typeface="Calibri" pitchFamily="34" charset="-120"/>
              </a:rPr>
              <a:t>🔗 LinkedIn</a:t>
            </a:r>
            <a:endParaRPr lang="en-US" sz="800" dirty="0"/>
          </a:p>
        </p:txBody>
      </p:sp>
      <p:sp>
        <p:nvSpPr>
          <p:cNvPr id="32" name="Text 30">
            <a:hlinkClick r:id="rId4" tooltip=""/>
          </p:cNvPr>
          <p:cNvSpPr/>
          <p:nvPr/>
        </p:nvSpPr>
        <p:spPr>
          <a:xfrm>
            <a:off x="5577840" y="3236976"/>
            <a:ext cx="1508760" cy="548640"/>
          </a:xfrm>
          <a:prstGeom prst="rect">
            <a:avLst/>
          </a:prstGeom>
          <a:noFill/>
          <a:ln/>
        </p:spPr>
        <p:txBody>
          <a:bodyPr wrap="square" lIns="0" tIns="0" rIns="0" bIns="0" rtlCol="0" anchor="ctr"/>
          <a:lstStyle/>
          <a:p>
            <a:pPr algn="ctr" indent="0" marL="0">
              <a:buNone/>
            </a:pPr>
            <a:r>
              <a:rPr lang="en-US" sz="650" u="sng" dirty="0">
                <a:solidFill>
                  <a:srgbClr val="A0B8D0"/>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linkedin.com/in/andrew-hakim-223b333b7</a:t>
            </a:r>
            <a:endParaRPr lang="en-US" sz="650" dirty="0"/>
          </a:p>
        </p:txBody>
      </p:sp>
      <p:sp>
        <p:nvSpPr>
          <p:cNvPr id="33" name="Shape 31"/>
          <p:cNvSpPr/>
          <p:nvPr/>
        </p:nvSpPr>
        <p:spPr>
          <a:xfrm>
            <a:off x="7269480" y="1170432"/>
            <a:ext cx="1600200" cy="3017520"/>
          </a:xfrm>
          <a:prstGeom prst="rect">
            <a:avLst/>
          </a:prstGeom>
          <a:solidFill>
            <a:srgbClr val="163A60"/>
          </a:solidFill>
          <a:ln w="12700">
            <a:solidFill>
              <a:srgbClr val="C9943A"/>
            </a:solidFill>
            <a:prstDash val="solid"/>
          </a:ln>
          <a:effectLst>
            <a:outerShdw sx="100000" sy="100000" kx="0" ky="0" algn="bl" rotWithShape="0" blurRad="101600" dist="25400" dir="8100000">
              <a:srgbClr val="000000">
                <a:alpha val="13000"/>
              </a:srgbClr>
            </a:outerShdw>
          </a:effectLst>
        </p:spPr>
      </p:sp>
      <p:sp>
        <p:nvSpPr>
          <p:cNvPr id="34" name="Shape 32"/>
          <p:cNvSpPr/>
          <p:nvPr/>
        </p:nvSpPr>
        <p:spPr>
          <a:xfrm>
            <a:off x="7612380" y="1325880"/>
            <a:ext cx="914400" cy="914400"/>
          </a:xfrm>
          <a:prstGeom prst="ellipse">
            <a:avLst/>
          </a:prstGeom>
          <a:solidFill>
            <a:srgbClr val="0A2342"/>
          </a:solidFill>
          <a:ln w="25400">
            <a:solidFill>
              <a:srgbClr val="C9943A"/>
            </a:solidFill>
            <a:prstDash val="solid"/>
          </a:ln>
        </p:spPr>
      </p:sp>
      <p:sp>
        <p:nvSpPr>
          <p:cNvPr id="35" name="Text 33"/>
          <p:cNvSpPr/>
          <p:nvPr/>
        </p:nvSpPr>
        <p:spPr>
          <a:xfrm>
            <a:off x="7612380" y="1325880"/>
            <a:ext cx="914400" cy="914400"/>
          </a:xfrm>
          <a:prstGeom prst="rect">
            <a:avLst/>
          </a:prstGeom>
          <a:noFill/>
          <a:ln/>
        </p:spPr>
        <p:txBody>
          <a:bodyPr wrap="square" lIns="0" tIns="0" rIns="0" bIns="0" rtlCol="0" anchor="ctr"/>
          <a:lstStyle/>
          <a:p>
            <a:pPr algn="ctr" indent="0" marL="0">
              <a:buNone/>
            </a:pPr>
            <a:r>
              <a:rPr lang="en-US" sz="2200" b="1" dirty="0">
                <a:solidFill>
                  <a:srgbClr val="C9943A"/>
                </a:solidFill>
                <a:latin typeface="Calibri" pitchFamily="34" charset="0"/>
                <a:ea typeface="Calibri" pitchFamily="34" charset="-122"/>
                <a:cs typeface="Calibri" pitchFamily="34" charset="-120"/>
              </a:rPr>
              <a:t>5</a:t>
            </a:r>
            <a:endParaRPr lang="en-US" sz="2200" dirty="0"/>
          </a:p>
        </p:txBody>
      </p:sp>
      <p:sp>
        <p:nvSpPr>
          <p:cNvPr id="36" name="Text 34"/>
          <p:cNvSpPr/>
          <p:nvPr/>
        </p:nvSpPr>
        <p:spPr>
          <a:xfrm>
            <a:off x="7360920" y="2331720"/>
            <a:ext cx="1417320" cy="5486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Wafik Wael Wagdy</a:t>
            </a:r>
            <a:endParaRPr lang="en-US" sz="900" dirty="0"/>
          </a:p>
        </p:txBody>
      </p:sp>
      <p:sp>
        <p:nvSpPr>
          <p:cNvPr id="37" name="Shape 35"/>
          <p:cNvSpPr/>
          <p:nvPr/>
        </p:nvSpPr>
        <p:spPr>
          <a:xfrm>
            <a:off x="7452360" y="2944368"/>
            <a:ext cx="1234440" cy="27432"/>
          </a:xfrm>
          <a:prstGeom prst="rect">
            <a:avLst/>
          </a:prstGeom>
          <a:solidFill>
            <a:srgbClr val="C9943A"/>
          </a:solidFill>
          <a:ln w="12700">
            <a:solidFill>
              <a:srgbClr val="C9943A"/>
            </a:solidFill>
            <a:prstDash val="solid"/>
          </a:ln>
        </p:spPr>
      </p:sp>
      <p:sp>
        <p:nvSpPr>
          <p:cNvPr id="38" name="Text 36"/>
          <p:cNvSpPr/>
          <p:nvPr/>
        </p:nvSpPr>
        <p:spPr>
          <a:xfrm>
            <a:off x="7360920" y="3017520"/>
            <a:ext cx="1417320" cy="201168"/>
          </a:xfrm>
          <a:prstGeom prst="rect">
            <a:avLst/>
          </a:prstGeom>
          <a:noFill/>
          <a:ln/>
        </p:spPr>
        <p:txBody>
          <a:bodyPr wrap="square" lIns="0" tIns="0" rIns="0" bIns="0" rtlCol="0" anchor="ctr"/>
          <a:lstStyle/>
          <a:p>
            <a:pPr algn="ctr" indent="0" marL="0">
              <a:buNone/>
            </a:pPr>
            <a:r>
              <a:rPr lang="en-US" sz="800" b="1" dirty="0">
                <a:solidFill>
                  <a:srgbClr val="C9943A"/>
                </a:solidFill>
                <a:latin typeface="Calibri" pitchFamily="34" charset="0"/>
                <a:ea typeface="Calibri" pitchFamily="34" charset="-122"/>
                <a:cs typeface="Calibri" pitchFamily="34" charset="-120"/>
              </a:rPr>
              <a:t>🔗 LinkedIn</a:t>
            </a:r>
            <a:endParaRPr lang="en-US" sz="800" dirty="0"/>
          </a:p>
        </p:txBody>
      </p:sp>
      <p:sp>
        <p:nvSpPr>
          <p:cNvPr id="39" name="Text 37">
            <a:hlinkClick r:id="rId5" tooltip=""/>
          </p:cNvPr>
          <p:cNvSpPr/>
          <p:nvPr/>
        </p:nvSpPr>
        <p:spPr>
          <a:xfrm>
            <a:off x="7315200" y="3236976"/>
            <a:ext cx="1508760" cy="548640"/>
          </a:xfrm>
          <a:prstGeom prst="rect">
            <a:avLst/>
          </a:prstGeom>
          <a:noFill/>
          <a:ln/>
        </p:spPr>
        <p:txBody>
          <a:bodyPr wrap="square" lIns="0" tIns="0" rIns="0" bIns="0" rtlCol="0" anchor="ctr"/>
          <a:lstStyle/>
          <a:p>
            <a:pPr algn="ctr" indent="0" marL="0">
              <a:buNone/>
            </a:pPr>
            <a:r>
              <a:rPr lang="en-US" sz="650" u="sng" dirty="0">
                <a:solidFill>
                  <a:srgbClr val="A0B8D0"/>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linkedin.com/in/wafik-wael-072941342</a:t>
            </a:r>
            <a:endParaRPr lang="en-US" sz="650" dirty="0"/>
          </a:p>
        </p:txBody>
      </p:sp>
      <p:sp>
        <p:nvSpPr>
          <p:cNvPr id="40" name="Shape 38"/>
          <p:cNvSpPr/>
          <p:nvPr/>
        </p:nvSpPr>
        <p:spPr>
          <a:xfrm>
            <a:off x="0" y="4709160"/>
            <a:ext cx="9144000" cy="434340"/>
          </a:xfrm>
          <a:prstGeom prst="rect">
            <a:avLst/>
          </a:prstGeom>
          <a:solidFill>
            <a:srgbClr val="080F1A"/>
          </a:solidFill>
          <a:ln w="12700">
            <a:solidFill>
              <a:srgbClr val="080F1A"/>
            </a:solidFill>
            <a:prstDash val="solid"/>
          </a:ln>
        </p:spPr>
      </p:sp>
      <p:sp>
        <p:nvSpPr>
          <p:cNvPr id="41" name="Text 39"/>
          <p:cNvSpPr/>
          <p:nvPr/>
        </p:nvSpPr>
        <p:spPr>
          <a:xfrm>
            <a:off x="274320" y="4736592"/>
            <a:ext cx="8595360" cy="246888"/>
          </a:xfrm>
          <a:prstGeom prst="rect">
            <a:avLst/>
          </a:prstGeom>
          <a:noFill/>
          <a:ln/>
        </p:spPr>
        <p:txBody>
          <a:bodyPr wrap="square" lIns="0" tIns="0" rIns="0" bIns="0" rtlCol="0" anchor="ctr"/>
          <a:lstStyle/>
          <a:p>
            <a:pPr algn="ctr" indent="0" marL="0">
              <a:buNone/>
            </a:pPr>
            <a:r>
              <a:rPr lang="en-US" sz="750" dirty="0">
                <a:solidFill>
                  <a:srgbClr val="506070"/>
                </a:solidFill>
                <a:latin typeface="Calibri" pitchFamily="34" charset="0"/>
                <a:ea typeface="Calibri" pitchFamily="34" charset="-122"/>
                <a:cs typeface="Calibri" pitchFamily="34" charset="-120"/>
              </a:rPr>
              <a:t>DEPI Data Analysis Track  ·  Microsoft Power BI  ·  CAPMAS · UN Comtrade · WTO · World Bank · ITC TradeMap  ·  Egypt Trade Intelligence 2010–2024</a:t>
            </a:r>
            <a:endParaRPr lang="en-US" sz="750" dirty="0"/>
          </a:p>
        </p:txBody>
      </p:sp>
      <p:sp>
        <p:nvSpPr>
          <p:cNvPr id="42" name="Text 40"/>
          <p:cNvSpPr/>
          <p:nvPr/>
        </p:nvSpPr>
        <p:spPr>
          <a:xfrm>
            <a:off x="274320" y="4937760"/>
            <a:ext cx="8595360" cy="182880"/>
          </a:xfrm>
          <a:prstGeom prst="rect">
            <a:avLst/>
          </a:prstGeom>
          <a:noFill/>
          <a:ln/>
        </p:spPr>
        <p:txBody>
          <a:bodyPr wrap="square" lIns="0" tIns="0" rIns="0" bIns="0" rtlCol="0" anchor="ctr"/>
          <a:lstStyle/>
          <a:p>
            <a:pPr algn="ctr" indent="0" marL="0">
              <a:buNone/>
            </a:pPr>
            <a:r>
              <a:rPr lang="en-US" sz="800" i="1" dirty="0">
                <a:solidFill>
                  <a:srgbClr val="C9943A"/>
                </a:solidFill>
                <a:latin typeface="Calibri" pitchFamily="34" charset="0"/>
                <a:ea typeface="Calibri" pitchFamily="34" charset="-122"/>
                <a:cs typeface="Calibri" pitchFamily="34" charset="-120"/>
              </a:rPr>
              <a:t>"The data is clear. The path is mapped. The question is: who takes action?"</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Egyptian Export Observatory</dc:title>
  <dc:subject>PptxGenJS Presentation</dc:subject>
  <dc:creator>PptxGenJS</dc:creator>
  <cp:lastModifiedBy>PptxGenJS</cp:lastModifiedBy>
  <cp:revision>1</cp:revision>
  <dcterms:created xsi:type="dcterms:W3CDTF">2026-05-03T19:34:37Z</dcterms:created>
  <dcterms:modified xsi:type="dcterms:W3CDTF">2026-05-03T19:34:37Z</dcterms:modified>
</cp:coreProperties>
</file>